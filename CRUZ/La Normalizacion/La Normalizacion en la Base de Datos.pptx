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Quattrocento Bold" charset="1" panose="02020802030000000404"/>
      <p:regular r:id="rId24"/>
    </p:embeddedFont>
    <p:embeddedFont>
      <p:font typeface="Oranienbaum" charset="1" panose="02000506080000020003"/>
      <p:regular r:id="rId25"/>
    </p:embeddedFont>
    <p:embeddedFont>
      <p:font typeface="Quattrocento" charset="1" panose="02020502030000000404"/>
      <p:regular r:id="rId26"/>
    </p:embeddedFont>
    <p:embeddedFont>
      <p:font typeface="Arimo" charset="1" panose="020B06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2" Target="../media/image4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svg" Type="http://schemas.openxmlformats.org/officeDocument/2006/relationships/image"/><Relationship Id="rId11" Target="../media/image44.png" Type="http://schemas.openxmlformats.org/officeDocument/2006/relationships/image"/><Relationship Id="rId12" Target="../media/image45.svg" Type="http://schemas.openxmlformats.org/officeDocument/2006/relationships/image"/><Relationship Id="rId2" Target="../media/image4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sv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13" Target="../media/image57.png" Type="http://schemas.openxmlformats.org/officeDocument/2006/relationships/image"/><Relationship Id="rId14" Target="../media/image58.svg" Type="http://schemas.openxmlformats.org/officeDocument/2006/relationships/image"/><Relationship Id="rId15" Target="../media/image59.png" Type="http://schemas.openxmlformats.org/officeDocument/2006/relationships/image"/><Relationship Id="rId16" Target="../media/image60.svg" Type="http://schemas.openxmlformats.org/officeDocument/2006/relationships/image"/><Relationship Id="rId17" Target="../media/image61.png" Type="http://schemas.openxmlformats.org/officeDocument/2006/relationships/image"/><Relationship Id="rId18" Target="../media/image62.svg" Type="http://schemas.openxmlformats.org/officeDocument/2006/relationships/image"/><Relationship Id="rId19" Target="../media/image63.jpeg" Type="http://schemas.openxmlformats.org/officeDocument/2006/relationships/image"/><Relationship Id="rId2" Target="../media/image4.jpeg" Type="http://schemas.openxmlformats.org/officeDocument/2006/relationships/image"/><Relationship Id="rId20" Target="../media/image64.png" Type="http://schemas.openxmlformats.org/officeDocument/2006/relationships/image"/><Relationship Id="rId21" Target="../media/image65.sv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svg" Type="http://schemas.openxmlformats.org/officeDocument/2006/relationships/image"/><Relationship Id="rId2" Target="../media/image4.jpeg" Type="http://schemas.openxmlformats.org/officeDocument/2006/relationships/image"/><Relationship Id="rId3" Target="../media/image66.png" Type="http://schemas.openxmlformats.org/officeDocument/2006/relationships/image"/><Relationship Id="rId4" Target="../media/image67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svg" Type="http://schemas.openxmlformats.org/officeDocument/2006/relationships/image"/><Relationship Id="rId11" Target="../media/image79.png" Type="http://schemas.openxmlformats.org/officeDocument/2006/relationships/image"/><Relationship Id="rId12" Target="../media/image80.svg" Type="http://schemas.openxmlformats.org/officeDocument/2006/relationships/image"/><Relationship Id="rId13" Target="../media/image81.png" Type="http://schemas.openxmlformats.org/officeDocument/2006/relationships/image"/><Relationship Id="rId14" Target="../media/image82.svg" Type="http://schemas.openxmlformats.org/officeDocument/2006/relationships/image"/><Relationship Id="rId15" Target="../media/image83.png" Type="http://schemas.openxmlformats.org/officeDocument/2006/relationships/image"/><Relationship Id="rId16" Target="../media/image84.svg" Type="http://schemas.openxmlformats.org/officeDocument/2006/relationships/image"/><Relationship Id="rId17" Target="../media/image85.png" Type="http://schemas.openxmlformats.org/officeDocument/2006/relationships/image"/><Relationship Id="rId18" Target="../media/image86.svg" Type="http://schemas.openxmlformats.org/officeDocument/2006/relationships/image"/><Relationship Id="rId19" Target="../media/image87.png" Type="http://schemas.openxmlformats.org/officeDocument/2006/relationships/image"/><Relationship Id="rId2" Target="../media/image4.jpeg" Type="http://schemas.openxmlformats.org/officeDocument/2006/relationships/image"/><Relationship Id="rId20" Target="../media/image88.svg" Type="http://schemas.openxmlformats.org/officeDocument/2006/relationships/image"/><Relationship Id="rId3" Target="../media/image71.png" Type="http://schemas.openxmlformats.org/officeDocument/2006/relationships/image"/><Relationship Id="rId4" Target="../media/image72.svg" Type="http://schemas.openxmlformats.org/officeDocument/2006/relationships/image"/><Relationship Id="rId5" Target="../media/image73.png" Type="http://schemas.openxmlformats.org/officeDocument/2006/relationships/image"/><Relationship Id="rId6" Target="../media/image74.svg" Type="http://schemas.openxmlformats.org/officeDocument/2006/relationships/image"/><Relationship Id="rId7" Target="../media/image75.png" Type="http://schemas.openxmlformats.org/officeDocument/2006/relationships/image"/><Relationship Id="rId8" Target="../media/image76.sv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6.svg" Type="http://schemas.openxmlformats.org/officeDocument/2006/relationships/image"/><Relationship Id="rId11" Target="../media/image97.png" Type="http://schemas.openxmlformats.org/officeDocument/2006/relationships/image"/><Relationship Id="rId12" Target="../media/image98.svg" Type="http://schemas.openxmlformats.org/officeDocument/2006/relationships/image"/><Relationship Id="rId13" Target="../media/image99.png" Type="http://schemas.openxmlformats.org/officeDocument/2006/relationships/image"/><Relationship Id="rId14" Target="../media/image100.svg" Type="http://schemas.openxmlformats.org/officeDocument/2006/relationships/image"/><Relationship Id="rId15" Target="../media/image101.png" Type="http://schemas.openxmlformats.org/officeDocument/2006/relationships/image"/><Relationship Id="rId16" Target="../media/image102.svg" Type="http://schemas.openxmlformats.org/officeDocument/2006/relationships/image"/><Relationship Id="rId17" Target="../media/image103.png" Type="http://schemas.openxmlformats.org/officeDocument/2006/relationships/image"/><Relationship Id="rId18" Target="../media/image104.svg" Type="http://schemas.openxmlformats.org/officeDocument/2006/relationships/image"/><Relationship Id="rId2" Target="../media/image4.jpeg" Type="http://schemas.openxmlformats.org/officeDocument/2006/relationships/image"/><Relationship Id="rId3" Target="../media/image89.png" Type="http://schemas.openxmlformats.org/officeDocument/2006/relationships/image"/><Relationship Id="rId4" Target="../media/image90.svg" Type="http://schemas.openxmlformats.org/officeDocument/2006/relationships/image"/><Relationship Id="rId5" Target="../media/image91.png" Type="http://schemas.openxmlformats.org/officeDocument/2006/relationships/image"/><Relationship Id="rId6" Target="../media/image92.svg" Type="http://schemas.openxmlformats.org/officeDocument/2006/relationships/image"/><Relationship Id="rId7" Target="../media/image93.png" Type="http://schemas.openxmlformats.org/officeDocument/2006/relationships/image"/><Relationship Id="rId8" Target="../media/image94.svg" Type="http://schemas.openxmlformats.org/officeDocument/2006/relationships/image"/><Relationship Id="rId9" Target="../media/image9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2.svg" Type="http://schemas.openxmlformats.org/officeDocument/2006/relationships/image"/><Relationship Id="rId11" Target="../media/image113.png" Type="http://schemas.openxmlformats.org/officeDocument/2006/relationships/image"/><Relationship Id="rId12" Target="../media/image114.svg" Type="http://schemas.openxmlformats.org/officeDocument/2006/relationships/image"/><Relationship Id="rId13" Target="../media/image115.png" Type="http://schemas.openxmlformats.org/officeDocument/2006/relationships/image"/><Relationship Id="rId14" Target="../media/image116.svg" Type="http://schemas.openxmlformats.org/officeDocument/2006/relationships/image"/><Relationship Id="rId15" Target="../media/image117.png" Type="http://schemas.openxmlformats.org/officeDocument/2006/relationships/image"/><Relationship Id="rId16" Target="../media/image118.svg" Type="http://schemas.openxmlformats.org/officeDocument/2006/relationships/image"/><Relationship Id="rId17" Target="../media/image119.png" Type="http://schemas.openxmlformats.org/officeDocument/2006/relationships/image"/><Relationship Id="rId18" Target="../media/image120.svg" Type="http://schemas.openxmlformats.org/officeDocument/2006/relationships/image"/><Relationship Id="rId2" Target="../media/image4.jpeg" Type="http://schemas.openxmlformats.org/officeDocument/2006/relationships/image"/><Relationship Id="rId3" Target="../media/image105.png" Type="http://schemas.openxmlformats.org/officeDocument/2006/relationships/image"/><Relationship Id="rId4" Target="../media/image106.svg" Type="http://schemas.openxmlformats.org/officeDocument/2006/relationships/image"/><Relationship Id="rId5" Target="../media/image107.png" Type="http://schemas.openxmlformats.org/officeDocument/2006/relationships/image"/><Relationship Id="rId6" Target="../media/image108.svg" Type="http://schemas.openxmlformats.org/officeDocument/2006/relationships/image"/><Relationship Id="rId7" Target="../media/image109.png" Type="http://schemas.openxmlformats.org/officeDocument/2006/relationships/image"/><Relationship Id="rId8" Target="../media/image110.svg" Type="http://schemas.openxmlformats.org/officeDocument/2006/relationships/image"/><Relationship Id="rId9" Target="../media/image1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21.png" Type="http://schemas.openxmlformats.org/officeDocument/2006/relationships/image"/><Relationship Id="rId4" Target="../media/image122.svg" Type="http://schemas.openxmlformats.org/officeDocument/2006/relationships/image"/><Relationship Id="rId5" Target="../media/image123.png" Type="http://schemas.openxmlformats.org/officeDocument/2006/relationships/image"/><Relationship Id="rId6" Target="../media/image124.svg" Type="http://schemas.openxmlformats.org/officeDocument/2006/relationships/image"/><Relationship Id="rId7" Target="../media/image125.png" Type="http://schemas.openxmlformats.org/officeDocument/2006/relationships/image"/><Relationship Id="rId8" Target="../media/image12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7.jpeg" Type="http://schemas.openxmlformats.org/officeDocument/2006/relationships/image"/><Relationship Id="rId3" Target="../media/image128.png" Type="http://schemas.openxmlformats.org/officeDocument/2006/relationships/image"/><Relationship Id="rId4" Target="../media/image129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7.svg" Type="http://schemas.openxmlformats.org/officeDocument/2006/relationships/image"/><Relationship Id="rId11" Target="../media/image138.png" Type="http://schemas.openxmlformats.org/officeDocument/2006/relationships/image"/><Relationship Id="rId12" Target="../media/image139.svg" Type="http://schemas.openxmlformats.org/officeDocument/2006/relationships/image"/><Relationship Id="rId13" Target="../media/image140.png" Type="http://schemas.openxmlformats.org/officeDocument/2006/relationships/image"/><Relationship Id="rId14" Target="../media/image141.svg" Type="http://schemas.openxmlformats.org/officeDocument/2006/relationships/image"/><Relationship Id="rId2" Target="../media/image4.jpeg" Type="http://schemas.openxmlformats.org/officeDocument/2006/relationships/image"/><Relationship Id="rId3" Target="../media/image130.png" Type="http://schemas.openxmlformats.org/officeDocument/2006/relationships/image"/><Relationship Id="rId4" Target="../media/image131.svg" Type="http://schemas.openxmlformats.org/officeDocument/2006/relationships/image"/><Relationship Id="rId5" Target="../media/image132.png" Type="http://schemas.openxmlformats.org/officeDocument/2006/relationships/image"/><Relationship Id="rId6" Target="../media/image133.svg" Type="http://schemas.openxmlformats.org/officeDocument/2006/relationships/image"/><Relationship Id="rId7" Target="../media/image134.png" Type="http://schemas.openxmlformats.org/officeDocument/2006/relationships/image"/><Relationship Id="rId8" Target="../media/image135.svg" Type="http://schemas.openxmlformats.org/officeDocument/2006/relationships/image"/><Relationship Id="rId9" Target="../media/image13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9.png" Type="http://schemas.openxmlformats.org/officeDocument/2006/relationships/image"/><Relationship Id="rId11" Target="../media/image150.svg" Type="http://schemas.openxmlformats.org/officeDocument/2006/relationships/image"/><Relationship Id="rId12" Target="../media/image151.png" Type="http://schemas.openxmlformats.org/officeDocument/2006/relationships/image"/><Relationship Id="rId13" Target="../media/image152.svg" Type="http://schemas.openxmlformats.org/officeDocument/2006/relationships/image"/><Relationship Id="rId14" Target="../media/image153.png" Type="http://schemas.openxmlformats.org/officeDocument/2006/relationships/image"/><Relationship Id="rId15" Target="../media/image154.svg" Type="http://schemas.openxmlformats.org/officeDocument/2006/relationships/image"/><Relationship Id="rId16" Target="../media/image155.png" Type="http://schemas.openxmlformats.org/officeDocument/2006/relationships/image"/><Relationship Id="rId17" Target="../media/image156.svg" Type="http://schemas.openxmlformats.org/officeDocument/2006/relationships/image"/><Relationship Id="rId18" Target="../media/image157.png" Type="http://schemas.openxmlformats.org/officeDocument/2006/relationships/image"/><Relationship Id="rId19" Target="../media/image158.svg" Type="http://schemas.openxmlformats.org/officeDocument/2006/relationships/image"/><Relationship Id="rId2" Target="../media/image142.jpeg" Type="http://schemas.openxmlformats.org/officeDocument/2006/relationships/image"/><Relationship Id="rId3" Target="../media/image143.png" Type="http://schemas.openxmlformats.org/officeDocument/2006/relationships/image"/><Relationship Id="rId4" Target="../media/image144.svg" Type="http://schemas.openxmlformats.org/officeDocument/2006/relationships/image"/><Relationship Id="rId5" Target="../media/image4.jpeg" Type="http://schemas.openxmlformats.org/officeDocument/2006/relationships/image"/><Relationship Id="rId6" Target="../media/image145.png" Type="http://schemas.openxmlformats.org/officeDocument/2006/relationships/image"/><Relationship Id="rId7" Target="../media/image146.svg" Type="http://schemas.openxmlformats.org/officeDocument/2006/relationships/image"/><Relationship Id="rId8" Target="../media/image147.png" Type="http://schemas.openxmlformats.org/officeDocument/2006/relationships/image"/><Relationship Id="rId9" Target="../media/image14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montecarlodata.com/13a3f954d767e41f6c99798652f83ad0db86d5f7.webp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03" t="0" r="-1003" b="-8134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D3436">
                    <a:alpha val="90000"/>
                  </a:srgbClr>
                </a:gs>
                <a:gs pos="50000">
                  <a:srgbClr val="2D3436">
                    <a:alpha val="80000"/>
                  </a:srgbClr>
                </a:gs>
                <a:gs pos="100000">
                  <a:srgbClr val="0984E3">
                    <a:alpha val="70000"/>
                  </a:srgbClr>
                </a:gs>
              </a:gsLst>
              <a:lin ang="3638535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69595" y="1665446"/>
            <a:ext cx="1669733" cy="598170"/>
          </a:xfrm>
          <a:custGeom>
            <a:avLst/>
            <a:gdLst/>
            <a:ahLst/>
            <a:cxnLst/>
            <a:rect r="r" b="b" t="t" l="l"/>
            <a:pathLst>
              <a:path h="598170" w="1669733">
                <a:moveTo>
                  <a:pt x="0" y="0"/>
                </a:moveTo>
                <a:lnTo>
                  <a:pt x="1669733" y="0"/>
                </a:lnTo>
                <a:lnTo>
                  <a:pt x="1669733" y="598170"/>
                </a:lnTo>
                <a:lnTo>
                  <a:pt x="0" y="598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50094" y="1776250"/>
            <a:ext cx="1427798" cy="376562"/>
            <a:chOff x="0" y="0"/>
            <a:chExt cx="1733550" cy="457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3550" cy="457200"/>
            </a:xfrm>
            <a:custGeom>
              <a:avLst/>
              <a:gdLst/>
              <a:ahLst/>
              <a:cxnLst/>
              <a:rect r="r" b="b" t="t" l="l"/>
              <a:pathLst>
                <a:path h="457200" w="1733550">
                  <a:moveTo>
                    <a:pt x="0" y="0"/>
                  </a:moveTo>
                  <a:lnTo>
                    <a:pt x="1733550" y="0"/>
                  </a:lnTo>
                  <a:lnTo>
                    <a:pt x="17335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880" r="0" b="-238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7335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IBM THINK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500" y="2833211"/>
            <a:ext cx="7629525" cy="2571750"/>
            <a:chOff x="0" y="0"/>
            <a:chExt cx="10172700" cy="342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727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10172700">
                  <a:moveTo>
                    <a:pt x="0" y="0"/>
                  </a:moveTo>
                  <a:lnTo>
                    <a:pt x="10172700" y="0"/>
                  </a:lnTo>
                  <a:lnTo>
                    <a:pt x="10172700" y="3429000"/>
                  </a:lnTo>
                  <a:lnTo>
                    <a:pt x="0" y="3429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05" r="0" b="-78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0172700" cy="3438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Normalización de</a:t>
              </a:r>
            </a:p>
            <a:p>
              <a:pPr algn="l">
                <a:lnSpc>
                  <a:spcPts val="9720"/>
                </a:lnSpc>
              </a:pPr>
              <a:r>
                <a:rPr lang="en-US" sz="8100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Bases de Datos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1500" y="5747861"/>
            <a:ext cx="1828800" cy="57150"/>
            <a:chOff x="0" y="0"/>
            <a:chExt cx="2438400" cy="76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71500" y="6147911"/>
            <a:ext cx="9772650" cy="1671638"/>
            <a:chOff x="0" y="0"/>
            <a:chExt cx="13030200" cy="22288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30200" cy="2228850"/>
            </a:xfrm>
            <a:custGeom>
              <a:avLst/>
              <a:gdLst/>
              <a:ahLst/>
              <a:cxnLst/>
              <a:rect r="r" b="b" t="t" l="l"/>
              <a:pathLst>
                <a:path h="2228850" w="13030200">
                  <a:moveTo>
                    <a:pt x="0" y="0"/>
                  </a:moveTo>
                  <a:lnTo>
                    <a:pt x="13030200" y="0"/>
                  </a:lnTo>
                  <a:lnTo>
                    <a:pt x="13030200" y="2228850"/>
                  </a:lnTo>
                  <a:lnTo>
                    <a:pt x="0" y="22288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912" r="0" b="-6391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33350"/>
              <a:ext cx="13030200" cy="2362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27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Guía completa según IBM - Principios, formas normales y mejores prácticas para el diseño eficiente de bases de datos relacionales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25078" y="8305324"/>
            <a:ext cx="250031" cy="285750"/>
          </a:xfrm>
          <a:custGeom>
            <a:avLst/>
            <a:gdLst/>
            <a:ahLst/>
            <a:cxnLst/>
            <a:rect r="r" b="b" t="t" l="l"/>
            <a:pathLst>
              <a:path h="285750" w="250031">
                <a:moveTo>
                  <a:pt x="0" y="0"/>
                </a:moveTo>
                <a:lnTo>
                  <a:pt x="250031" y="0"/>
                </a:lnTo>
                <a:lnTo>
                  <a:pt x="250031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42988" y="8276749"/>
            <a:ext cx="2057400" cy="342900"/>
            <a:chOff x="0" y="0"/>
            <a:chExt cx="2743200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43200" cy="457200"/>
            </a:xfrm>
            <a:custGeom>
              <a:avLst/>
              <a:gdLst/>
              <a:ahLst/>
              <a:cxnLst/>
              <a:rect r="r" b="b" t="t" l="l"/>
              <a:pathLst>
                <a:path h="4572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27432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Integridad de Datos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3361668" y="8305324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3797437" y="8276749"/>
            <a:ext cx="2297430" cy="360381"/>
            <a:chOff x="0" y="0"/>
            <a:chExt cx="2914650" cy="457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14650" cy="457200"/>
            </a:xfrm>
            <a:custGeom>
              <a:avLst/>
              <a:gdLst/>
              <a:ahLst/>
              <a:cxnLst/>
              <a:rect r="r" b="b" t="t" l="l"/>
              <a:pathLst>
                <a:path h="457200" w="2914650">
                  <a:moveTo>
                    <a:pt x="0" y="0"/>
                  </a:moveTo>
                  <a:lnTo>
                    <a:pt x="2914650" y="0"/>
                  </a:lnTo>
                  <a:lnTo>
                    <a:pt x="29146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217" r="0" b="-7421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29146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Estructura Relacional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209167" y="8305324"/>
            <a:ext cx="357188" cy="285750"/>
          </a:xfrm>
          <a:custGeom>
            <a:avLst/>
            <a:gdLst/>
            <a:ahLst/>
            <a:cxnLst/>
            <a:rect r="r" b="b" t="t" l="l"/>
            <a:pathLst>
              <a:path h="285750" w="357188">
                <a:moveTo>
                  <a:pt x="0" y="0"/>
                </a:moveTo>
                <a:lnTo>
                  <a:pt x="357187" y="0"/>
                </a:lnTo>
                <a:lnTo>
                  <a:pt x="357187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6680654" y="8276749"/>
            <a:ext cx="1414462" cy="342900"/>
            <a:chOff x="0" y="0"/>
            <a:chExt cx="1885950" cy="457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85950" cy="457200"/>
            </a:xfrm>
            <a:custGeom>
              <a:avLst/>
              <a:gdLst/>
              <a:ahLst/>
              <a:cxnLst/>
              <a:rect r="r" b="b" t="t" l="l"/>
              <a:pathLst>
                <a:path h="457200" w="1885950">
                  <a:moveTo>
                    <a:pt x="0" y="0"/>
                  </a:moveTo>
                  <a:lnTo>
                    <a:pt x="1885950" y="0"/>
                  </a:lnTo>
                  <a:lnTo>
                    <a:pt x="18859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18859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Optimización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59300" cy="342900"/>
            <a:chOff x="0" y="0"/>
            <a:chExt cx="230124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30124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ESTRUCTURA DE LA PRESENTACIÓN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1028700"/>
            <a:ext cx="17487900" cy="685800"/>
            <a:chOff x="0" y="0"/>
            <a:chExt cx="233172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17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6868" r="0" b="-44686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23825"/>
              <a:ext cx="23317200" cy="79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Contenido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1500" y="1943100"/>
            <a:ext cx="1371600" cy="57150"/>
            <a:chOff x="0" y="0"/>
            <a:chExt cx="18288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0075" y="2457450"/>
            <a:ext cx="8372475" cy="2314575"/>
            <a:chOff x="0" y="0"/>
            <a:chExt cx="11163300" cy="3086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63300" cy="3086100"/>
            </a:xfrm>
            <a:custGeom>
              <a:avLst/>
              <a:gdLst/>
              <a:ahLst/>
              <a:cxnLst/>
              <a:rect r="r" b="b" t="t" l="l"/>
              <a:pathLst>
                <a:path h="3086100" w="11163300">
                  <a:moveTo>
                    <a:pt x="76200" y="0"/>
                  </a:moveTo>
                  <a:lnTo>
                    <a:pt x="11010900" y="0"/>
                  </a:lnTo>
                  <a:cubicBezTo>
                    <a:pt x="11095101" y="0"/>
                    <a:pt x="11163300" y="68199"/>
                    <a:pt x="11163300" y="152400"/>
                  </a:cubicBezTo>
                  <a:lnTo>
                    <a:pt x="11163300" y="2933700"/>
                  </a:lnTo>
                  <a:cubicBezTo>
                    <a:pt x="11163300" y="3017901"/>
                    <a:pt x="11095101" y="3086100"/>
                    <a:pt x="11010900" y="3086100"/>
                  </a:cubicBezTo>
                  <a:lnTo>
                    <a:pt x="76200" y="3086100"/>
                  </a:lnTo>
                  <a:cubicBezTo>
                    <a:pt x="34163" y="3086100"/>
                    <a:pt x="0" y="3051937"/>
                    <a:pt x="0" y="3009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0075" y="2457450"/>
            <a:ext cx="57150" cy="2314575"/>
            <a:chOff x="0" y="0"/>
            <a:chExt cx="76200" cy="3086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3086100"/>
            </a:xfrm>
            <a:custGeom>
              <a:avLst/>
              <a:gdLst/>
              <a:ahLst/>
              <a:cxnLst/>
              <a:rect r="r" b="b" t="t" l="l"/>
              <a:pathLst>
                <a:path h="3086100" w="76200">
                  <a:moveTo>
                    <a:pt x="76200" y="0"/>
                  </a:moveTo>
                  <a:lnTo>
                    <a:pt x="76200" y="3086100"/>
                  </a:lnTo>
                  <a:cubicBezTo>
                    <a:pt x="34163" y="3086100"/>
                    <a:pt x="0" y="3051937"/>
                    <a:pt x="0" y="3009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71550" y="2800350"/>
            <a:ext cx="685800" cy="685800"/>
            <a:chOff x="0" y="0"/>
            <a:chExt cx="9144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76395" y="2943225"/>
            <a:ext cx="414338" cy="400050"/>
            <a:chOff x="0" y="0"/>
            <a:chExt cx="55245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2450" cy="533400"/>
            </a:xfrm>
            <a:custGeom>
              <a:avLst/>
              <a:gdLst/>
              <a:ahLst/>
              <a:cxnLst/>
              <a:rect r="r" b="b" t="t" l="l"/>
              <a:pathLst>
                <a:path h="533400" w="552450">
                  <a:moveTo>
                    <a:pt x="0" y="0"/>
                  </a:moveTo>
                  <a:lnTo>
                    <a:pt x="552450" y="0"/>
                  </a:lnTo>
                  <a:lnTo>
                    <a:pt x="5524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3879" t="0" r="-73879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5524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85950" y="2800350"/>
            <a:ext cx="6886575" cy="400050"/>
            <a:chOff x="0" y="0"/>
            <a:chExt cx="9182100" cy="533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82100" cy="533400"/>
            </a:xfrm>
            <a:custGeom>
              <a:avLst/>
              <a:gdLst/>
              <a:ahLst/>
              <a:cxnLst/>
              <a:rect r="r" b="b" t="t" l="l"/>
              <a:pathLst>
                <a:path h="533400" w="9182100">
                  <a:moveTo>
                    <a:pt x="0" y="0"/>
                  </a:moveTo>
                  <a:lnTo>
                    <a:pt x="9182100" y="0"/>
                  </a:lnTo>
                  <a:lnTo>
                    <a:pt x="9182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421" r="0" b="-28542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1821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Fundamentos de la Normalización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885950" y="3314700"/>
            <a:ext cx="6858000" cy="742950"/>
            <a:chOff x="0" y="0"/>
            <a:chExt cx="9144000" cy="990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0" cy="990600"/>
            </a:xfrm>
            <a:custGeom>
              <a:avLst/>
              <a:gdLst/>
              <a:ahLst/>
              <a:cxnLst/>
              <a:rect r="r" b="b" t="t" l="l"/>
              <a:pathLst>
                <a:path h="9906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861" r="0" b="-12986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91440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Definición, conceptos básicos y contexto histórico desde Edgar F. Codd en IBM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344025" y="2457450"/>
            <a:ext cx="8372475" cy="2314575"/>
            <a:chOff x="0" y="0"/>
            <a:chExt cx="11163300" cy="3086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163300" cy="3086100"/>
            </a:xfrm>
            <a:custGeom>
              <a:avLst/>
              <a:gdLst/>
              <a:ahLst/>
              <a:cxnLst/>
              <a:rect r="r" b="b" t="t" l="l"/>
              <a:pathLst>
                <a:path h="3086100" w="11163300">
                  <a:moveTo>
                    <a:pt x="76200" y="0"/>
                  </a:moveTo>
                  <a:lnTo>
                    <a:pt x="11010900" y="0"/>
                  </a:lnTo>
                  <a:cubicBezTo>
                    <a:pt x="11095101" y="0"/>
                    <a:pt x="11163300" y="68199"/>
                    <a:pt x="11163300" y="152400"/>
                  </a:cubicBezTo>
                  <a:lnTo>
                    <a:pt x="11163300" y="2933700"/>
                  </a:lnTo>
                  <a:cubicBezTo>
                    <a:pt x="11163300" y="3017901"/>
                    <a:pt x="11095101" y="3086100"/>
                    <a:pt x="11010900" y="3086100"/>
                  </a:cubicBezTo>
                  <a:lnTo>
                    <a:pt x="76200" y="3086100"/>
                  </a:lnTo>
                  <a:cubicBezTo>
                    <a:pt x="34163" y="3086100"/>
                    <a:pt x="0" y="3051937"/>
                    <a:pt x="0" y="3009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344025" y="2457450"/>
            <a:ext cx="57150" cy="2314575"/>
            <a:chOff x="0" y="0"/>
            <a:chExt cx="76200" cy="3086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" cy="3086100"/>
            </a:xfrm>
            <a:custGeom>
              <a:avLst/>
              <a:gdLst/>
              <a:ahLst/>
              <a:cxnLst/>
              <a:rect r="r" b="b" t="t" l="l"/>
              <a:pathLst>
                <a:path h="3086100" w="76200">
                  <a:moveTo>
                    <a:pt x="76200" y="0"/>
                  </a:moveTo>
                  <a:lnTo>
                    <a:pt x="76200" y="3086100"/>
                  </a:lnTo>
                  <a:cubicBezTo>
                    <a:pt x="34163" y="3086100"/>
                    <a:pt x="0" y="3051937"/>
                    <a:pt x="0" y="3009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715500" y="280035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892846" y="2943225"/>
            <a:ext cx="471488" cy="400050"/>
            <a:chOff x="0" y="0"/>
            <a:chExt cx="628650" cy="533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8650" cy="533400"/>
            </a:xfrm>
            <a:custGeom>
              <a:avLst/>
              <a:gdLst/>
              <a:ahLst/>
              <a:cxnLst/>
              <a:rect r="r" b="b" t="t" l="l"/>
              <a:pathLst>
                <a:path h="533400" w="628650">
                  <a:moveTo>
                    <a:pt x="0" y="0"/>
                  </a:moveTo>
                  <a:lnTo>
                    <a:pt x="628650" y="0"/>
                  </a:lnTo>
                  <a:lnTo>
                    <a:pt x="6286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8863" t="0" r="-5886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6286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629900" y="2800350"/>
            <a:ext cx="6886575" cy="400050"/>
            <a:chOff x="0" y="0"/>
            <a:chExt cx="9182100" cy="533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82100" cy="533400"/>
            </a:xfrm>
            <a:custGeom>
              <a:avLst/>
              <a:gdLst/>
              <a:ahLst/>
              <a:cxnLst/>
              <a:rect r="r" b="b" t="t" l="l"/>
              <a:pathLst>
                <a:path h="533400" w="9182100">
                  <a:moveTo>
                    <a:pt x="0" y="0"/>
                  </a:moveTo>
                  <a:lnTo>
                    <a:pt x="9182100" y="0"/>
                  </a:lnTo>
                  <a:lnTo>
                    <a:pt x="9182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421" r="0" b="-28542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91821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Beneficios y Anomalías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629900" y="3314700"/>
            <a:ext cx="6858000" cy="742950"/>
            <a:chOff x="0" y="0"/>
            <a:chExt cx="9144000" cy="990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0" cy="990600"/>
            </a:xfrm>
            <a:custGeom>
              <a:avLst/>
              <a:gdLst/>
              <a:ahLst/>
              <a:cxnLst/>
              <a:rect r="r" b="b" t="t" l="l"/>
              <a:pathLst>
                <a:path h="9906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861" r="0" b="-12986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0"/>
              <a:ext cx="91440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Ventajas clave y tres tipos de anomalías de datos que la normalización resuelve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00075" y="5114925"/>
            <a:ext cx="8372475" cy="2314575"/>
            <a:chOff x="0" y="0"/>
            <a:chExt cx="11163300" cy="30861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163300" cy="3086100"/>
            </a:xfrm>
            <a:custGeom>
              <a:avLst/>
              <a:gdLst/>
              <a:ahLst/>
              <a:cxnLst/>
              <a:rect r="r" b="b" t="t" l="l"/>
              <a:pathLst>
                <a:path h="3086100" w="11163300">
                  <a:moveTo>
                    <a:pt x="76200" y="0"/>
                  </a:moveTo>
                  <a:lnTo>
                    <a:pt x="11010900" y="0"/>
                  </a:lnTo>
                  <a:cubicBezTo>
                    <a:pt x="11095101" y="0"/>
                    <a:pt x="11163300" y="68199"/>
                    <a:pt x="11163300" y="152400"/>
                  </a:cubicBezTo>
                  <a:lnTo>
                    <a:pt x="11163300" y="2933700"/>
                  </a:lnTo>
                  <a:cubicBezTo>
                    <a:pt x="11163300" y="3017901"/>
                    <a:pt x="11095101" y="3086100"/>
                    <a:pt x="11010900" y="3086100"/>
                  </a:cubicBezTo>
                  <a:lnTo>
                    <a:pt x="76200" y="3086100"/>
                  </a:lnTo>
                  <a:cubicBezTo>
                    <a:pt x="34163" y="3086100"/>
                    <a:pt x="0" y="3051937"/>
                    <a:pt x="0" y="3009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00075" y="5114925"/>
            <a:ext cx="57150" cy="2314575"/>
            <a:chOff x="0" y="0"/>
            <a:chExt cx="76200" cy="30861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200" cy="3086100"/>
            </a:xfrm>
            <a:custGeom>
              <a:avLst/>
              <a:gdLst/>
              <a:ahLst/>
              <a:cxnLst/>
              <a:rect r="r" b="b" t="t" l="l"/>
              <a:pathLst>
                <a:path h="3086100" w="76200">
                  <a:moveTo>
                    <a:pt x="76200" y="0"/>
                  </a:moveTo>
                  <a:lnTo>
                    <a:pt x="76200" y="3086100"/>
                  </a:lnTo>
                  <a:cubicBezTo>
                    <a:pt x="34163" y="3086100"/>
                    <a:pt x="0" y="3051937"/>
                    <a:pt x="0" y="3009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1550" y="5457825"/>
            <a:ext cx="685800" cy="685800"/>
            <a:chOff x="0" y="0"/>
            <a:chExt cx="91440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45143" y="5600700"/>
            <a:ext cx="485775" cy="400050"/>
            <a:chOff x="0" y="0"/>
            <a:chExt cx="647700" cy="533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661" t="0" r="-55661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6477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885950" y="5457825"/>
            <a:ext cx="6529388" cy="400050"/>
            <a:chOff x="0" y="0"/>
            <a:chExt cx="8705850" cy="533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705850" cy="533400"/>
            </a:xfrm>
            <a:custGeom>
              <a:avLst/>
              <a:gdLst/>
              <a:ahLst/>
              <a:cxnLst/>
              <a:rect r="r" b="b" t="t" l="l"/>
              <a:pathLst>
                <a:path h="533400" w="8705850">
                  <a:moveTo>
                    <a:pt x="0" y="0"/>
                  </a:moveTo>
                  <a:lnTo>
                    <a:pt x="8705850" y="0"/>
                  </a:lnTo>
                  <a:lnTo>
                    <a:pt x="8705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023" r="0" b="-26802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87058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Claves y Dependencias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885950" y="5972175"/>
            <a:ext cx="6500812" cy="742950"/>
            <a:chOff x="0" y="0"/>
            <a:chExt cx="8667750" cy="990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667750" cy="990600"/>
            </a:xfrm>
            <a:custGeom>
              <a:avLst/>
              <a:gdLst/>
              <a:ahLst/>
              <a:cxnLst/>
              <a:rect r="r" b="b" t="t" l="l"/>
              <a:pathLst>
                <a:path h="990600" w="8667750">
                  <a:moveTo>
                    <a:pt x="0" y="0"/>
                  </a:moveTo>
                  <a:lnTo>
                    <a:pt x="8667750" y="0"/>
                  </a:lnTo>
                  <a:lnTo>
                    <a:pt x="866775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5494" r="0" b="-9549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0"/>
              <a:ext cx="866775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Cinco tipos de claves y dependencias funcionales fundamentales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344025" y="5114925"/>
            <a:ext cx="8372475" cy="2314575"/>
            <a:chOff x="0" y="0"/>
            <a:chExt cx="11163300" cy="30861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163300" cy="3086100"/>
            </a:xfrm>
            <a:custGeom>
              <a:avLst/>
              <a:gdLst/>
              <a:ahLst/>
              <a:cxnLst/>
              <a:rect r="r" b="b" t="t" l="l"/>
              <a:pathLst>
                <a:path h="3086100" w="11163300">
                  <a:moveTo>
                    <a:pt x="76200" y="0"/>
                  </a:moveTo>
                  <a:lnTo>
                    <a:pt x="11010900" y="0"/>
                  </a:lnTo>
                  <a:cubicBezTo>
                    <a:pt x="11095101" y="0"/>
                    <a:pt x="11163300" y="68199"/>
                    <a:pt x="11163300" y="152400"/>
                  </a:cubicBezTo>
                  <a:lnTo>
                    <a:pt x="11163300" y="2933700"/>
                  </a:lnTo>
                  <a:cubicBezTo>
                    <a:pt x="11163300" y="3017901"/>
                    <a:pt x="11095101" y="3086100"/>
                    <a:pt x="11010900" y="3086100"/>
                  </a:cubicBezTo>
                  <a:lnTo>
                    <a:pt x="76200" y="3086100"/>
                  </a:lnTo>
                  <a:cubicBezTo>
                    <a:pt x="34163" y="3086100"/>
                    <a:pt x="0" y="3051937"/>
                    <a:pt x="0" y="3009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344025" y="5114925"/>
            <a:ext cx="57150" cy="2314575"/>
            <a:chOff x="0" y="0"/>
            <a:chExt cx="76200" cy="30861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6200" cy="3086100"/>
            </a:xfrm>
            <a:custGeom>
              <a:avLst/>
              <a:gdLst/>
              <a:ahLst/>
              <a:cxnLst/>
              <a:rect r="r" b="b" t="t" l="l"/>
              <a:pathLst>
                <a:path h="3086100" w="76200">
                  <a:moveTo>
                    <a:pt x="76200" y="0"/>
                  </a:moveTo>
                  <a:lnTo>
                    <a:pt x="76200" y="3086100"/>
                  </a:lnTo>
                  <a:cubicBezTo>
                    <a:pt x="34163" y="3086100"/>
                    <a:pt x="0" y="3051937"/>
                    <a:pt x="0" y="3009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715500" y="5457825"/>
            <a:ext cx="685800" cy="685800"/>
            <a:chOff x="0" y="0"/>
            <a:chExt cx="914400" cy="914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893017" y="5600700"/>
            <a:ext cx="471488" cy="400050"/>
            <a:chOff x="0" y="0"/>
            <a:chExt cx="628650" cy="533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8650" cy="533400"/>
            </a:xfrm>
            <a:custGeom>
              <a:avLst/>
              <a:gdLst/>
              <a:ahLst/>
              <a:cxnLst/>
              <a:rect r="r" b="b" t="t" l="l"/>
              <a:pathLst>
                <a:path h="533400" w="628650">
                  <a:moveTo>
                    <a:pt x="0" y="0"/>
                  </a:moveTo>
                  <a:lnTo>
                    <a:pt x="628650" y="0"/>
                  </a:lnTo>
                  <a:lnTo>
                    <a:pt x="6286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8863" t="0" r="-5886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6286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629900" y="5457825"/>
            <a:ext cx="6886575" cy="400050"/>
            <a:chOff x="0" y="0"/>
            <a:chExt cx="9182100" cy="533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182100" cy="533400"/>
            </a:xfrm>
            <a:custGeom>
              <a:avLst/>
              <a:gdLst/>
              <a:ahLst/>
              <a:cxnLst/>
              <a:rect r="r" b="b" t="t" l="l"/>
              <a:pathLst>
                <a:path h="533400" w="9182100">
                  <a:moveTo>
                    <a:pt x="0" y="0"/>
                  </a:moveTo>
                  <a:lnTo>
                    <a:pt x="9182100" y="0"/>
                  </a:lnTo>
                  <a:lnTo>
                    <a:pt x="9182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421" r="0" b="-28542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91821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Formas Normales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629900" y="5972175"/>
            <a:ext cx="6858000" cy="742950"/>
            <a:chOff x="0" y="0"/>
            <a:chExt cx="9144000" cy="990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0" cy="990600"/>
            </a:xfrm>
            <a:custGeom>
              <a:avLst/>
              <a:gdLst/>
              <a:ahLst/>
              <a:cxnLst/>
              <a:rect r="r" b="b" t="t" l="l"/>
              <a:pathLst>
                <a:path h="9906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861" r="0" b="-12986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0"/>
              <a:ext cx="91440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Seis niveles de normalización: 1NF, 2NF, 3NF, BCNF, 4NF y 5NF con ejemplos prácticos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00075" y="7772400"/>
            <a:ext cx="17116425" cy="1943100"/>
            <a:chOff x="0" y="0"/>
            <a:chExt cx="22821900" cy="2590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2821900" cy="2590800"/>
            </a:xfrm>
            <a:custGeom>
              <a:avLst/>
              <a:gdLst/>
              <a:ahLst/>
              <a:cxnLst/>
              <a:rect r="r" b="b" t="t" l="l"/>
              <a:pathLst>
                <a:path h="2590800" w="22821900">
                  <a:moveTo>
                    <a:pt x="76200" y="0"/>
                  </a:moveTo>
                  <a:lnTo>
                    <a:pt x="22669500" y="0"/>
                  </a:lnTo>
                  <a:cubicBezTo>
                    <a:pt x="22753574" y="0"/>
                    <a:pt x="22821900" y="68326"/>
                    <a:pt x="22821900" y="152400"/>
                  </a:cubicBezTo>
                  <a:lnTo>
                    <a:pt x="22821900" y="2438400"/>
                  </a:lnTo>
                  <a:cubicBezTo>
                    <a:pt x="22821900" y="2522601"/>
                    <a:pt x="22753701" y="2590800"/>
                    <a:pt x="22669500" y="2590800"/>
                  </a:cubicBezTo>
                  <a:lnTo>
                    <a:pt x="76200" y="2590800"/>
                  </a:lnTo>
                  <a:cubicBezTo>
                    <a:pt x="34163" y="2590800"/>
                    <a:pt x="0" y="2556637"/>
                    <a:pt x="0" y="2514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00075" y="7772400"/>
            <a:ext cx="57150" cy="1943100"/>
            <a:chOff x="0" y="0"/>
            <a:chExt cx="76200" cy="2590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6200" cy="2590800"/>
            </a:xfrm>
            <a:custGeom>
              <a:avLst/>
              <a:gdLst/>
              <a:ahLst/>
              <a:cxnLst/>
              <a:rect r="r" b="b" t="t" l="l"/>
              <a:pathLst>
                <a:path h="2590800" w="76200">
                  <a:moveTo>
                    <a:pt x="76200" y="0"/>
                  </a:moveTo>
                  <a:lnTo>
                    <a:pt x="76200" y="2590800"/>
                  </a:lnTo>
                  <a:cubicBezTo>
                    <a:pt x="34163" y="2590800"/>
                    <a:pt x="0" y="2556637"/>
                    <a:pt x="0" y="2514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71550" y="8115300"/>
            <a:ext cx="685800" cy="685800"/>
            <a:chOff x="0" y="0"/>
            <a:chExt cx="914400" cy="9144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144791" y="8258175"/>
            <a:ext cx="485775" cy="400050"/>
            <a:chOff x="0" y="0"/>
            <a:chExt cx="647700" cy="533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5661" t="0" r="-55661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6477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05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885950" y="8115300"/>
            <a:ext cx="9515475" cy="400050"/>
            <a:chOff x="0" y="0"/>
            <a:chExt cx="12687300" cy="5334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687300" cy="533400"/>
            </a:xfrm>
            <a:custGeom>
              <a:avLst/>
              <a:gdLst/>
              <a:ahLst/>
              <a:cxnLst/>
              <a:rect r="r" b="b" t="t" l="l"/>
              <a:pathLst>
                <a:path h="533400" w="12687300">
                  <a:moveTo>
                    <a:pt x="0" y="0"/>
                  </a:moveTo>
                  <a:lnTo>
                    <a:pt x="12687300" y="0"/>
                  </a:lnTo>
                  <a:lnTo>
                    <a:pt x="126873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3465" r="0" b="-41346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57150"/>
              <a:ext cx="126873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Desafíos y Consideraciones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900238" y="8629650"/>
            <a:ext cx="9486900" cy="678104"/>
            <a:chOff x="0" y="0"/>
            <a:chExt cx="12649200" cy="90413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2649200" cy="904138"/>
            </a:xfrm>
            <a:custGeom>
              <a:avLst/>
              <a:gdLst/>
              <a:ahLst/>
              <a:cxnLst/>
              <a:rect r="r" b="b" t="t" l="l"/>
              <a:pathLst>
                <a:path h="904138" w="12649200">
                  <a:moveTo>
                    <a:pt x="0" y="0"/>
                  </a:moveTo>
                  <a:lnTo>
                    <a:pt x="12649200" y="0"/>
                  </a:lnTo>
                  <a:lnTo>
                    <a:pt x="12649200" y="904138"/>
                  </a:lnTo>
                  <a:lnTo>
                    <a:pt x="0" y="904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211" r="0" b="-19999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0"/>
              <a:ext cx="12649200" cy="999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Limitaciones prácticas, complejidad de consultas y aspectos a considerar en la implementación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datahubanalytics.com/e78f350d9351c4ed6be0fa67ac4a2f98763afb44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488" r="0" b="-448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D3436">
                    <a:alpha val="95000"/>
                  </a:srgbClr>
                </a:gs>
                <a:gs pos="50000">
                  <a:srgbClr val="2D3436">
                    <a:alpha val="85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69595" y="2672715"/>
            <a:ext cx="1926908" cy="598170"/>
          </a:xfrm>
          <a:custGeom>
            <a:avLst/>
            <a:gdLst/>
            <a:ahLst/>
            <a:cxnLst/>
            <a:rect r="r" b="b" t="t" l="l"/>
            <a:pathLst>
              <a:path h="598170" w="1926908">
                <a:moveTo>
                  <a:pt x="0" y="0"/>
                </a:moveTo>
                <a:lnTo>
                  <a:pt x="1926907" y="0"/>
                </a:lnTo>
                <a:lnTo>
                  <a:pt x="1926907" y="598170"/>
                </a:lnTo>
                <a:lnTo>
                  <a:pt x="0" y="598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11530" y="2800350"/>
            <a:ext cx="1557338" cy="342900"/>
            <a:chOff x="0" y="0"/>
            <a:chExt cx="2076450" cy="457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6450" cy="457200"/>
            </a:xfrm>
            <a:custGeom>
              <a:avLst/>
              <a:gdLst/>
              <a:ahLst/>
              <a:cxnLst/>
              <a:rect r="r" b="b" t="t" l="l"/>
              <a:pathLst>
                <a:path h="457200" w="2076450">
                  <a:moveTo>
                    <a:pt x="0" y="0"/>
                  </a:moveTo>
                  <a:lnTo>
                    <a:pt x="2076450" y="0"/>
                  </a:lnTo>
                  <a:lnTo>
                    <a:pt x="20764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494" r="0" b="-384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764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CAPÍTULO 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500" y="3611880"/>
            <a:ext cx="17573625" cy="2143125"/>
            <a:chOff x="0" y="0"/>
            <a:chExt cx="23431500" cy="285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431500" cy="2857500"/>
            </a:xfrm>
            <a:custGeom>
              <a:avLst/>
              <a:gdLst/>
              <a:ahLst/>
              <a:cxnLst/>
              <a:rect r="r" b="b" t="t" l="l"/>
              <a:pathLst>
                <a:path h="2857500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2857500"/>
                  </a:lnTo>
                  <a:lnTo>
                    <a:pt x="0" y="285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3431500" cy="2867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6750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Fundamentos de la</a:t>
              </a:r>
            </a:p>
            <a:p>
              <a:pPr algn="l">
                <a:lnSpc>
                  <a:spcPts val="8100"/>
                </a:lnSpc>
              </a:pPr>
              <a:r>
                <a:rPr lang="en-US" sz="6750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Normalización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1500" y="6097905"/>
            <a:ext cx="1828800" cy="57150"/>
            <a:chOff x="0" y="0"/>
            <a:chExt cx="2438400" cy="76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71500" y="6497955"/>
            <a:ext cx="8401050" cy="1114425"/>
            <a:chOff x="0" y="0"/>
            <a:chExt cx="11201400" cy="1485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014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11201400">
                  <a:moveTo>
                    <a:pt x="0" y="0"/>
                  </a:moveTo>
                  <a:lnTo>
                    <a:pt x="11201400" y="0"/>
                  </a:lnTo>
                  <a:lnTo>
                    <a:pt x="1120140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887" r="0" b="-968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33350"/>
              <a:ext cx="11201400" cy="1619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27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Definición, conceptos básicos y contexto histórico que dio origen a este proceso fundamental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59300" cy="342900"/>
            <a:chOff x="0" y="0"/>
            <a:chExt cx="230124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30124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CONCEPTOS FUNDAMENTALES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1028700"/>
            <a:ext cx="17402175" cy="571500"/>
            <a:chOff x="0" y="0"/>
            <a:chExt cx="232029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32029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¿Qué es la Normalización de Bases de Datos?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1500" y="1828800"/>
            <a:ext cx="1371600" cy="57150"/>
            <a:chOff x="0" y="0"/>
            <a:chExt cx="18288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69595" y="2226945"/>
            <a:ext cx="10156507" cy="2769870"/>
          </a:xfrm>
          <a:custGeom>
            <a:avLst/>
            <a:gdLst/>
            <a:ahLst/>
            <a:cxnLst/>
            <a:rect r="r" b="b" t="t" l="l"/>
            <a:pathLst>
              <a:path h="2769870" w="10156507">
                <a:moveTo>
                  <a:pt x="0" y="0"/>
                </a:moveTo>
                <a:lnTo>
                  <a:pt x="10156507" y="0"/>
                </a:lnTo>
                <a:lnTo>
                  <a:pt x="10156507" y="2769870"/>
                </a:lnTo>
                <a:lnTo>
                  <a:pt x="0" y="27698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25830" y="2583180"/>
            <a:ext cx="800100" cy="800100"/>
            <a:chOff x="0" y="0"/>
            <a:chExt cx="1066800" cy="1066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152400" y="0"/>
                  </a:moveTo>
                  <a:lnTo>
                    <a:pt x="914400" y="0"/>
                  </a:lnTo>
                  <a:cubicBezTo>
                    <a:pt x="998601" y="0"/>
                    <a:pt x="1066800" y="68199"/>
                    <a:pt x="1066800" y="152400"/>
                  </a:cubicBezTo>
                  <a:lnTo>
                    <a:pt x="1066800" y="914400"/>
                  </a:lnTo>
                  <a:cubicBezTo>
                    <a:pt x="1066800" y="998601"/>
                    <a:pt x="998601" y="1066800"/>
                    <a:pt x="914400" y="1066800"/>
                  </a:cubicBezTo>
                  <a:lnTo>
                    <a:pt x="152400" y="1066800"/>
                  </a:lnTo>
                  <a:cubicBezTo>
                    <a:pt x="68199" y="1066800"/>
                    <a:pt x="0" y="998601"/>
                    <a:pt x="0" y="914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154430" y="2811780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954530" y="2583180"/>
            <a:ext cx="8558212" cy="400050"/>
            <a:chOff x="0" y="0"/>
            <a:chExt cx="11410950" cy="533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10950" cy="533400"/>
            </a:xfrm>
            <a:custGeom>
              <a:avLst/>
              <a:gdLst/>
              <a:ahLst/>
              <a:cxnLst/>
              <a:rect r="r" b="b" t="t" l="l"/>
              <a:pathLst>
                <a:path h="533400" w="11410950">
                  <a:moveTo>
                    <a:pt x="0" y="0"/>
                  </a:moveTo>
                  <a:lnTo>
                    <a:pt x="11410950" y="0"/>
                  </a:lnTo>
                  <a:lnTo>
                    <a:pt x="11410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6840" r="0" b="-36684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4109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Definición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54530" y="3154680"/>
            <a:ext cx="8529638" cy="1485900"/>
            <a:chOff x="0" y="0"/>
            <a:chExt cx="11372850" cy="198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72850" cy="1981200"/>
            </a:xfrm>
            <a:custGeom>
              <a:avLst/>
              <a:gdLst/>
              <a:ahLst/>
              <a:cxnLst/>
              <a:rect r="r" b="b" t="t" l="l"/>
              <a:pathLst>
                <a:path h="1981200" w="11372850">
                  <a:moveTo>
                    <a:pt x="0" y="0"/>
                  </a:moveTo>
                  <a:lnTo>
                    <a:pt x="11372850" y="0"/>
                  </a:lnTo>
                  <a:lnTo>
                    <a:pt x="11372850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851" r="0" b="-6185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11372850" cy="2076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La normalización es un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proceso de diseño de bases de datos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que organiza los datos en estructuras de tablas específicas. Optimiza las tablas en los sistemas de gestión de bases de datos (DBMS) para cumplir con conjuntos de reglas conocidas como </a:t>
              </a:r>
              <a:r>
                <a:rPr lang="en-US" sz="1800">
                  <a:solidFill>
                    <a:srgbClr val="0984E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formas normales 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00075" y="5280660"/>
            <a:ext cx="10115550" cy="2000250"/>
            <a:chOff x="0" y="0"/>
            <a:chExt cx="13487400" cy="2667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874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13487400">
                  <a:moveTo>
                    <a:pt x="76200" y="0"/>
                  </a:moveTo>
                  <a:lnTo>
                    <a:pt x="13335000" y="0"/>
                  </a:lnTo>
                  <a:cubicBezTo>
                    <a:pt x="13419201" y="0"/>
                    <a:pt x="13487400" y="68199"/>
                    <a:pt x="13487400" y="152400"/>
                  </a:cubicBezTo>
                  <a:lnTo>
                    <a:pt x="13487400" y="2514600"/>
                  </a:lnTo>
                  <a:cubicBezTo>
                    <a:pt x="13487400" y="2598801"/>
                    <a:pt x="13419201" y="2667000"/>
                    <a:pt x="13335000" y="2667000"/>
                  </a:cubicBezTo>
                  <a:lnTo>
                    <a:pt x="76200" y="2667000"/>
                  </a:lnTo>
                  <a:cubicBezTo>
                    <a:pt x="34163" y="2667000"/>
                    <a:pt x="0" y="2632837"/>
                    <a:pt x="0" y="2590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00075" y="5280660"/>
            <a:ext cx="57150" cy="2000250"/>
            <a:chOff x="0" y="0"/>
            <a:chExt cx="76200" cy="266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2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76200">
                  <a:moveTo>
                    <a:pt x="76200" y="0"/>
                  </a:moveTo>
                  <a:lnTo>
                    <a:pt x="76200" y="2667000"/>
                  </a:lnTo>
                  <a:cubicBezTo>
                    <a:pt x="34163" y="2667000"/>
                    <a:pt x="0" y="2632837"/>
                    <a:pt x="0" y="2590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950119" y="5637847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43012" y="5566410"/>
            <a:ext cx="9315450" cy="400050"/>
            <a:chOff x="0" y="0"/>
            <a:chExt cx="12420600" cy="533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420600" cy="533400"/>
            </a:xfrm>
            <a:custGeom>
              <a:avLst/>
              <a:gdLst/>
              <a:ahLst/>
              <a:cxnLst/>
              <a:rect r="r" b="b" t="t" l="l"/>
              <a:pathLst>
                <a:path h="533400" w="12420600">
                  <a:moveTo>
                    <a:pt x="0" y="0"/>
                  </a:moveTo>
                  <a:lnTo>
                    <a:pt x="12420600" y="0"/>
                  </a:lnTo>
                  <a:lnTo>
                    <a:pt x="124206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3723" r="0" b="-40372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124206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Objetivos Principales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2975" y="6195060"/>
            <a:ext cx="228600" cy="228600"/>
            <a:chOff x="0" y="0"/>
            <a:chExt cx="304800" cy="304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14450" y="5966460"/>
            <a:ext cx="2979605" cy="685800"/>
            <a:chOff x="0" y="0"/>
            <a:chExt cx="3972806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972806" cy="914400"/>
            </a:xfrm>
            <a:custGeom>
              <a:avLst/>
              <a:gdLst/>
              <a:ahLst/>
              <a:cxnLst/>
              <a:rect r="r" b="b" t="t" l="l"/>
              <a:pathLst>
                <a:path h="914400" w="3972806">
                  <a:moveTo>
                    <a:pt x="0" y="0"/>
                  </a:moveTo>
                  <a:lnTo>
                    <a:pt x="3972806" y="0"/>
                  </a:lnTo>
                  <a:lnTo>
                    <a:pt x="397280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781" r="4577" b="-57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3972806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Mejorar integridad de datos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789295" y="6195060"/>
            <a:ext cx="228600" cy="228600"/>
            <a:chOff x="0" y="0"/>
            <a:chExt cx="304800" cy="304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160770" y="6137910"/>
            <a:ext cx="1985962" cy="342900"/>
            <a:chOff x="0" y="0"/>
            <a:chExt cx="2647950" cy="457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647950" cy="457200"/>
            </a:xfrm>
            <a:custGeom>
              <a:avLst/>
              <a:gdLst/>
              <a:ahLst/>
              <a:cxnLst/>
              <a:rect r="r" b="b" t="t" l="l"/>
              <a:pathLst>
                <a:path h="457200" w="2647950">
                  <a:moveTo>
                    <a:pt x="0" y="0"/>
                  </a:moveTo>
                  <a:lnTo>
                    <a:pt x="2647950" y="0"/>
                  </a:lnTo>
                  <a:lnTo>
                    <a:pt x="26479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850" r="0" b="-628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26479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Prevenir anomalías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2975" y="6709410"/>
            <a:ext cx="228600" cy="228600"/>
            <a:chOff x="0" y="0"/>
            <a:chExt cx="304800" cy="304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14450" y="6537960"/>
            <a:ext cx="2649706" cy="659130"/>
            <a:chOff x="0" y="0"/>
            <a:chExt cx="3532942" cy="878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32942" cy="878840"/>
            </a:xfrm>
            <a:custGeom>
              <a:avLst/>
              <a:gdLst/>
              <a:ahLst/>
              <a:cxnLst/>
              <a:rect r="r" b="b" t="t" l="l"/>
              <a:pathLst>
                <a:path h="878840" w="3532942">
                  <a:moveTo>
                    <a:pt x="0" y="0"/>
                  </a:moveTo>
                  <a:lnTo>
                    <a:pt x="3532942" y="0"/>
                  </a:lnTo>
                  <a:lnTo>
                    <a:pt x="3532942" y="878840"/>
                  </a:lnTo>
                  <a:lnTo>
                    <a:pt x="0" y="878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678" r="11030" b="429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3532942" cy="955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Minimizar redundancia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789295" y="6709410"/>
            <a:ext cx="228600" cy="228600"/>
            <a:chOff x="0" y="0"/>
            <a:chExt cx="304800" cy="304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160770" y="6494145"/>
            <a:ext cx="2517226" cy="659130"/>
            <a:chOff x="0" y="0"/>
            <a:chExt cx="3356301" cy="878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56301" cy="878840"/>
            </a:xfrm>
            <a:custGeom>
              <a:avLst/>
              <a:gdLst/>
              <a:ahLst/>
              <a:cxnLst/>
              <a:rect r="r" b="b" t="t" l="l"/>
              <a:pathLst>
                <a:path h="878840" w="3356301">
                  <a:moveTo>
                    <a:pt x="0" y="0"/>
                  </a:moveTo>
                  <a:lnTo>
                    <a:pt x="3356301" y="0"/>
                  </a:lnTo>
                  <a:lnTo>
                    <a:pt x="3356301" y="878840"/>
                  </a:lnTo>
                  <a:lnTo>
                    <a:pt x="0" y="878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610" r="13158" b="936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76200"/>
              <a:ext cx="3356301" cy="955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Reforzar rendimiento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569595" y="7564755"/>
            <a:ext cx="10156507" cy="2284095"/>
          </a:xfrm>
          <a:custGeom>
            <a:avLst/>
            <a:gdLst/>
            <a:ahLst/>
            <a:cxnLst/>
            <a:rect r="r" b="b" t="t" l="l"/>
            <a:pathLst>
              <a:path h="2284095" w="10156507">
                <a:moveTo>
                  <a:pt x="0" y="0"/>
                </a:moveTo>
                <a:lnTo>
                  <a:pt x="10156507" y="0"/>
                </a:lnTo>
                <a:lnTo>
                  <a:pt x="10156507" y="2284095"/>
                </a:lnTo>
                <a:lnTo>
                  <a:pt x="0" y="22840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868680" y="7863840"/>
            <a:ext cx="9686925" cy="400050"/>
            <a:chOff x="0" y="0"/>
            <a:chExt cx="12915900" cy="533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915900" cy="533400"/>
            </a:xfrm>
            <a:custGeom>
              <a:avLst/>
              <a:gdLst/>
              <a:ahLst/>
              <a:cxnLst/>
              <a:rect r="r" b="b" t="t" l="l"/>
              <a:pathLst>
                <a:path h="533400" w="12915900">
                  <a:moveTo>
                    <a:pt x="0" y="0"/>
                  </a:moveTo>
                  <a:lnTo>
                    <a:pt x="12915900" y="0"/>
                  </a:lnTo>
                  <a:lnTo>
                    <a:pt x="12915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816" r="0" b="-42181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76200"/>
              <a:ext cx="129159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Formas Normales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68680" y="8435340"/>
            <a:ext cx="9672638" cy="1114425"/>
            <a:chOff x="0" y="0"/>
            <a:chExt cx="12896850" cy="14859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896850" cy="1485900"/>
            </a:xfrm>
            <a:custGeom>
              <a:avLst/>
              <a:gdLst/>
              <a:ahLst/>
              <a:cxnLst/>
              <a:rect r="r" b="b" t="t" l="l"/>
              <a:pathLst>
                <a:path h="1485900" w="12896850">
                  <a:moveTo>
                    <a:pt x="0" y="0"/>
                  </a:moveTo>
                  <a:lnTo>
                    <a:pt x="12896850" y="0"/>
                  </a:lnTo>
                  <a:lnTo>
                    <a:pt x="1289685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9120" r="0" b="-11912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0"/>
              <a:ext cx="1289685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Conjuntos de reglas que rigen cómo se organizan los atributos dentro de una tabla, basadas en las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relaciones entre atributos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(columnas), incluidas las claves utilizadas para identificar filas de forma única.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1062335" y="2226945"/>
            <a:ext cx="6656070" cy="5084445"/>
          </a:xfrm>
          <a:custGeom>
            <a:avLst/>
            <a:gdLst/>
            <a:ahLst/>
            <a:cxnLst/>
            <a:rect r="r" b="b" t="t" l="l"/>
            <a:pathLst>
              <a:path h="5084445" w="6656070">
                <a:moveTo>
                  <a:pt x="0" y="0"/>
                </a:moveTo>
                <a:lnTo>
                  <a:pt x="6656070" y="0"/>
                </a:lnTo>
                <a:lnTo>
                  <a:pt x="6656070" y="5084445"/>
                </a:lnTo>
                <a:lnTo>
                  <a:pt x="0" y="50844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1349990" y="2526030"/>
            <a:ext cx="6069330" cy="4382513"/>
            <a:chOff x="0" y="0"/>
            <a:chExt cx="5065401" cy="3657600"/>
          </a:xfrm>
        </p:grpSpPr>
        <p:sp>
          <p:nvSpPr>
            <p:cNvPr name="Freeform 57" id="57" descr="https://kimi-web-img.moonshot.cn/img/www.holistics.io/054657f9886732f7e5084af4edc2e7852ec56c32.png"/>
            <p:cNvSpPr/>
            <p:nvPr/>
          </p:nvSpPr>
          <p:spPr>
            <a:xfrm flipH="false" flipV="false" rot="0">
              <a:off x="0" y="0"/>
              <a:ext cx="5065401" cy="3657600"/>
            </a:xfrm>
            <a:custGeom>
              <a:avLst/>
              <a:gdLst/>
              <a:ahLst/>
              <a:cxnLst/>
              <a:rect r="r" b="b" t="t" l="l"/>
              <a:pathLst>
                <a:path h="3657600" w="5065401">
                  <a:moveTo>
                    <a:pt x="0" y="0"/>
                  </a:moveTo>
                  <a:lnTo>
                    <a:pt x="5065401" y="0"/>
                  </a:lnTo>
                  <a:lnTo>
                    <a:pt x="5065401" y="3657600"/>
                  </a:lnTo>
                  <a:lnTo>
                    <a:pt x="0" y="365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0435" t="0" r="-20436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417856" y="6795135"/>
            <a:ext cx="6157912" cy="285750"/>
            <a:chOff x="0" y="0"/>
            <a:chExt cx="8210550" cy="381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210550" cy="381000"/>
            </a:xfrm>
            <a:custGeom>
              <a:avLst/>
              <a:gdLst/>
              <a:ahLst/>
              <a:cxnLst/>
              <a:rect r="r" b="b" t="t" l="l"/>
              <a:pathLst>
                <a:path h="381000" w="8210550">
                  <a:moveTo>
                    <a:pt x="0" y="0"/>
                  </a:moveTo>
                  <a:lnTo>
                    <a:pt x="8210550" y="0"/>
                  </a:lnTo>
                  <a:lnTo>
                    <a:pt x="82105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9902" r="0" b="-36990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82105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Ejemplo de estructura de base de datos normalizada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064240" y="7589520"/>
            <a:ext cx="6657975" cy="2257425"/>
            <a:chOff x="0" y="0"/>
            <a:chExt cx="8877300" cy="30099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877300" cy="3009900"/>
            </a:xfrm>
            <a:custGeom>
              <a:avLst/>
              <a:gdLst/>
              <a:ahLst/>
              <a:cxnLst/>
              <a:rect r="r" b="b" t="t" l="l"/>
              <a:pathLst>
                <a:path h="3009900" w="8877300">
                  <a:moveTo>
                    <a:pt x="152400" y="0"/>
                  </a:moveTo>
                  <a:lnTo>
                    <a:pt x="8724900" y="0"/>
                  </a:lnTo>
                  <a:cubicBezTo>
                    <a:pt x="8809101" y="0"/>
                    <a:pt x="8877300" y="68199"/>
                    <a:pt x="8877300" y="152400"/>
                  </a:cubicBezTo>
                  <a:lnTo>
                    <a:pt x="8877300" y="2857500"/>
                  </a:lnTo>
                  <a:cubicBezTo>
                    <a:pt x="8877300" y="2941701"/>
                    <a:pt x="8809101" y="3009900"/>
                    <a:pt x="8724900" y="3009900"/>
                  </a:cubicBezTo>
                  <a:lnTo>
                    <a:pt x="152400" y="3009900"/>
                  </a:lnTo>
                  <a:cubicBezTo>
                    <a:pt x="68199" y="3009900"/>
                    <a:pt x="0" y="2941701"/>
                    <a:pt x="0" y="28575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63" id="63"/>
          <p:cNvSpPr/>
          <p:nvPr/>
        </p:nvSpPr>
        <p:spPr>
          <a:xfrm flipH="false" flipV="false" rot="0">
            <a:off x="11417856" y="7946707"/>
            <a:ext cx="192881" cy="257175"/>
          </a:xfrm>
          <a:custGeom>
            <a:avLst/>
            <a:gdLst/>
            <a:ahLst/>
            <a:cxnLst/>
            <a:rect r="r" b="b" t="t" l="l"/>
            <a:pathLst>
              <a:path h="257175" w="192881">
                <a:moveTo>
                  <a:pt x="0" y="0"/>
                </a:moveTo>
                <a:lnTo>
                  <a:pt x="192881" y="0"/>
                </a:lnTo>
                <a:lnTo>
                  <a:pt x="192881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1678602" y="7875270"/>
            <a:ext cx="5886450" cy="400050"/>
            <a:chOff x="0" y="0"/>
            <a:chExt cx="7848600" cy="533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848600" cy="533400"/>
            </a:xfrm>
            <a:custGeom>
              <a:avLst/>
              <a:gdLst/>
              <a:ahLst/>
              <a:cxnLst/>
              <a:rect r="r" b="b" t="t" l="l"/>
              <a:pathLst>
                <a:path h="533400" w="7848600">
                  <a:moveTo>
                    <a:pt x="0" y="0"/>
                  </a:moveTo>
                  <a:lnTo>
                    <a:pt x="7848600" y="0"/>
                  </a:lnTo>
                  <a:lnTo>
                    <a:pt x="78486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76200"/>
              <a:ext cx="78486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Concepto Clave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349990" y="8446770"/>
            <a:ext cx="6200775" cy="1114425"/>
            <a:chOff x="0" y="0"/>
            <a:chExt cx="8267700" cy="14859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2677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8267700">
                  <a:moveTo>
                    <a:pt x="0" y="0"/>
                  </a:moveTo>
                  <a:lnTo>
                    <a:pt x="8267700" y="0"/>
                  </a:lnTo>
                  <a:lnTo>
                    <a:pt x="826770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416" r="0" b="-5841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0"/>
              <a:ext cx="826770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Las formas normales establecen reglas progresivas que van desde la eliminación de grupos repetidos hasta la eliminación de dependencias complejas entre atributos.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www.altexsoft.com/9faab02c7dedb99b953bd8e9257a6ed1d0aa425e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D3436">
                    <a:alpha val="95000"/>
                  </a:srgbClr>
                </a:gs>
                <a:gs pos="50000">
                  <a:srgbClr val="2D3436">
                    <a:alpha val="85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69595" y="2672715"/>
            <a:ext cx="1969770" cy="598170"/>
          </a:xfrm>
          <a:custGeom>
            <a:avLst/>
            <a:gdLst/>
            <a:ahLst/>
            <a:cxnLst/>
            <a:rect r="r" b="b" t="t" l="l"/>
            <a:pathLst>
              <a:path h="598170" w="1969770">
                <a:moveTo>
                  <a:pt x="0" y="0"/>
                </a:moveTo>
                <a:lnTo>
                  <a:pt x="1969770" y="0"/>
                </a:lnTo>
                <a:lnTo>
                  <a:pt x="1969770" y="598170"/>
                </a:lnTo>
                <a:lnTo>
                  <a:pt x="0" y="598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11530" y="2800350"/>
            <a:ext cx="1600200" cy="342900"/>
            <a:chOff x="0" y="0"/>
            <a:chExt cx="2133600" cy="457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3600" cy="457200"/>
            </a:xfrm>
            <a:custGeom>
              <a:avLst/>
              <a:gdLst/>
              <a:ahLst/>
              <a:cxnLst/>
              <a:rect r="r" b="b" t="t" l="l"/>
              <a:pathLst>
                <a:path h="4572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1336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CAPÍTULO 02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500" y="3611880"/>
            <a:ext cx="17573625" cy="2143125"/>
            <a:chOff x="0" y="0"/>
            <a:chExt cx="23431500" cy="285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431500" cy="2857500"/>
            </a:xfrm>
            <a:custGeom>
              <a:avLst/>
              <a:gdLst/>
              <a:ahLst/>
              <a:cxnLst/>
              <a:rect r="r" b="b" t="t" l="l"/>
              <a:pathLst>
                <a:path h="2857500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2857500"/>
                  </a:lnTo>
                  <a:lnTo>
                    <a:pt x="0" y="285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3431500" cy="2867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6750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Beneficios y</a:t>
              </a:r>
            </a:p>
            <a:p>
              <a:pPr algn="l">
                <a:lnSpc>
                  <a:spcPts val="8100"/>
                </a:lnSpc>
              </a:pPr>
              <a:r>
                <a:rPr lang="en-US" sz="6750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Anomalías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1500" y="6097905"/>
            <a:ext cx="1828800" cy="57150"/>
            <a:chOff x="0" y="0"/>
            <a:chExt cx="2438400" cy="76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71500" y="6497955"/>
            <a:ext cx="8401050" cy="1114425"/>
            <a:chOff x="0" y="0"/>
            <a:chExt cx="11201400" cy="1485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014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11201400">
                  <a:moveTo>
                    <a:pt x="0" y="0"/>
                  </a:moveTo>
                  <a:lnTo>
                    <a:pt x="11201400" y="0"/>
                  </a:lnTo>
                  <a:lnTo>
                    <a:pt x="1120140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887" r="0" b="-968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33350"/>
              <a:ext cx="11201400" cy="1619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27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Ventajas clave de la normalización y problemas que resuelve en el diseño de bases de datos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59300" cy="342900"/>
            <a:chOff x="0" y="0"/>
            <a:chExt cx="230124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30124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VENTAJAS CLAVE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1028700"/>
            <a:ext cx="17402175" cy="571500"/>
            <a:chOff x="0" y="0"/>
            <a:chExt cx="232029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32029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Beneficios de la Normalización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1500" y="1828800"/>
            <a:ext cx="1371600" cy="57150"/>
            <a:chOff x="0" y="0"/>
            <a:chExt cx="18288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0075" y="2228850"/>
            <a:ext cx="8401050" cy="3600450"/>
            <a:chOff x="0" y="0"/>
            <a:chExt cx="11201400" cy="4800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01400" cy="4800600"/>
            </a:xfrm>
            <a:custGeom>
              <a:avLst/>
              <a:gdLst/>
              <a:ahLst/>
              <a:cxnLst/>
              <a:rect r="r" b="b" t="t" l="l"/>
              <a:pathLst>
                <a:path h="4800600" w="11201400">
                  <a:moveTo>
                    <a:pt x="76200" y="0"/>
                  </a:moveTo>
                  <a:lnTo>
                    <a:pt x="11049000" y="0"/>
                  </a:lnTo>
                  <a:cubicBezTo>
                    <a:pt x="11133201" y="0"/>
                    <a:pt x="11201400" y="68199"/>
                    <a:pt x="11201400" y="152400"/>
                  </a:cubicBezTo>
                  <a:lnTo>
                    <a:pt x="11201400" y="4648200"/>
                  </a:lnTo>
                  <a:cubicBezTo>
                    <a:pt x="11201400" y="4732401"/>
                    <a:pt x="11133201" y="4800600"/>
                    <a:pt x="11049000" y="4800600"/>
                  </a:cubicBezTo>
                  <a:lnTo>
                    <a:pt x="76200" y="4800600"/>
                  </a:lnTo>
                  <a:cubicBezTo>
                    <a:pt x="34163" y="4800600"/>
                    <a:pt x="0" y="4766437"/>
                    <a:pt x="0" y="4724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00075" y="2228850"/>
            <a:ext cx="57150" cy="3600450"/>
            <a:chOff x="0" y="0"/>
            <a:chExt cx="76200" cy="4800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4800600"/>
            </a:xfrm>
            <a:custGeom>
              <a:avLst/>
              <a:gdLst/>
              <a:ahLst/>
              <a:cxnLst/>
              <a:rect r="r" b="b" t="t" l="l"/>
              <a:pathLst>
                <a:path h="4800600" w="76200">
                  <a:moveTo>
                    <a:pt x="76200" y="0"/>
                  </a:moveTo>
                  <a:lnTo>
                    <a:pt x="76200" y="4800600"/>
                  </a:lnTo>
                  <a:cubicBezTo>
                    <a:pt x="34163" y="4800600"/>
                    <a:pt x="0" y="4766437"/>
                    <a:pt x="0" y="4724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71550" y="2571750"/>
            <a:ext cx="800100" cy="800100"/>
            <a:chOff x="0" y="0"/>
            <a:chExt cx="1066800" cy="1066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152400" y="0"/>
                  </a:moveTo>
                  <a:lnTo>
                    <a:pt x="914400" y="0"/>
                  </a:lnTo>
                  <a:cubicBezTo>
                    <a:pt x="998601" y="0"/>
                    <a:pt x="1066800" y="68199"/>
                    <a:pt x="1066800" y="152400"/>
                  </a:cubicBezTo>
                  <a:lnTo>
                    <a:pt x="1066800" y="914400"/>
                  </a:lnTo>
                  <a:cubicBezTo>
                    <a:pt x="1066800" y="998601"/>
                    <a:pt x="998601" y="1066800"/>
                    <a:pt x="914400" y="1066800"/>
                  </a:cubicBezTo>
                  <a:lnTo>
                    <a:pt x="152400" y="1066800"/>
                  </a:lnTo>
                  <a:cubicBezTo>
                    <a:pt x="68199" y="1066800"/>
                    <a:pt x="0" y="998601"/>
                    <a:pt x="0" y="914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00150" y="2800350"/>
            <a:ext cx="342900" cy="342900"/>
            <a:chOff x="0" y="0"/>
            <a:chExt cx="457200" cy="457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4351" y="0"/>
              <a:ext cx="428626" cy="454660"/>
            </a:xfrm>
            <a:custGeom>
              <a:avLst/>
              <a:gdLst/>
              <a:ahLst/>
              <a:cxnLst/>
              <a:rect r="r" b="b" t="t" l="l"/>
              <a:pathLst>
                <a:path h="454660" w="428626">
                  <a:moveTo>
                    <a:pt x="214249" y="0"/>
                  </a:moveTo>
                  <a:cubicBezTo>
                    <a:pt x="218313" y="0"/>
                    <a:pt x="222504" y="889"/>
                    <a:pt x="226187" y="2540"/>
                  </a:cubicBezTo>
                  <a:lnTo>
                    <a:pt x="394462" y="73914"/>
                  </a:lnTo>
                  <a:cubicBezTo>
                    <a:pt x="414147" y="82169"/>
                    <a:pt x="428752" y="101600"/>
                    <a:pt x="428625" y="124968"/>
                  </a:cubicBezTo>
                  <a:cubicBezTo>
                    <a:pt x="428117" y="213487"/>
                    <a:pt x="391795" y="375666"/>
                    <a:pt x="237871" y="449326"/>
                  </a:cubicBezTo>
                  <a:cubicBezTo>
                    <a:pt x="223012" y="456438"/>
                    <a:pt x="205613" y="456438"/>
                    <a:pt x="190754" y="449326"/>
                  </a:cubicBezTo>
                  <a:cubicBezTo>
                    <a:pt x="36830" y="375666"/>
                    <a:pt x="508" y="213614"/>
                    <a:pt x="0" y="124968"/>
                  </a:cubicBezTo>
                  <a:cubicBezTo>
                    <a:pt x="0" y="101600"/>
                    <a:pt x="14605" y="82296"/>
                    <a:pt x="34290" y="73914"/>
                  </a:cubicBezTo>
                  <a:lnTo>
                    <a:pt x="202311" y="2540"/>
                  </a:lnTo>
                  <a:cubicBezTo>
                    <a:pt x="206121" y="889"/>
                    <a:pt x="210058" y="0"/>
                    <a:pt x="214249" y="0"/>
                  </a:cubicBezTo>
                  <a:close/>
                  <a:moveTo>
                    <a:pt x="214249" y="59690"/>
                  </a:moveTo>
                  <a:lnTo>
                    <a:pt x="214249" y="397256"/>
                  </a:lnTo>
                  <a:cubicBezTo>
                    <a:pt x="337439" y="337566"/>
                    <a:pt x="370586" y="205486"/>
                    <a:pt x="371348" y="126365"/>
                  </a:cubicBezTo>
                  <a:lnTo>
                    <a:pt x="214249" y="5969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000250" y="2571750"/>
            <a:ext cx="6800850" cy="400050"/>
            <a:chOff x="0" y="0"/>
            <a:chExt cx="9067800" cy="533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67800" cy="533400"/>
            </a:xfrm>
            <a:custGeom>
              <a:avLst/>
              <a:gdLst/>
              <a:ahLst/>
              <a:cxnLst/>
              <a:rect r="r" b="b" t="t" l="l"/>
              <a:pathLst>
                <a:path h="533400" w="9067800">
                  <a:moveTo>
                    <a:pt x="0" y="0"/>
                  </a:moveTo>
                  <a:lnTo>
                    <a:pt x="9067800" y="0"/>
                  </a:lnTo>
                  <a:lnTo>
                    <a:pt x="9067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90678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Prevención de Anomalías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000250" y="3086100"/>
            <a:ext cx="6772275" cy="1114425"/>
            <a:chOff x="0" y="0"/>
            <a:chExt cx="9029700" cy="14859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0297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9029700">
                  <a:moveTo>
                    <a:pt x="0" y="0"/>
                  </a:moveTo>
                  <a:lnTo>
                    <a:pt x="9029700" y="0"/>
                  </a:lnTo>
                  <a:lnTo>
                    <a:pt x="902970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409" r="0" b="-6840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902970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Cuando las tablas más grandes se descomponen en tablas más pequeñas y sencillas, modificar una base de datos se convierte en un proceso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más fácil y menos propenso a errores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000250" y="4371975"/>
            <a:ext cx="6657975" cy="685800"/>
            <a:chOff x="0" y="0"/>
            <a:chExt cx="88773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77300" cy="914400"/>
            </a:xfrm>
            <a:custGeom>
              <a:avLst/>
              <a:gdLst/>
              <a:ahLst/>
              <a:cxnLst/>
              <a:rect r="r" b="b" t="t" l="l"/>
              <a:pathLst>
                <a:path h="914400" w="8877300">
                  <a:moveTo>
                    <a:pt x="152400" y="0"/>
                  </a:moveTo>
                  <a:lnTo>
                    <a:pt x="8724900" y="0"/>
                  </a:lnTo>
                  <a:cubicBezTo>
                    <a:pt x="8809101" y="0"/>
                    <a:pt x="8877300" y="68199"/>
                    <a:pt x="8877300" y="152400"/>
                  </a:cubicBezTo>
                  <a:lnTo>
                    <a:pt x="8877300" y="762000"/>
                  </a:lnTo>
                  <a:cubicBezTo>
                    <a:pt x="8877300" y="846201"/>
                    <a:pt x="8809101" y="914400"/>
                    <a:pt x="87249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214562" y="4589145"/>
            <a:ext cx="200025" cy="228600"/>
            <a:chOff x="0" y="0"/>
            <a:chExt cx="266700" cy="304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543175" y="4543425"/>
            <a:ext cx="6057900" cy="342900"/>
            <a:chOff x="0" y="0"/>
            <a:chExt cx="8077200" cy="457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7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80772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Limita cambios a tablas de datos relacionados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15450" y="2228850"/>
            <a:ext cx="8401050" cy="3600450"/>
            <a:chOff x="0" y="0"/>
            <a:chExt cx="11201400" cy="4800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01400" cy="4800600"/>
            </a:xfrm>
            <a:custGeom>
              <a:avLst/>
              <a:gdLst/>
              <a:ahLst/>
              <a:cxnLst/>
              <a:rect r="r" b="b" t="t" l="l"/>
              <a:pathLst>
                <a:path h="4800600" w="11201400">
                  <a:moveTo>
                    <a:pt x="76200" y="0"/>
                  </a:moveTo>
                  <a:lnTo>
                    <a:pt x="11049000" y="0"/>
                  </a:lnTo>
                  <a:cubicBezTo>
                    <a:pt x="11133201" y="0"/>
                    <a:pt x="11201400" y="68199"/>
                    <a:pt x="11201400" y="152400"/>
                  </a:cubicBezTo>
                  <a:lnTo>
                    <a:pt x="11201400" y="4648200"/>
                  </a:lnTo>
                  <a:cubicBezTo>
                    <a:pt x="11201400" y="4732401"/>
                    <a:pt x="11133201" y="4800600"/>
                    <a:pt x="11049000" y="4800600"/>
                  </a:cubicBezTo>
                  <a:lnTo>
                    <a:pt x="76200" y="4800600"/>
                  </a:lnTo>
                  <a:cubicBezTo>
                    <a:pt x="34163" y="4800600"/>
                    <a:pt x="0" y="4766437"/>
                    <a:pt x="0" y="4724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315450" y="2228850"/>
            <a:ext cx="57150" cy="3600450"/>
            <a:chOff x="0" y="0"/>
            <a:chExt cx="76200" cy="4800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200" cy="4800600"/>
            </a:xfrm>
            <a:custGeom>
              <a:avLst/>
              <a:gdLst/>
              <a:ahLst/>
              <a:cxnLst/>
              <a:rect r="r" b="b" t="t" l="l"/>
              <a:pathLst>
                <a:path h="4800600" w="76200">
                  <a:moveTo>
                    <a:pt x="76200" y="0"/>
                  </a:moveTo>
                  <a:lnTo>
                    <a:pt x="76200" y="4800600"/>
                  </a:lnTo>
                  <a:cubicBezTo>
                    <a:pt x="34163" y="4800600"/>
                    <a:pt x="0" y="4766437"/>
                    <a:pt x="0" y="4724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86925" y="2571750"/>
            <a:ext cx="800100" cy="800100"/>
            <a:chOff x="0" y="0"/>
            <a:chExt cx="1066800" cy="1066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152400" y="0"/>
                  </a:moveTo>
                  <a:lnTo>
                    <a:pt x="914400" y="0"/>
                  </a:lnTo>
                  <a:cubicBezTo>
                    <a:pt x="998601" y="0"/>
                    <a:pt x="1066800" y="68199"/>
                    <a:pt x="1066800" y="152400"/>
                  </a:cubicBezTo>
                  <a:lnTo>
                    <a:pt x="1066800" y="914400"/>
                  </a:lnTo>
                  <a:cubicBezTo>
                    <a:pt x="1066800" y="998601"/>
                    <a:pt x="998601" y="1066800"/>
                    <a:pt x="914400" y="1066800"/>
                  </a:cubicBezTo>
                  <a:lnTo>
                    <a:pt x="152400" y="1066800"/>
                  </a:lnTo>
                  <a:cubicBezTo>
                    <a:pt x="68199" y="1066800"/>
                    <a:pt x="0" y="998601"/>
                    <a:pt x="0" y="914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9936956" y="2800350"/>
            <a:ext cx="300038" cy="342900"/>
          </a:xfrm>
          <a:custGeom>
            <a:avLst/>
            <a:gdLst/>
            <a:ahLst/>
            <a:cxnLst/>
            <a:rect r="r" b="b" t="t" l="l"/>
            <a:pathLst>
              <a:path h="342900" w="300038">
                <a:moveTo>
                  <a:pt x="0" y="0"/>
                </a:moveTo>
                <a:lnTo>
                  <a:pt x="300038" y="0"/>
                </a:lnTo>
                <a:lnTo>
                  <a:pt x="300038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0715625" y="2571750"/>
            <a:ext cx="6800850" cy="400050"/>
            <a:chOff x="0" y="0"/>
            <a:chExt cx="9067800" cy="533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67800" cy="533400"/>
            </a:xfrm>
            <a:custGeom>
              <a:avLst/>
              <a:gdLst/>
              <a:ahLst/>
              <a:cxnLst/>
              <a:rect r="r" b="b" t="t" l="l"/>
              <a:pathLst>
                <a:path h="533400" w="9067800">
                  <a:moveTo>
                    <a:pt x="0" y="0"/>
                  </a:moveTo>
                  <a:lnTo>
                    <a:pt x="9067800" y="0"/>
                  </a:lnTo>
                  <a:lnTo>
                    <a:pt x="9067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90678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Reducción de Redundancia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715625" y="2971800"/>
            <a:ext cx="6901168" cy="1085850"/>
            <a:chOff x="0" y="0"/>
            <a:chExt cx="9201557" cy="1447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201557" cy="1447800"/>
            </a:xfrm>
            <a:custGeom>
              <a:avLst/>
              <a:gdLst/>
              <a:ahLst/>
              <a:cxnLst/>
              <a:rect r="r" b="b" t="t" l="l"/>
              <a:pathLst>
                <a:path h="1447800" w="9201557">
                  <a:moveTo>
                    <a:pt x="0" y="0"/>
                  </a:moveTo>
                  <a:lnTo>
                    <a:pt x="9201557" y="0"/>
                  </a:lnTo>
                  <a:lnTo>
                    <a:pt x="9201557" y="1447800"/>
                  </a:lnTo>
                  <a:lnTo>
                    <a:pt x="0" y="1447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7314" r="1867" b="-5573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0"/>
              <a:ext cx="9201557" cy="154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La redundancia no intencionada es el efecto de sistemas que crean datos duplicados inadvertidamente, dando lugar a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ineficiencias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715625" y="4000500"/>
            <a:ext cx="6657975" cy="1028700"/>
            <a:chOff x="0" y="0"/>
            <a:chExt cx="8877300" cy="1371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8773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8877300">
                  <a:moveTo>
                    <a:pt x="152400" y="0"/>
                  </a:moveTo>
                  <a:lnTo>
                    <a:pt x="8724900" y="0"/>
                  </a:lnTo>
                  <a:cubicBezTo>
                    <a:pt x="8809101" y="0"/>
                    <a:pt x="8877300" y="68199"/>
                    <a:pt x="8877300" y="152400"/>
                  </a:cubicBezTo>
                  <a:lnTo>
                    <a:pt x="8877300" y="1219200"/>
                  </a:lnTo>
                  <a:cubicBezTo>
                    <a:pt x="8877300" y="1303401"/>
                    <a:pt x="8809101" y="1371600"/>
                    <a:pt x="8724900" y="1371600"/>
                  </a:cubicBezTo>
                  <a:lnTo>
                    <a:pt x="152400" y="1371600"/>
                  </a:lnTo>
                  <a:cubicBezTo>
                    <a:pt x="68199" y="1371600"/>
                    <a:pt x="0" y="1303401"/>
                    <a:pt x="0" y="1219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929938" y="4217670"/>
            <a:ext cx="200025" cy="228600"/>
            <a:chOff x="0" y="0"/>
            <a:chExt cx="266700" cy="304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-159" y="37992"/>
              <a:ext cx="266840" cy="247803"/>
            </a:xfrm>
            <a:custGeom>
              <a:avLst/>
              <a:gdLst/>
              <a:ahLst/>
              <a:cxnLst/>
              <a:rect r="r" b="b" t="t" l="l"/>
              <a:pathLst>
                <a:path h="247803" w="266840">
                  <a:moveTo>
                    <a:pt x="258985" y="3791"/>
                  </a:moveTo>
                  <a:cubicBezTo>
                    <a:pt x="267494" y="10014"/>
                    <a:pt x="269399" y="21825"/>
                    <a:pt x="263176" y="30461"/>
                  </a:cubicBezTo>
                  <a:lnTo>
                    <a:pt x="110776" y="240011"/>
                  </a:lnTo>
                  <a:cubicBezTo>
                    <a:pt x="107474" y="244583"/>
                    <a:pt x="102394" y="247377"/>
                    <a:pt x="96806" y="247758"/>
                  </a:cubicBezTo>
                  <a:cubicBezTo>
                    <a:pt x="91218" y="248139"/>
                    <a:pt x="85757" y="246107"/>
                    <a:pt x="81820" y="242170"/>
                  </a:cubicBezTo>
                  <a:lnTo>
                    <a:pt x="5620" y="165970"/>
                  </a:lnTo>
                  <a:cubicBezTo>
                    <a:pt x="-1873" y="158477"/>
                    <a:pt x="-1873" y="146412"/>
                    <a:pt x="5620" y="139046"/>
                  </a:cubicBezTo>
                  <a:cubicBezTo>
                    <a:pt x="13113" y="131680"/>
                    <a:pt x="25178" y="131553"/>
                    <a:pt x="32544" y="139046"/>
                  </a:cubicBezTo>
                  <a:lnTo>
                    <a:pt x="92996" y="199498"/>
                  </a:lnTo>
                  <a:lnTo>
                    <a:pt x="232442" y="7855"/>
                  </a:lnTo>
                  <a:cubicBezTo>
                    <a:pt x="238665" y="-654"/>
                    <a:pt x="250603" y="-2559"/>
                    <a:pt x="259112" y="3664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258550" y="4171950"/>
            <a:ext cx="6057900" cy="685800"/>
            <a:chOff x="0" y="0"/>
            <a:chExt cx="807720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077200" cy="914400"/>
            </a:xfrm>
            <a:custGeom>
              <a:avLst/>
              <a:gdLst/>
              <a:ahLst/>
              <a:cxnLst/>
              <a:rect r="r" b="b" t="t" l="l"/>
              <a:pathLst>
                <a:path h="91440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76200"/>
              <a:ext cx="807720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La redundancia intencional puede mejorar calidad y disponibilidad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0075" y="6115050"/>
            <a:ext cx="8401050" cy="3600450"/>
            <a:chOff x="0" y="0"/>
            <a:chExt cx="11201400" cy="4800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201400" cy="4800600"/>
            </a:xfrm>
            <a:custGeom>
              <a:avLst/>
              <a:gdLst/>
              <a:ahLst/>
              <a:cxnLst/>
              <a:rect r="r" b="b" t="t" l="l"/>
              <a:pathLst>
                <a:path h="4800600" w="11201400">
                  <a:moveTo>
                    <a:pt x="76200" y="0"/>
                  </a:moveTo>
                  <a:lnTo>
                    <a:pt x="11049000" y="0"/>
                  </a:lnTo>
                  <a:cubicBezTo>
                    <a:pt x="11133201" y="0"/>
                    <a:pt x="11201400" y="68199"/>
                    <a:pt x="11201400" y="152400"/>
                  </a:cubicBezTo>
                  <a:lnTo>
                    <a:pt x="11201400" y="4648200"/>
                  </a:lnTo>
                  <a:cubicBezTo>
                    <a:pt x="11201400" y="4732401"/>
                    <a:pt x="11133201" y="4800600"/>
                    <a:pt x="11049000" y="4800600"/>
                  </a:cubicBezTo>
                  <a:lnTo>
                    <a:pt x="76200" y="4800600"/>
                  </a:lnTo>
                  <a:cubicBezTo>
                    <a:pt x="34163" y="4800600"/>
                    <a:pt x="0" y="4766437"/>
                    <a:pt x="0" y="4724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00075" y="6115050"/>
            <a:ext cx="57150" cy="3600450"/>
            <a:chOff x="0" y="0"/>
            <a:chExt cx="76200" cy="4800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6200" cy="4800600"/>
            </a:xfrm>
            <a:custGeom>
              <a:avLst/>
              <a:gdLst/>
              <a:ahLst/>
              <a:cxnLst/>
              <a:rect r="r" b="b" t="t" l="l"/>
              <a:pathLst>
                <a:path h="4800600" w="76200">
                  <a:moveTo>
                    <a:pt x="76200" y="0"/>
                  </a:moveTo>
                  <a:lnTo>
                    <a:pt x="76200" y="4800600"/>
                  </a:lnTo>
                  <a:cubicBezTo>
                    <a:pt x="34163" y="4800600"/>
                    <a:pt x="0" y="4766437"/>
                    <a:pt x="0" y="4724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71550" y="6457950"/>
            <a:ext cx="800100" cy="800100"/>
            <a:chOff x="0" y="0"/>
            <a:chExt cx="1066800" cy="1066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152400" y="0"/>
                  </a:moveTo>
                  <a:lnTo>
                    <a:pt x="914400" y="0"/>
                  </a:lnTo>
                  <a:cubicBezTo>
                    <a:pt x="998601" y="0"/>
                    <a:pt x="1066800" y="68199"/>
                    <a:pt x="1066800" y="152400"/>
                  </a:cubicBezTo>
                  <a:lnTo>
                    <a:pt x="1066800" y="914400"/>
                  </a:lnTo>
                  <a:cubicBezTo>
                    <a:pt x="1066800" y="998601"/>
                    <a:pt x="998601" y="1066800"/>
                    <a:pt x="914400" y="1066800"/>
                  </a:cubicBezTo>
                  <a:lnTo>
                    <a:pt x="152400" y="1066800"/>
                  </a:lnTo>
                  <a:cubicBezTo>
                    <a:pt x="68199" y="1066800"/>
                    <a:pt x="0" y="998601"/>
                    <a:pt x="0" y="914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sp>
        <p:nvSpPr>
          <p:cNvPr name="Freeform 57" id="57"/>
          <p:cNvSpPr/>
          <p:nvPr/>
        </p:nvSpPr>
        <p:spPr>
          <a:xfrm flipH="false" flipV="false" rot="0">
            <a:off x="1264444" y="6686550"/>
            <a:ext cx="214312" cy="342900"/>
          </a:xfrm>
          <a:custGeom>
            <a:avLst/>
            <a:gdLst/>
            <a:ahLst/>
            <a:cxnLst/>
            <a:rect r="r" b="b" t="t" l="l"/>
            <a:pathLst>
              <a:path h="342900" w="214312">
                <a:moveTo>
                  <a:pt x="0" y="0"/>
                </a:moveTo>
                <a:lnTo>
                  <a:pt x="214312" y="0"/>
                </a:lnTo>
                <a:lnTo>
                  <a:pt x="214312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2000250" y="6457950"/>
            <a:ext cx="6800850" cy="400050"/>
            <a:chOff x="0" y="0"/>
            <a:chExt cx="9067800" cy="533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067800" cy="533400"/>
            </a:xfrm>
            <a:custGeom>
              <a:avLst/>
              <a:gdLst/>
              <a:ahLst/>
              <a:cxnLst/>
              <a:rect r="r" b="b" t="t" l="l"/>
              <a:pathLst>
                <a:path h="533400" w="9067800">
                  <a:moveTo>
                    <a:pt x="0" y="0"/>
                  </a:moveTo>
                  <a:lnTo>
                    <a:pt x="9067800" y="0"/>
                  </a:lnTo>
                  <a:lnTo>
                    <a:pt x="9067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90678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Ahorro de Costos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000250" y="6972300"/>
            <a:ext cx="6772275" cy="1114425"/>
            <a:chOff x="0" y="0"/>
            <a:chExt cx="9029700" cy="14859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0297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9029700">
                  <a:moveTo>
                    <a:pt x="0" y="0"/>
                  </a:moveTo>
                  <a:lnTo>
                    <a:pt x="9029700" y="0"/>
                  </a:lnTo>
                  <a:lnTo>
                    <a:pt x="902970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409" r="0" b="-6840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0"/>
              <a:ext cx="902970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Reducir datos duplicados puede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reducir los costos de almacenamiento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. Especialmente importante en entornos cloud donde los precios se basan en volumen.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000250" y="8258175"/>
            <a:ext cx="6657975" cy="685800"/>
            <a:chOff x="0" y="0"/>
            <a:chExt cx="8877300" cy="914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877300" cy="914400"/>
            </a:xfrm>
            <a:custGeom>
              <a:avLst/>
              <a:gdLst/>
              <a:ahLst/>
              <a:cxnLst/>
              <a:rect r="r" b="b" t="t" l="l"/>
              <a:pathLst>
                <a:path h="914400" w="8877300">
                  <a:moveTo>
                    <a:pt x="152400" y="0"/>
                  </a:moveTo>
                  <a:lnTo>
                    <a:pt x="8724900" y="0"/>
                  </a:lnTo>
                  <a:cubicBezTo>
                    <a:pt x="8809101" y="0"/>
                    <a:pt x="8877300" y="68199"/>
                    <a:pt x="8877300" y="152400"/>
                  </a:cubicBezTo>
                  <a:lnTo>
                    <a:pt x="8877300" y="762000"/>
                  </a:lnTo>
                  <a:cubicBezTo>
                    <a:pt x="8877300" y="846201"/>
                    <a:pt x="8809101" y="914400"/>
                    <a:pt x="87249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2185988" y="8475345"/>
            <a:ext cx="257175" cy="228600"/>
            <a:chOff x="0" y="0"/>
            <a:chExt cx="342900" cy="304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19050"/>
              <a:ext cx="342900" cy="266700"/>
            </a:xfrm>
            <a:custGeom>
              <a:avLst/>
              <a:gdLst/>
              <a:ahLst/>
              <a:cxnLst/>
              <a:rect r="r" b="b" t="t" l="l"/>
              <a:pathLst>
                <a:path h="266700" w="342900">
                  <a:moveTo>
                    <a:pt x="0" y="180975"/>
                  </a:moveTo>
                  <a:cubicBezTo>
                    <a:pt x="0" y="228346"/>
                    <a:pt x="38354" y="266700"/>
                    <a:pt x="85725" y="266700"/>
                  </a:cubicBezTo>
                  <a:lnTo>
                    <a:pt x="266700" y="266700"/>
                  </a:lnTo>
                  <a:cubicBezTo>
                    <a:pt x="308737" y="266700"/>
                    <a:pt x="342900" y="232537"/>
                    <a:pt x="342900" y="190500"/>
                  </a:cubicBezTo>
                  <a:cubicBezTo>
                    <a:pt x="342900" y="159766"/>
                    <a:pt x="324739" y="133350"/>
                    <a:pt x="298577" y="121285"/>
                  </a:cubicBezTo>
                  <a:cubicBezTo>
                    <a:pt x="302514" y="113538"/>
                    <a:pt x="304800" y="104648"/>
                    <a:pt x="304800" y="95250"/>
                  </a:cubicBezTo>
                  <a:cubicBezTo>
                    <a:pt x="304800" y="63754"/>
                    <a:pt x="279146" y="38100"/>
                    <a:pt x="247650" y="38100"/>
                  </a:cubicBezTo>
                  <a:cubicBezTo>
                    <a:pt x="237109" y="38100"/>
                    <a:pt x="227330" y="41021"/>
                    <a:pt x="218821" y="45847"/>
                  </a:cubicBezTo>
                  <a:cubicBezTo>
                    <a:pt x="204470" y="18669"/>
                    <a:pt x="175895" y="0"/>
                    <a:pt x="142875" y="0"/>
                  </a:cubicBezTo>
                  <a:cubicBezTo>
                    <a:pt x="95504" y="0"/>
                    <a:pt x="57150" y="38354"/>
                    <a:pt x="57150" y="85725"/>
                  </a:cubicBezTo>
                  <a:cubicBezTo>
                    <a:pt x="57150" y="90424"/>
                    <a:pt x="57531" y="95250"/>
                    <a:pt x="58293" y="99695"/>
                  </a:cubicBezTo>
                  <a:cubicBezTo>
                    <a:pt x="24384" y="111125"/>
                    <a:pt x="0" y="143256"/>
                    <a:pt x="0" y="180975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543175" y="8429625"/>
            <a:ext cx="6057900" cy="342900"/>
            <a:chOff x="0" y="0"/>
            <a:chExt cx="8077200" cy="457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07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76200"/>
              <a:ext cx="80772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Crítico para entornos de nube modernos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315450" y="6115050"/>
            <a:ext cx="8401050" cy="3600450"/>
            <a:chOff x="0" y="0"/>
            <a:chExt cx="11201400" cy="48006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201400" cy="4800600"/>
            </a:xfrm>
            <a:custGeom>
              <a:avLst/>
              <a:gdLst/>
              <a:ahLst/>
              <a:cxnLst/>
              <a:rect r="r" b="b" t="t" l="l"/>
              <a:pathLst>
                <a:path h="4800600" w="11201400">
                  <a:moveTo>
                    <a:pt x="76200" y="0"/>
                  </a:moveTo>
                  <a:lnTo>
                    <a:pt x="11049000" y="0"/>
                  </a:lnTo>
                  <a:cubicBezTo>
                    <a:pt x="11133201" y="0"/>
                    <a:pt x="11201400" y="68199"/>
                    <a:pt x="11201400" y="152400"/>
                  </a:cubicBezTo>
                  <a:lnTo>
                    <a:pt x="11201400" y="4648200"/>
                  </a:lnTo>
                  <a:cubicBezTo>
                    <a:pt x="11201400" y="4732401"/>
                    <a:pt x="11133201" y="4800600"/>
                    <a:pt x="11049000" y="4800600"/>
                  </a:cubicBezTo>
                  <a:lnTo>
                    <a:pt x="76200" y="4800600"/>
                  </a:lnTo>
                  <a:cubicBezTo>
                    <a:pt x="34163" y="4800600"/>
                    <a:pt x="0" y="4766437"/>
                    <a:pt x="0" y="4724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315450" y="6115050"/>
            <a:ext cx="57150" cy="3600450"/>
            <a:chOff x="0" y="0"/>
            <a:chExt cx="76200" cy="48006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6200" cy="4800600"/>
            </a:xfrm>
            <a:custGeom>
              <a:avLst/>
              <a:gdLst/>
              <a:ahLst/>
              <a:cxnLst/>
              <a:rect r="r" b="b" t="t" l="l"/>
              <a:pathLst>
                <a:path h="4800600" w="76200">
                  <a:moveTo>
                    <a:pt x="76200" y="0"/>
                  </a:moveTo>
                  <a:lnTo>
                    <a:pt x="76200" y="4800600"/>
                  </a:lnTo>
                  <a:cubicBezTo>
                    <a:pt x="34163" y="4800600"/>
                    <a:pt x="0" y="4766437"/>
                    <a:pt x="0" y="4724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686925" y="6457950"/>
            <a:ext cx="800100" cy="800100"/>
            <a:chOff x="0" y="0"/>
            <a:chExt cx="1066800" cy="10668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152400" y="0"/>
                  </a:moveTo>
                  <a:lnTo>
                    <a:pt x="914400" y="0"/>
                  </a:lnTo>
                  <a:cubicBezTo>
                    <a:pt x="998601" y="0"/>
                    <a:pt x="1066800" y="68199"/>
                    <a:pt x="1066800" y="152400"/>
                  </a:cubicBezTo>
                  <a:lnTo>
                    <a:pt x="1066800" y="914400"/>
                  </a:lnTo>
                  <a:cubicBezTo>
                    <a:pt x="1066800" y="998601"/>
                    <a:pt x="998601" y="1066800"/>
                    <a:pt x="914400" y="1066800"/>
                  </a:cubicBezTo>
                  <a:lnTo>
                    <a:pt x="152400" y="1066800"/>
                  </a:lnTo>
                  <a:cubicBezTo>
                    <a:pt x="68199" y="1066800"/>
                    <a:pt x="0" y="998601"/>
                    <a:pt x="0" y="914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sp>
        <p:nvSpPr>
          <p:cNvPr name="Freeform 77" id="77"/>
          <p:cNvSpPr/>
          <p:nvPr/>
        </p:nvSpPr>
        <p:spPr>
          <a:xfrm flipH="false" flipV="false" rot="0">
            <a:off x="9915525" y="6686550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10715625" y="6457950"/>
            <a:ext cx="6800850" cy="400050"/>
            <a:chOff x="0" y="0"/>
            <a:chExt cx="9067800" cy="5334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067800" cy="533400"/>
            </a:xfrm>
            <a:custGeom>
              <a:avLst/>
              <a:gdLst/>
              <a:ahLst/>
              <a:cxnLst/>
              <a:rect r="r" b="b" t="t" l="l"/>
              <a:pathLst>
                <a:path h="533400" w="9067800">
                  <a:moveTo>
                    <a:pt x="0" y="0"/>
                  </a:moveTo>
                  <a:lnTo>
                    <a:pt x="9067800" y="0"/>
                  </a:lnTo>
                  <a:lnTo>
                    <a:pt x="9067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90678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Recuperación Rápida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715625" y="6972300"/>
            <a:ext cx="6772275" cy="742950"/>
            <a:chOff x="0" y="0"/>
            <a:chExt cx="9029700" cy="9906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029700" cy="990600"/>
            </a:xfrm>
            <a:custGeom>
              <a:avLst/>
              <a:gdLst/>
              <a:ahLst/>
              <a:cxnLst/>
              <a:rect r="r" b="b" t="t" l="l"/>
              <a:pathLst>
                <a:path h="990600" w="9029700">
                  <a:moveTo>
                    <a:pt x="0" y="0"/>
                  </a:moveTo>
                  <a:lnTo>
                    <a:pt x="9029700" y="0"/>
                  </a:lnTo>
                  <a:lnTo>
                    <a:pt x="90297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613" r="0" b="-12761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0"/>
              <a:ext cx="90297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Menor redundancia conduce a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consultas de datos más rápidas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, ya que requiere menos procesamiento durante las búsquedas.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715625" y="7886700"/>
            <a:ext cx="6657975" cy="685800"/>
            <a:chOff x="0" y="0"/>
            <a:chExt cx="8877300" cy="9144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877300" cy="914400"/>
            </a:xfrm>
            <a:custGeom>
              <a:avLst/>
              <a:gdLst/>
              <a:ahLst/>
              <a:cxnLst/>
              <a:rect r="r" b="b" t="t" l="l"/>
              <a:pathLst>
                <a:path h="914400" w="8877300">
                  <a:moveTo>
                    <a:pt x="152400" y="0"/>
                  </a:moveTo>
                  <a:lnTo>
                    <a:pt x="8724900" y="0"/>
                  </a:lnTo>
                  <a:cubicBezTo>
                    <a:pt x="8809101" y="0"/>
                    <a:pt x="8877300" y="68199"/>
                    <a:pt x="8877300" y="152400"/>
                  </a:cubicBezTo>
                  <a:lnTo>
                    <a:pt x="8877300" y="762000"/>
                  </a:lnTo>
                  <a:cubicBezTo>
                    <a:pt x="8877300" y="846201"/>
                    <a:pt x="8809101" y="914400"/>
                    <a:pt x="872490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929938" y="8103870"/>
            <a:ext cx="200025" cy="228600"/>
            <a:chOff x="0" y="0"/>
            <a:chExt cx="266700" cy="3048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43" y="-9471"/>
              <a:ext cx="266615" cy="323741"/>
            </a:xfrm>
            <a:custGeom>
              <a:avLst/>
              <a:gdLst/>
              <a:ahLst/>
              <a:cxnLst/>
              <a:rect r="r" b="b" t="t" l="l"/>
              <a:pathLst>
                <a:path h="323741" w="266615">
                  <a:moveTo>
                    <a:pt x="201633" y="3629"/>
                  </a:moveTo>
                  <a:cubicBezTo>
                    <a:pt x="208745" y="8709"/>
                    <a:pt x="211285" y="17980"/>
                    <a:pt x="208110" y="26108"/>
                  </a:cubicBezTo>
                  <a:lnTo>
                    <a:pt x="161501" y="142821"/>
                  </a:lnTo>
                  <a:lnTo>
                    <a:pt x="247607" y="142821"/>
                  </a:lnTo>
                  <a:cubicBezTo>
                    <a:pt x="255608" y="142821"/>
                    <a:pt x="262847" y="147774"/>
                    <a:pt x="265514" y="155394"/>
                  </a:cubicBezTo>
                  <a:cubicBezTo>
                    <a:pt x="268181" y="163014"/>
                    <a:pt x="265895" y="171396"/>
                    <a:pt x="259799" y="176476"/>
                  </a:cubicBezTo>
                  <a:lnTo>
                    <a:pt x="88349" y="319351"/>
                  </a:lnTo>
                  <a:cubicBezTo>
                    <a:pt x="81618" y="324939"/>
                    <a:pt x="72093" y="325193"/>
                    <a:pt x="64981" y="320113"/>
                  </a:cubicBezTo>
                  <a:cubicBezTo>
                    <a:pt x="57869" y="315033"/>
                    <a:pt x="55329" y="305762"/>
                    <a:pt x="58504" y="297634"/>
                  </a:cubicBezTo>
                  <a:lnTo>
                    <a:pt x="105113" y="180921"/>
                  </a:lnTo>
                  <a:lnTo>
                    <a:pt x="19007" y="180921"/>
                  </a:lnTo>
                  <a:cubicBezTo>
                    <a:pt x="11006" y="180921"/>
                    <a:pt x="3767" y="175968"/>
                    <a:pt x="1100" y="168348"/>
                  </a:cubicBezTo>
                  <a:cubicBezTo>
                    <a:pt x="-1567" y="160728"/>
                    <a:pt x="719" y="152346"/>
                    <a:pt x="6815" y="147266"/>
                  </a:cubicBezTo>
                  <a:lnTo>
                    <a:pt x="178265" y="4391"/>
                  </a:lnTo>
                  <a:cubicBezTo>
                    <a:pt x="184996" y="-1197"/>
                    <a:pt x="194521" y="-1451"/>
                    <a:pt x="201633" y="3629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1258550" y="8058150"/>
            <a:ext cx="6057900" cy="342900"/>
            <a:chOff x="0" y="0"/>
            <a:chExt cx="8077200" cy="4572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07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76200"/>
              <a:ext cx="80772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Optimización del rendimiento de consultas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59300" cy="342900"/>
            <a:chOff x="0" y="0"/>
            <a:chExt cx="230124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30124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PROBLEMAS QUE RESUELVE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1028700"/>
            <a:ext cx="17402175" cy="571500"/>
            <a:chOff x="0" y="0"/>
            <a:chExt cx="232029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32029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Tres Tipos de Anomalías de Datos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1500" y="1828800"/>
            <a:ext cx="1371600" cy="57150"/>
            <a:chOff x="0" y="0"/>
            <a:chExt cx="18288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69595" y="2169795"/>
            <a:ext cx="5527357" cy="6484620"/>
          </a:xfrm>
          <a:custGeom>
            <a:avLst/>
            <a:gdLst/>
            <a:ahLst/>
            <a:cxnLst/>
            <a:rect r="r" b="b" t="t" l="l"/>
            <a:pathLst>
              <a:path h="6484620" w="5527357">
                <a:moveTo>
                  <a:pt x="0" y="0"/>
                </a:moveTo>
                <a:lnTo>
                  <a:pt x="5527357" y="0"/>
                </a:lnTo>
                <a:lnTo>
                  <a:pt x="5527357" y="6484620"/>
                </a:lnTo>
                <a:lnTo>
                  <a:pt x="0" y="6484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68680" y="2468880"/>
            <a:ext cx="685800" cy="685800"/>
            <a:chOff x="0" y="0"/>
            <a:chExt cx="9144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68705" y="266890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25930" y="2611755"/>
            <a:ext cx="2786062" cy="400050"/>
            <a:chOff x="0" y="0"/>
            <a:chExt cx="3714750" cy="533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14750" cy="533400"/>
            </a:xfrm>
            <a:custGeom>
              <a:avLst/>
              <a:gdLst/>
              <a:ahLst/>
              <a:cxnLst/>
              <a:rect r="r" b="b" t="t" l="l"/>
              <a:pathLst>
                <a:path h="533400" w="3714750">
                  <a:moveTo>
                    <a:pt x="0" y="0"/>
                  </a:moveTo>
                  <a:lnTo>
                    <a:pt x="3714750" y="0"/>
                  </a:lnTo>
                  <a:lnTo>
                    <a:pt x="3714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5699" r="0" b="-8569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714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Anomalías de Inserción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68680" y="3383280"/>
            <a:ext cx="5043488" cy="1114425"/>
            <a:chOff x="0" y="0"/>
            <a:chExt cx="6724650" cy="1485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24650" cy="1485900"/>
            </a:xfrm>
            <a:custGeom>
              <a:avLst/>
              <a:gdLst/>
              <a:ahLst/>
              <a:cxnLst/>
              <a:rect r="r" b="b" t="t" l="l"/>
              <a:pathLst>
                <a:path h="148590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182" r="0" b="-381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672465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 producen cuando un registro de datos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no se puede insertar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en una tabla porque tiene valores faltantes requeridos por una o más columnas.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68680" y="4726305"/>
            <a:ext cx="4929188" cy="1571625"/>
            <a:chOff x="0" y="0"/>
            <a:chExt cx="6572250" cy="2095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72250" cy="2095500"/>
            </a:xfrm>
            <a:custGeom>
              <a:avLst/>
              <a:gdLst/>
              <a:ahLst/>
              <a:cxnLst/>
              <a:rect r="r" b="b" t="t" l="l"/>
              <a:pathLst>
                <a:path h="2095500" w="6572250">
                  <a:moveTo>
                    <a:pt x="152400" y="0"/>
                  </a:moveTo>
                  <a:lnTo>
                    <a:pt x="6419850" y="0"/>
                  </a:lnTo>
                  <a:cubicBezTo>
                    <a:pt x="6503924" y="0"/>
                    <a:pt x="6572250" y="68326"/>
                    <a:pt x="6572250" y="152400"/>
                  </a:cubicBezTo>
                  <a:lnTo>
                    <a:pt x="6572250" y="1943100"/>
                  </a:lnTo>
                  <a:cubicBezTo>
                    <a:pt x="6572250" y="2027174"/>
                    <a:pt x="6503924" y="2095500"/>
                    <a:pt x="6419850" y="2095500"/>
                  </a:cubicBezTo>
                  <a:lnTo>
                    <a:pt x="152400" y="2095500"/>
                  </a:lnTo>
                  <a:cubicBezTo>
                    <a:pt x="68326" y="2095500"/>
                    <a:pt x="0" y="2027174"/>
                    <a:pt x="0" y="19431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97280" y="4954905"/>
            <a:ext cx="4586288" cy="1114425"/>
            <a:chOff x="0" y="0"/>
            <a:chExt cx="6115050" cy="14859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15050" cy="1485900"/>
            </a:xfrm>
            <a:custGeom>
              <a:avLst/>
              <a:gdLst/>
              <a:ahLst/>
              <a:cxnLst/>
              <a:rect r="r" b="b" t="t" l="l"/>
              <a:pathLst>
                <a:path h="1485900" w="6115050">
                  <a:moveTo>
                    <a:pt x="0" y="0"/>
                  </a:moveTo>
                  <a:lnTo>
                    <a:pt x="6115050" y="0"/>
                  </a:lnTo>
                  <a:lnTo>
                    <a:pt x="611505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188" r="0" b="-3018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611505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Ejemplo: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No poder agregar un estudiante porque falta información de departamento que no debería ser obligatoria.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68680" y="7675245"/>
            <a:ext cx="4929188" cy="685800"/>
            <a:chOff x="0" y="0"/>
            <a:chExt cx="657225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72250" cy="914400"/>
            </a:xfrm>
            <a:custGeom>
              <a:avLst/>
              <a:gdLst/>
              <a:ahLst/>
              <a:cxnLst/>
              <a:rect r="r" b="b" t="t" l="l"/>
              <a:pathLst>
                <a:path h="914400" w="6572250">
                  <a:moveTo>
                    <a:pt x="152400" y="0"/>
                  </a:moveTo>
                  <a:lnTo>
                    <a:pt x="6419850" y="0"/>
                  </a:lnTo>
                  <a:cubicBezTo>
                    <a:pt x="6504051" y="0"/>
                    <a:pt x="6572250" y="68199"/>
                    <a:pt x="6572250" y="152400"/>
                  </a:cubicBezTo>
                  <a:lnTo>
                    <a:pt x="6572250" y="762000"/>
                  </a:lnTo>
                  <a:cubicBezTo>
                    <a:pt x="6572250" y="846201"/>
                    <a:pt x="6504051" y="914400"/>
                    <a:pt x="641985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82980" y="7846695"/>
            <a:ext cx="4700588" cy="342900"/>
            <a:chOff x="0" y="0"/>
            <a:chExt cx="6267450" cy="457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67450" cy="457200"/>
            </a:xfrm>
            <a:custGeom>
              <a:avLst/>
              <a:gdLst/>
              <a:ahLst/>
              <a:cxnLst/>
              <a:rect r="r" b="b" t="t" l="l"/>
              <a:pathLst>
                <a:path h="457200" w="6267450">
                  <a:moveTo>
                    <a:pt x="0" y="0"/>
                  </a:moveTo>
                  <a:lnTo>
                    <a:pt x="6267450" y="0"/>
                  </a:lnTo>
                  <a:lnTo>
                    <a:pt x="62674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107" r="0" b="-21710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62674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Restricción de integridad violada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6379788" y="2169795"/>
            <a:ext cx="5527358" cy="6484620"/>
          </a:xfrm>
          <a:custGeom>
            <a:avLst/>
            <a:gdLst/>
            <a:ahLst/>
            <a:cxnLst/>
            <a:rect r="r" b="b" t="t" l="l"/>
            <a:pathLst>
              <a:path h="6484620" w="5527358">
                <a:moveTo>
                  <a:pt x="0" y="0"/>
                </a:moveTo>
                <a:lnTo>
                  <a:pt x="5527357" y="0"/>
                </a:lnTo>
                <a:lnTo>
                  <a:pt x="5527357" y="6484620"/>
                </a:lnTo>
                <a:lnTo>
                  <a:pt x="0" y="6484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6678873" y="2468880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6896757" y="2668905"/>
            <a:ext cx="250031" cy="285750"/>
          </a:xfrm>
          <a:custGeom>
            <a:avLst/>
            <a:gdLst/>
            <a:ahLst/>
            <a:cxnLst/>
            <a:rect r="r" b="b" t="t" l="l"/>
            <a:pathLst>
              <a:path h="285750" w="250031">
                <a:moveTo>
                  <a:pt x="0" y="0"/>
                </a:moveTo>
                <a:lnTo>
                  <a:pt x="250031" y="0"/>
                </a:lnTo>
                <a:lnTo>
                  <a:pt x="250031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7536123" y="2611755"/>
            <a:ext cx="3071812" cy="400050"/>
            <a:chOff x="0" y="0"/>
            <a:chExt cx="4095750" cy="533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95750" cy="533400"/>
            </a:xfrm>
            <a:custGeom>
              <a:avLst/>
              <a:gdLst/>
              <a:ahLst/>
              <a:cxnLst/>
              <a:rect r="r" b="b" t="t" l="l"/>
              <a:pathLst>
                <a:path h="533400" w="4095750">
                  <a:moveTo>
                    <a:pt x="0" y="0"/>
                  </a:moveTo>
                  <a:lnTo>
                    <a:pt x="4095750" y="0"/>
                  </a:lnTo>
                  <a:lnTo>
                    <a:pt x="4095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617" r="0" b="-9961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4095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Anomalías de Eliminación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678873" y="3383280"/>
            <a:ext cx="5043488" cy="1114425"/>
            <a:chOff x="0" y="0"/>
            <a:chExt cx="6724650" cy="14859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724650" cy="1485900"/>
            </a:xfrm>
            <a:custGeom>
              <a:avLst/>
              <a:gdLst/>
              <a:ahLst/>
              <a:cxnLst/>
              <a:rect r="r" b="b" t="t" l="l"/>
              <a:pathLst>
                <a:path h="148590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182" r="0" b="-3818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0"/>
              <a:ext cx="672465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 producen cuando la eliminación de un registro resulta en la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eliminación involuntaria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de datos importantes incluidos en dicho registro.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678873" y="4726305"/>
            <a:ext cx="4929188" cy="1571625"/>
            <a:chOff x="0" y="0"/>
            <a:chExt cx="6572250" cy="2095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72250" cy="2095500"/>
            </a:xfrm>
            <a:custGeom>
              <a:avLst/>
              <a:gdLst/>
              <a:ahLst/>
              <a:cxnLst/>
              <a:rect r="r" b="b" t="t" l="l"/>
              <a:pathLst>
                <a:path h="2095500" w="6572250">
                  <a:moveTo>
                    <a:pt x="152400" y="0"/>
                  </a:moveTo>
                  <a:lnTo>
                    <a:pt x="6419850" y="0"/>
                  </a:lnTo>
                  <a:cubicBezTo>
                    <a:pt x="6503924" y="0"/>
                    <a:pt x="6572250" y="68326"/>
                    <a:pt x="6572250" y="152400"/>
                  </a:cubicBezTo>
                  <a:lnTo>
                    <a:pt x="6572250" y="1943100"/>
                  </a:lnTo>
                  <a:cubicBezTo>
                    <a:pt x="6572250" y="2027174"/>
                    <a:pt x="6503924" y="2095500"/>
                    <a:pt x="6419850" y="2095500"/>
                  </a:cubicBezTo>
                  <a:lnTo>
                    <a:pt x="152400" y="2095500"/>
                  </a:lnTo>
                  <a:cubicBezTo>
                    <a:pt x="68326" y="2095500"/>
                    <a:pt x="0" y="2027174"/>
                    <a:pt x="0" y="19431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907473" y="4954905"/>
            <a:ext cx="4586288" cy="1114425"/>
            <a:chOff x="0" y="0"/>
            <a:chExt cx="6115050" cy="14859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115050" cy="1485900"/>
            </a:xfrm>
            <a:custGeom>
              <a:avLst/>
              <a:gdLst/>
              <a:ahLst/>
              <a:cxnLst/>
              <a:rect r="r" b="b" t="t" l="l"/>
              <a:pathLst>
                <a:path h="1485900" w="6115050">
                  <a:moveTo>
                    <a:pt x="0" y="0"/>
                  </a:moveTo>
                  <a:lnTo>
                    <a:pt x="6115050" y="0"/>
                  </a:lnTo>
                  <a:lnTo>
                    <a:pt x="611505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188" r="0" b="-3018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0"/>
              <a:ext cx="611505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Ejemplo: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Borrar el último empleado de un departamento y perder toda la información del departamento.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678873" y="7675245"/>
            <a:ext cx="4929188" cy="685800"/>
            <a:chOff x="0" y="0"/>
            <a:chExt cx="657225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72250" cy="914400"/>
            </a:xfrm>
            <a:custGeom>
              <a:avLst/>
              <a:gdLst/>
              <a:ahLst/>
              <a:cxnLst/>
              <a:rect r="r" b="b" t="t" l="l"/>
              <a:pathLst>
                <a:path h="914400" w="6572250">
                  <a:moveTo>
                    <a:pt x="152400" y="0"/>
                  </a:moveTo>
                  <a:lnTo>
                    <a:pt x="6419850" y="0"/>
                  </a:lnTo>
                  <a:cubicBezTo>
                    <a:pt x="6504051" y="0"/>
                    <a:pt x="6572250" y="68199"/>
                    <a:pt x="6572250" y="152400"/>
                  </a:cubicBezTo>
                  <a:lnTo>
                    <a:pt x="6572250" y="762000"/>
                  </a:lnTo>
                  <a:cubicBezTo>
                    <a:pt x="6572250" y="846201"/>
                    <a:pt x="6504051" y="914400"/>
                    <a:pt x="641985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793173" y="7846695"/>
            <a:ext cx="4700588" cy="342900"/>
            <a:chOff x="0" y="0"/>
            <a:chExt cx="6267450" cy="457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267450" cy="457200"/>
            </a:xfrm>
            <a:custGeom>
              <a:avLst/>
              <a:gdLst/>
              <a:ahLst/>
              <a:cxnLst/>
              <a:rect r="r" b="b" t="t" l="l"/>
              <a:pathLst>
                <a:path h="457200" w="6267450">
                  <a:moveTo>
                    <a:pt x="0" y="0"/>
                  </a:moveTo>
                  <a:lnTo>
                    <a:pt x="6267450" y="0"/>
                  </a:lnTo>
                  <a:lnTo>
                    <a:pt x="62674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107" r="0" b="-21710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62674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Pérdida de datos críticos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12189981" y="2169795"/>
            <a:ext cx="5527358" cy="6484620"/>
          </a:xfrm>
          <a:custGeom>
            <a:avLst/>
            <a:gdLst/>
            <a:ahLst/>
            <a:cxnLst/>
            <a:rect r="r" b="b" t="t" l="l"/>
            <a:pathLst>
              <a:path h="6484620" w="5527358">
                <a:moveTo>
                  <a:pt x="0" y="0"/>
                </a:moveTo>
                <a:lnTo>
                  <a:pt x="5527357" y="0"/>
                </a:lnTo>
                <a:lnTo>
                  <a:pt x="5527357" y="6484620"/>
                </a:lnTo>
                <a:lnTo>
                  <a:pt x="0" y="6484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2489066" y="2468880"/>
            <a:ext cx="685800" cy="685800"/>
            <a:chOff x="0" y="0"/>
            <a:chExt cx="914400" cy="914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sp>
        <p:nvSpPr>
          <p:cNvPr name="Freeform 53" id="53"/>
          <p:cNvSpPr/>
          <p:nvPr/>
        </p:nvSpPr>
        <p:spPr>
          <a:xfrm flipH="false" flipV="false" rot="0">
            <a:off x="12689091" y="266890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3346316" y="2611755"/>
            <a:ext cx="3257550" cy="400050"/>
            <a:chOff x="0" y="0"/>
            <a:chExt cx="4343400" cy="533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34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4343400">
                  <a:moveTo>
                    <a:pt x="0" y="0"/>
                  </a:moveTo>
                  <a:lnTo>
                    <a:pt x="4343400" y="0"/>
                  </a:lnTo>
                  <a:lnTo>
                    <a:pt x="43434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43434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Anomalías de Actualización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489066" y="3383280"/>
            <a:ext cx="5043488" cy="1114425"/>
            <a:chOff x="0" y="0"/>
            <a:chExt cx="6724650" cy="14859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724650" cy="1485900"/>
            </a:xfrm>
            <a:custGeom>
              <a:avLst/>
              <a:gdLst/>
              <a:ahLst/>
              <a:cxnLst/>
              <a:rect r="r" b="b" t="t" l="l"/>
              <a:pathLst>
                <a:path h="148590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182" r="0" b="-3818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0"/>
              <a:ext cx="672465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 producen cuando una instancia de datos se actualiza en una ubicación pero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no en otras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, provocando falta de coherencia.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489066" y="4726305"/>
            <a:ext cx="4929188" cy="1571625"/>
            <a:chOff x="0" y="0"/>
            <a:chExt cx="6572250" cy="20955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572250" cy="2095500"/>
            </a:xfrm>
            <a:custGeom>
              <a:avLst/>
              <a:gdLst/>
              <a:ahLst/>
              <a:cxnLst/>
              <a:rect r="r" b="b" t="t" l="l"/>
              <a:pathLst>
                <a:path h="2095500" w="6572250">
                  <a:moveTo>
                    <a:pt x="152400" y="0"/>
                  </a:moveTo>
                  <a:lnTo>
                    <a:pt x="6419850" y="0"/>
                  </a:lnTo>
                  <a:cubicBezTo>
                    <a:pt x="6503924" y="0"/>
                    <a:pt x="6572250" y="68326"/>
                    <a:pt x="6572250" y="152400"/>
                  </a:cubicBezTo>
                  <a:lnTo>
                    <a:pt x="6572250" y="1943100"/>
                  </a:lnTo>
                  <a:cubicBezTo>
                    <a:pt x="6572250" y="2027174"/>
                    <a:pt x="6503924" y="2095500"/>
                    <a:pt x="6419850" y="2095500"/>
                  </a:cubicBezTo>
                  <a:lnTo>
                    <a:pt x="152400" y="2095500"/>
                  </a:lnTo>
                  <a:cubicBezTo>
                    <a:pt x="68326" y="2095500"/>
                    <a:pt x="0" y="2027174"/>
                    <a:pt x="0" y="19431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717666" y="4954905"/>
            <a:ext cx="4586288" cy="1114425"/>
            <a:chOff x="0" y="0"/>
            <a:chExt cx="6115050" cy="14859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115050" cy="1485900"/>
            </a:xfrm>
            <a:custGeom>
              <a:avLst/>
              <a:gdLst/>
              <a:ahLst/>
              <a:cxnLst/>
              <a:rect r="r" b="b" t="t" l="l"/>
              <a:pathLst>
                <a:path h="1485900" w="6115050">
                  <a:moveTo>
                    <a:pt x="0" y="0"/>
                  </a:moveTo>
                  <a:lnTo>
                    <a:pt x="6115050" y="0"/>
                  </a:lnTo>
                  <a:lnTo>
                    <a:pt x="611505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188" r="0" b="-3018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0"/>
              <a:ext cx="611505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Ejemplo: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Cambiar la dirección de un almacén en un registro pero no en todos los registros de piezas de ese almacén.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489066" y="7675245"/>
            <a:ext cx="4929188" cy="685800"/>
            <a:chOff x="0" y="0"/>
            <a:chExt cx="657225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72250" cy="914400"/>
            </a:xfrm>
            <a:custGeom>
              <a:avLst/>
              <a:gdLst/>
              <a:ahLst/>
              <a:cxnLst/>
              <a:rect r="r" b="b" t="t" l="l"/>
              <a:pathLst>
                <a:path h="914400" w="6572250">
                  <a:moveTo>
                    <a:pt x="152400" y="0"/>
                  </a:moveTo>
                  <a:lnTo>
                    <a:pt x="6419850" y="0"/>
                  </a:lnTo>
                  <a:cubicBezTo>
                    <a:pt x="6504051" y="0"/>
                    <a:pt x="6572250" y="68199"/>
                    <a:pt x="6572250" y="152400"/>
                  </a:cubicBezTo>
                  <a:lnTo>
                    <a:pt x="6572250" y="762000"/>
                  </a:lnTo>
                  <a:cubicBezTo>
                    <a:pt x="6572250" y="846201"/>
                    <a:pt x="6504051" y="914400"/>
                    <a:pt x="6419850" y="914400"/>
                  </a:cubicBezTo>
                  <a:lnTo>
                    <a:pt x="152400" y="914400"/>
                  </a:lnTo>
                  <a:cubicBezTo>
                    <a:pt x="68326" y="914400"/>
                    <a:pt x="0" y="846074"/>
                    <a:pt x="0" y="7620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603366" y="7846695"/>
            <a:ext cx="4700588" cy="342900"/>
            <a:chOff x="0" y="0"/>
            <a:chExt cx="6267450" cy="457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267450" cy="457200"/>
            </a:xfrm>
            <a:custGeom>
              <a:avLst/>
              <a:gdLst/>
              <a:ahLst/>
              <a:cxnLst/>
              <a:rect r="r" b="b" t="t" l="l"/>
              <a:pathLst>
                <a:path h="457200" w="6267450">
                  <a:moveTo>
                    <a:pt x="0" y="0"/>
                  </a:moveTo>
                  <a:lnTo>
                    <a:pt x="6267450" y="0"/>
                  </a:lnTo>
                  <a:lnTo>
                    <a:pt x="62674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107" r="0" b="-21710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76200"/>
              <a:ext cx="62674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Inconsistencia de datos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00075" y="8886825"/>
            <a:ext cx="17116425" cy="828675"/>
            <a:chOff x="0" y="0"/>
            <a:chExt cx="22821900" cy="11049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28219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821900">
                  <a:moveTo>
                    <a:pt x="76200" y="0"/>
                  </a:moveTo>
                  <a:lnTo>
                    <a:pt x="22669500" y="0"/>
                  </a:lnTo>
                  <a:cubicBezTo>
                    <a:pt x="22753701" y="0"/>
                    <a:pt x="22821900" y="68199"/>
                    <a:pt x="22821900" y="152400"/>
                  </a:cubicBezTo>
                  <a:lnTo>
                    <a:pt x="22821900" y="952500"/>
                  </a:lnTo>
                  <a:cubicBezTo>
                    <a:pt x="22821900" y="1036701"/>
                    <a:pt x="22753701" y="1104900"/>
                    <a:pt x="22669500" y="1104900"/>
                  </a:cubicBezTo>
                  <a:lnTo>
                    <a:pt x="76200" y="1104900"/>
                  </a:lnTo>
                  <a:cubicBezTo>
                    <a:pt x="34163" y="1104900"/>
                    <a:pt x="0" y="1070737"/>
                    <a:pt x="0" y="1028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00075" y="8886825"/>
            <a:ext cx="57150" cy="828675"/>
            <a:chOff x="0" y="0"/>
            <a:chExt cx="76200" cy="11049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62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6200">
                  <a:moveTo>
                    <a:pt x="76200" y="0"/>
                  </a:moveTo>
                  <a:lnTo>
                    <a:pt x="76200" y="1104900"/>
                  </a:lnTo>
                  <a:cubicBezTo>
                    <a:pt x="34163" y="1104900"/>
                    <a:pt x="0" y="1070737"/>
                    <a:pt x="0" y="1028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sp>
        <p:nvSpPr>
          <p:cNvPr name="Freeform 74" id="74"/>
          <p:cNvSpPr/>
          <p:nvPr/>
        </p:nvSpPr>
        <p:spPr>
          <a:xfrm flipH="false" flipV="false" rot="0">
            <a:off x="914400" y="9172575"/>
            <a:ext cx="171450" cy="228600"/>
          </a:xfrm>
          <a:custGeom>
            <a:avLst/>
            <a:gdLst/>
            <a:ahLst/>
            <a:cxnLst/>
            <a:rect r="r" b="b" t="t" l="l"/>
            <a:pathLst>
              <a:path h="228600" w="171450">
                <a:moveTo>
                  <a:pt x="0" y="0"/>
                </a:moveTo>
                <a:lnTo>
                  <a:pt x="171450" y="0"/>
                </a:lnTo>
                <a:lnTo>
                  <a:pt x="17145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1228725" y="9115425"/>
            <a:ext cx="16373475" cy="371475"/>
            <a:chOff x="0" y="0"/>
            <a:chExt cx="21831300" cy="4953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831300" cy="495300"/>
            </a:xfrm>
            <a:custGeom>
              <a:avLst/>
              <a:gdLst/>
              <a:ahLst/>
              <a:cxnLst/>
              <a:rect r="r" b="b" t="t" l="l"/>
              <a:pathLst>
                <a:path h="495300" w="21831300">
                  <a:moveTo>
                    <a:pt x="0" y="0"/>
                  </a:moveTo>
                  <a:lnTo>
                    <a:pt x="21831300" y="0"/>
                  </a:lnTo>
                  <a:lnTo>
                    <a:pt x="218313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08840" r="0" b="-80884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0"/>
              <a:ext cx="218313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La normalización está diseñada para minimizar estos riesgos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mediante la organización adecuada de datos en tablas relacionadas.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media.geeksforgeeks.org/a16b49b6c1f345c131f24b89d694a20ee6c4cb9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250" t="0" r="-6250" b="-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D3436">
                    <a:alpha val="95000"/>
                  </a:srgbClr>
                </a:gs>
                <a:gs pos="50000">
                  <a:srgbClr val="2D3436">
                    <a:alpha val="85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69595" y="2672715"/>
            <a:ext cx="1969770" cy="598170"/>
          </a:xfrm>
          <a:custGeom>
            <a:avLst/>
            <a:gdLst/>
            <a:ahLst/>
            <a:cxnLst/>
            <a:rect r="r" b="b" t="t" l="l"/>
            <a:pathLst>
              <a:path h="598170" w="1969770">
                <a:moveTo>
                  <a:pt x="0" y="0"/>
                </a:moveTo>
                <a:lnTo>
                  <a:pt x="1969770" y="0"/>
                </a:lnTo>
                <a:lnTo>
                  <a:pt x="1969770" y="598170"/>
                </a:lnTo>
                <a:lnTo>
                  <a:pt x="0" y="598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11530" y="2800350"/>
            <a:ext cx="1600200" cy="342900"/>
            <a:chOff x="0" y="0"/>
            <a:chExt cx="2133600" cy="457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3600" cy="457200"/>
            </a:xfrm>
            <a:custGeom>
              <a:avLst/>
              <a:gdLst/>
              <a:ahLst/>
              <a:cxnLst/>
              <a:rect r="r" b="b" t="t" l="l"/>
              <a:pathLst>
                <a:path h="4572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1336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CAPÍTULO 03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500" y="3611880"/>
            <a:ext cx="17573625" cy="2143125"/>
            <a:chOff x="0" y="0"/>
            <a:chExt cx="23431500" cy="285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431500" cy="2857500"/>
            </a:xfrm>
            <a:custGeom>
              <a:avLst/>
              <a:gdLst/>
              <a:ahLst/>
              <a:cxnLst/>
              <a:rect r="r" b="b" t="t" l="l"/>
              <a:pathLst>
                <a:path h="2857500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2857500"/>
                  </a:lnTo>
                  <a:lnTo>
                    <a:pt x="0" y="285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3431500" cy="2867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6750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Claves y</a:t>
              </a:r>
            </a:p>
            <a:p>
              <a:pPr algn="l">
                <a:lnSpc>
                  <a:spcPts val="8100"/>
                </a:lnSpc>
              </a:pPr>
              <a:r>
                <a:rPr lang="en-US" sz="6750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Dependencias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1500" y="6097905"/>
            <a:ext cx="1828800" cy="57150"/>
            <a:chOff x="0" y="0"/>
            <a:chExt cx="2438400" cy="76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71500" y="6497955"/>
            <a:ext cx="8401050" cy="1114425"/>
            <a:chOff x="0" y="0"/>
            <a:chExt cx="11201400" cy="1485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014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11201400">
                  <a:moveTo>
                    <a:pt x="0" y="0"/>
                  </a:moveTo>
                  <a:lnTo>
                    <a:pt x="11201400" y="0"/>
                  </a:lnTo>
                  <a:lnTo>
                    <a:pt x="1120140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887" r="0" b="-968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33350"/>
              <a:ext cx="11201400" cy="1619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27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Conceptos fundamentales para comprender y aplicar la normalización efectivamente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6979" y="516979"/>
            <a:ext cx="17357446" cy="310182"/>
            <a:chOff x="0" y="0"/>
            <a:chExt cx="23143261" cy="413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43260" cy="413580"/>
            </a:xfrm>
            <a:custGeom>
              <a:avLst/>
              <a:gdLst/>
              <a:ahLst/>
              <a:cxnLst/>
              <a:rect r="r" b="b" t="t" l="l"/>
              <a:pathLst>
                <a:path h="413580" w="23143260">
                  <a:moveTo>
                    <a:pt x="0" y="0"/>
                  </a:moveTo>
                  <a:lnTo>
                    <a:pt x="23143260" y="0"/>
                  </a:lnTo>
                  <a:lnTo>
                    <a:pt x="23143260" y="413580"/>
                  </a:lnTo>
                  <a:lnTo>
                    <a:pt x="0" y="413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0351" r="0" b="-10403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143261" cy="461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5"/>
                </a:lnSpc>
              </a:pPr>
              <a:r>
                <a:rPr lang="en-US" b="true" sz="1629" spc="81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CONCEPTOS CLAVE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6979" y="930554"/>
            <a:ext cx="17486690" cy="516979"/>
            <a:chOff x="0" y="0"/>
            <a:chExt cx="23315587" cy="6893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15585" cy="689300"/>
            </a:xfrm>
            <a:custGeom>
              <a:avLst/>
              <a:gdLst/>
              <a:ahLst/>
              <a:cxnLst/>
              <a:rect r="r" b="b" t="t" l="l"/>
              <a:pathLst>
                <a:path h="689300" w="23315585">
                  <a:moveTo>
                    <a:pt x="0" y="0"/>
                  </a:moveTo>
                  <a:lnTo>
                    <a:pt x="23315585" y="0"/>
                  </a:lnTo>
                  <a:lnTo>
                    <a:pt x="23315585" y="689300"/>
                  </a:lnTo>
                  <a:lnTo>
                    <a:pt x="0" y="689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9081" r="0" b="-60908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3315587" cy="66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6"/>
                </a:lnSpc>
              </a:pPr>
              <a:r>
                <a:rPr lang="en-US" sz="3663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El Significado de las Claves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6979" y="1654321"/>
            <a:ext cx="1240736" cy="51702"/>
            <a:chOff x="0" y="0"/>
            <a:chExt cx="1654315" cy="689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54302" cy="68961"/>
            </a:xfrm>
            <a:custGeom>
              <a:avLst/>
              <a:gdLst/>
              <a:ahLst/>
              <a:cxnLst/>
              <a:rect r="r" b="b" t="t" l="l"/>
              <a:pathLst>
                <a:path h="68961" w="1654302">
                  <a:moveTo>
                    <a:pt x="0" y="0"/>
                  </a:moveTo>
                  <a:lnTo>
                    <a:pt x="1654302" y="0"/>
                  </a:lnTo>
                  <a:lnTo>
                    <a:pt x="1654302" y="68961"/>
                  </a:lnTo>
                  <a:lnTo>
                    <a:pt x="0" y="689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14521" y="1962055"/>
            <a:ext cx="10171224" cy="1679905"/>
          </a:xfrm>
          <a:custGeom>
            <a:avLst/>
            <a:gdLst/>
            <a:ahLst/>
            <a:cxnLst/>
            <a:rect r="r" b="b" t="t" l="l"/>
            <a:pathLst>
              <a:path h="1679905" w="10171224">
                <a:moveTo>
                  <a:pt x="0" y="0"/>
                </a:moveTo>
                <a:lnTo>
                  <a:pt x="10171224" y="0"/>
                </a:lnTo>
                <a:lnTo>
                  <a:pt x="10171224" y="1679905"/>
                </a:lnTo>
                <a:lnTo>
                  <a:pt x="0" y="16799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85803" y="2233336"/>
            <a:ext cx="620373" cy="620373"/>
            <a:chOff x="0" y="0"/>
            <a:chExt cx="827164" cy="8271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7278" cy="827278"/>
            </a:xfrm>
            <a:custGeom>
              <a:avLst/>
              <a:gdLst/>
              <a:ahLst/>
              <a:cxnLst/>
              <a:rect r="r" b="b" t="t" l="l"/>
              <a:pathLst>
                <a:path h="827278" w="827278">
                  <a:moveTo>
                    <a:pt x="137922" y="0"/>
                  </a:moveTo>
                  <a:lnTo>
                    <a:pt x="689356" y="0"/>
                  </a:lnTo>
                  <a:cubicBezTo>
                    <a:pt x="765556" y="0"/>
                    <a:pt x="827278" y="61722"/>
                    <a:pt x="827278" y="137922"/>
                  </a:cubicBezTo>
                  <a:lnTo>
                    <a:pt x="827278" y="689356"/>
                  </a:lnTo>
                  <a:cubicBezTo>
                    <a:pt x="827278" y="765556"/>
                    <a:pt x="765556" y="827278"/>
                    <a:pt x="689356" y="827278"/>
                  </a:cubicBezTo>
                  <a:lnTo>
                    <a:pt x="137922" y="827278"/>
                  </a:lnTo>
                  <a:cubicBezTo>
                    <a:pt x="61722" y="827151"/>
                    <a:pt x="0" y="765429"/>
                    <a:pt x="0" y="689356"/>
                  </a:cubicBezTo>
                  <a:lnTo>
                    <a:pt x="0" y="137922"/>
                  </a:lnTo>
                  <a:cubicBezTo>
                    <a:pt x="0" y="61722"/>
                    <a:pt x="61722" y="0"/>
                    <a:pt x="137922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6740" y="2414283"/>
            <a:ext cx="258489" cy="258489"/>
          </a:xfrm>
          <a:custGeom>
            <a:avLst/>
            <a:gdLst/>
            <a:ahLst/>
            <a:cxnLst/>
            <a:rect r="r" b="b" t="t" l="l"/>
            <a:pathLst>
              <a:path h="258489" w="258489">
                <a:moveTo>
                  <a:pt x="0" y="0"/>
                </a:moveTo>
                <a:lnTo>
                  <a:pt x="258489" y="0"/>
                </a:lnTo>
                <a:lnTo>
                  <a:pt x="258489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612964" y="2233336"/>
            <a:ext cx="8917819" cy="361883"/>
            <a:chOff x="0" y="0"/>
            <a:chExt cx="11890426" cy="4825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890432" cy="482510"/>
            </a:xfrm>
            <a:custGeom>
              <a:avLst/>
              <a:gdLst/>
              <a:ahLst/>
              <a:cxnLst/>
              <a:rect r="r" b="b" t="t" l="l"/>
              <a:pathLst>
                <a:path h="482510" w="11890432">
                  <a:moveTo>
                    <a:pt x="0" y="0"/>
                  </a:moveTo>
                  <a:lnTo>
                    <a:pt x="11890432" y="0"/>
                  </a:lnTo>
                  <a:lnTo>
                    <a:pt x="11890432" y="482510"/>
                  </a:lnTo>
                  <a:lnTo>
                    <a:pt x="0" y="482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0166" r="0" b="-43016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1890426" cy="558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7"/>
                </a:lnSpc>
              </a:pPr>
              <a:r>
                <a:rPr lang="en-US" sz="1831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Claves Principales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12964" y="2698613"/>
            <a:ext cx="8904894" cy="672065"/>
            <a:chOff x="0" y="0"/>
            <a:chExt cx="11873192" cy="8960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873198" cy="896090"/>
            </a:xfrm>
            <a:custGeom>
              <a:avLst/>
              <a:gdLst/>
              <a:ahLst/>
              <a:cxnLst/>
              <a:rect r="r" b="b" t="t" l="l"/>
              <a:pathLst>
                <a:path h="896090" w="11873198">
                  <a:moveTo>
                    <a:pt x="0" y="0"/>
                  </a:moveTo>
                  <a:lnTo>
                    <a:pt x="11873198" y="0"/>
                  </a:lnTo>
                  <a:lnTo>
                    <a:pt x="11873198" y="896090"/>
                  </a:lnTo>
                  <a:lnTo>
                    <a:pt x="0" y="8960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1873192" cy="981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6"/>
                </a:lnSpc>
              </a:pPr>
              <a:r>
                <a:rPr lang="en-US" sz="162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Columna o columnas cuyos valores sirven como </a:t>
              </a:r>
              <a:r>
                <a:rPr lang="en-US" sz="1629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identificadores únicos</a:t>
              </a:r>
              <a:r>
                <a:rPr lang="en-US" sz="162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para cada fila. Excluyen valores nulos, no tienen duplicados y pueden ser de una sola o varias columnas.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14521" y="3843852"/>
            <a:ext cx="10171224" cy="1679905"/>
          </a:xfrm>
          <a:custGeom>
            <a:avLst/>
            <a:gdLst/>
            <a:ahLst/>
            <a:cxnLst/>
            <a:rect r="r" b="b" t="t" l="l"/>
            <a:pathLst>
              <a:path h="1679905" w="10171224">
                <a:moveTo>
                  <a:pt x="0" y="0"/>
                </a:moveTo>
                <a:lnTo>
                  <a:pt x="10171224" y="0"/>
                </a:lnTo>
                <a:lnTo>
                  <a:pt x="10171224" y="1679905"/>
                </a:lnTo>
                <a:lnTo>
                  <a:pt x="0" y="16799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785803" y="4115124"/>
            <a:ext cx="620373" cy="620373"/>
            <a:chOff x="0" y="0"/>
            <a:chExt cx="827164" cy="8271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7278" cy="827278"/>
            </a:xfrm>
            <a:custGeom>
              <a:avLst/>
              <a:gdLst/>
              <a:ahLst/>
              <a:cxnLst/>
              <a:rect r="r" b="b" t="t" l="l"/>
              <a:pathLst>
                <a:path h="827278" w="827278">
                  <a:moveTo>
                    <a:pt x="137922" y="0"/>
                  </a:moveTo>
                  <a:lnTo>
                    <a:pt x="689356" y="0"/>
                  </a:lnTo>
                  <a:cubicBezTo>
                    <a:pt x="765556" y="0"/>
                    <a:pt x="827278" y="61722"/>
                    <a:pt x="827278" y="137922"/>
                  </a:cubicBezTo>
                  <a:lnTo>
                    <a:pt x="827278" y="689356"/>
                  </a:lnTo>
                  <a:cubicBezTo>
                    <a:pt x="827278" y="765556"/>
                    <a:pt x="765556" y="827278"/>
                    <a:pt x="689356" y="827278"/>
                  </a:cubicBezTo>
                  <a:lnTo>
                    <a:pt x="137922" y="827278"/>
                  </a:lnTo>
                  <a:cubicBezTo>
                    <a:pt x="61722" y="827151"/>
                    <a:pt x="0" y="765429"/>
                    <a:pt x="0" y="689356"/>
                  </a:cubicBezTo>
                  <a:lnTo>
                    <a:pt x="0" y="137922"/>
                  </a:lnTo>
                  <a:cubicBezTo>
                    <a:pt x="0" y="61722"/>
                    <a:pt x="61722" y="0"/>
                    <a:pt x="137922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966740" y="4296061"/>
            <a:ext cx="258489" cy="258489"/>
          </a:xfrm>
          <a:custGeom>
            <a:avLst/>
            <a:gdLst/>
            <a:ahLst/>
            <a:cxnLst/>
            <a:rect r="r" b="b" t="t" l="l"/>
            <a:pathLst>
              <a:path h="258489" w="258489">
                <a:moveTo>
                  <a:pt x="0" y="0"/>
                </a:moveTo>
                <a:lnTo>
                  <a:pt x="258489" y="0"/>
                </a:lnTo>
                <a:lnTo>
                  <a:pt x="258489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612964" y="4115124"/>
            <a:ext cx="8917819" cy="361883"/>
            <a:chOff x="0" y="0"/>
            <a:chExt cx="11890426" cy="4825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890432" cy="482510"/>
            </a:xfrm>
            <a:custGeom>
              <a:avLst/>
              <a:gdLst/>
              <a:ahLst/>
              <a:cxnLst/>
              <a:rect r="r" b="b" t="t" l="l"/>
              <a:pathLst>
                <a:path h="482510" w="11890432">
                  <a:moveTo>
                    <a:pt x="0" y="0"/>
                  </a:moveTo>
                  <a:lnTo>
                    <a:pt x="11890432" y="0"/>
                  </a:lnTo>
                  <a:lnTo>
                    <a:pt x="11890432" y="482510"/>
                  </a:lnTo>
                  <a:lnTo>
                    <a:pt x="0" y="482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0166" r="0" b="-43016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11890426" cy="558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7"/>
                </a:lnSpc>
              </a:pPr>
              <a:r>
                <a:rPr lang="en-US" sz="1831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Claves Compuestas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12964" y="4580401"/>
            <a:ext cx="8904894" cy="672065"/>
            <a:chOff x="0" y="0"/>
            <a:chExt cx="11873192" cy="89608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873198" cy="896090"/>
            </a:xfrm>
            <a:custGeom>
              <a:avLst/>
              <a:gdLst/>
              <a:ahLst/>
              <a:cxnLst/>
              <a:rect r="r" b="b" t="t" l="l"/>
              <a:pathLst>
                <a:path h="896090" w="11873198">
                  <a:moveTo>
                    <a:pt x="0" y="0"/>
                  </a:moveTo>
                  <a:lnTo>
                    <a:pt x="11873198" y="0"/>
                  </a:lnTo>
                  <a:lnTo>
                    <a:pt x="11873198" y="896090"/>
                  </a:lnTo>
                  <a:lnTo>
                    <a:pt x="0" y="8960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11873192" cy="981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6"/>
                </a:lnSpc>
              </a:pPr>
              <a:r>
                <a:rPr lang="en-US" sz="162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Claves que constan de </a:t>
              </a:r>
              <a:r>
                <a:rPr lang="en-US" sz="1629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dos o más columnas</a:t>
              </a:r>
              <a:r>
                <a:rPr lang="en-US" sz="162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. Cuando las claves primarias son compuestas, pueden denominarse claves primarias compuestas.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514521" y="5725639"/>
            <a:ext cx="10171224" cy="1679905"/>
          </a:xfrm>
          <a:custGeom>
            <a:avLst/>
            <a:gdLst/>
            <a:ahLst/>
            <a:cxnLst/>
            <a:rect r="r" b="b" t="t" l="l"/>
            <a:pathLst>
              <a:path h="1679905" w="10171224">
                <a:moveTo>
                  <a:pt x="0" y="0"/>
                </a:moveTo>
                <a:lnTo>
                  <a:pt x="10171224" y="0"/>
                </a:lnTo>
                <a:lnTo>
                  <a:pt x="10171224" y="1679906"/>
                </a:lnTo>
                <a:lnTo>
                  <a:pt x="0" y="16799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785803" y="5996911"/>
            <a:ext cx="620373" cy="620373"/>
            <a:chOff x="0" y="0"/>
            <a:chExt cx="827164" cy="8271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27278" cy="827278"/>
            </a:xfrm>
            <a:custGeom>
              <a:avLst/>
              <a:gdLst/>
              <a:ahLst/>
              <a:cxnLst/>
              <a:rect r="r" b="b" t="t" l="l"/>
              <a:pathLst>
                <a:path h="827278" w="827278">
                  <a:moveTo>
                    <a:pt x="137922" y="0"/>
                  </a:moveTo>
                  <a:lnTo>
                    <a:pt x="689356" y="0"/>
                  </a:lnTo>
                  <a:cubicBezTo>
                    <a:pt x="765556" y="0"/>
                    <a:pt x="827278" y="61722"/>
                    <a:pt x="827278" y="137922"/>
                  </a:cubicBezTo>
                  <a:lnTo>
                    <a:pt x="827278" y="689356"/>
                  </a:lnTo>
                  <a:cubicBezTo>
                    <a:pt x="827278" y="765556"/>
                    <a:pt x="765556" y="827278"/>
                    <a:pt x="689356" y="827278"/>
                  </a:cubicBezTo>
                  <a:lnTo>
                    <a:pt x="137922" y="827278"/>
                  </a:lnTo>
                  <a:cubicBezTo>
                    <a:pt x="61722" y="827151"/>
                    <a:pt x="0" y="765429"/>
                    <a:pt x="0" y="689356"/>
                  </a:cubicBezTo>
                  <a:lnTo>
                    <a:pt x="0" y="137922"/>
                  </a:lnTo>
                  <a:cubicBezTo>
                    <a:pt x="0" y="61722"/>
                    <a:pt x="61722" y="0"/>
                    <a:pt x="137922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934431" y="6177858"/>
            <a:ext cx="323107" cy="258489"/>
          </a:xfrm>
          <a:custGeom>
            <a:avLst/>
            <a:gdLst/>
            <a:ahLst/>
            <a:cxnLst/>
            <a:rect r="r" b="b" t="t" l="l"/>
            <a:pathLst>
              <a:path h="258489" w="323107">
                <a:moveTo>
                  <a:pt x="0" y="0"/>
                </a:moveTo>
                <a:lnTo>
                  <a:pt x="323107" y="0"/>
                </a:lnTo>
                <a:lnTo>
                  <a:pt x="323107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612964" y="5996911"/>
            <a:ext cx="8917819" cy="361883"/>
            <a:chOff x="0" y="0"/>
            <a:chExt cx="11890426" cy="4825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890432" cy="482510"/>
            </a:xfrm>
            <a:custGeom>
              <a:avLst/>
              <a:gdLst/>
              <a:ahLst/>
              <a:cxnLst/>
              <a:rect r="r" b="b" t="t" l="l"/>
              <a:pathLst>
                <a:path h="482510" w="11890432">
                  <a:moveTo>
                    <a:pt x="0" y="0"/>
                  </a:moveTo>
                  <a:lnTo>
                    <a:pt x="11890432" y="0"/>
                  </a:lnTo>
                  <a:lnTo>
                    <a:pt x="11890432" y="482510"/>
                  </a:lnTo>
                  <a:lnTo>
                    <a:pt x="0" y="482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0166" r="0" b="-43016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11890426" cy="558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7"/>
                </a:lnSpc>
              </a:pPr>
              <a:r>
                <a:rPr lang="en-US" sz="1831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Claves Candidatas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12964" y="6462189"/>
            <a:ext cx="8904894" cy="672065"/>
            <a:chOff x="0" y="0"/>
            <a:chExt cx="11873192" cy="89608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873198" cy="896090"/>
            </a:xfrm>
            <a:custGeom>
              <a:avLst/>
              <a:gdLst/>
              <a:ahLst/>
              <a:cxnLst/>
              <a:rect r="r" b="b" t="t" l="l"/>
              <a:pathLst>
                <a:path h="896090" w="11873198">
                  <a:moveTo>
                    <a:pt x="0" y="0"/>
                  </a:moveTo>
                  <a:lnTo>
                    <a:pt x="11873198" y="0"/>
                  </a:lnTo>
                  <a:lnTo>
                    <a:pt x="11873198" y="896090"/>
                  </a:lnTo>
                  <a:lnTo>
                    <a:pt x="0" y="8960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85725"/>
              <a:ext cx="11873192" cy="981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6"/>
                </a:lnSpc>
              </a:pPr>
              <a:r>
                <a:rPr lang="en-US" sz="162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Columna o grupo de columnas que tiene las características de una clave principal pero a la que </a:t>
              </a:r>
              <a:r>
                <a:rPr lang="en-US" sz="1629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no se le asignó ese status</a:t>
              </a:r>
              <a:r>
                <a:rPr lang="en-US" sz="162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.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514521" y="7607427"/>
            <a:ext cx="4988538" cy="2015938"/>
          </a:xfrm>
          <a:custGeom>
            <a:avLst/>
            <a:gdLst/>
            <a:ahLst/>
            <a:cxnLst/>
            <a:rect r="r" b="b" t="t" l="l"/>
            <a:pathLst>
              <a:path h="2015938" w="4988538">
                <a:moveTo>
                  <a:pt x="0" y="0"/>
                </a:moveTo>
                <a:lnTo>
                  <a:pt x="4988538" y="0"/>
                </a:lnTo>
                <a:lnTo>
                  <a:pt x="4988538" y="2015938"/>
                </a:lnTo>
                <a:lnTo>
                  <a:pt x="0" y="20159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785803" y="7878709"/>
            <a:ext cx="620373" cy="620373"/>
            <a:chOff x="0" y="0"/>
            <a:chExt cx="827164" cy="8271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7278" cy="827278"/>
            </a:xfrm>
            <a:custGeom>
              <a:avLst/>
              <a:gdLst/>
              <a:ahLst/>
              <a:cxnLst/>
              <a:rect r="r" b="b" t="t" l="l"/>
              <a:pathLst>
                <a:path h="827278" w="827278">
                  <a:moveTo>
                    <a:pt x="137922" y="0"/>
                  </a:moveTo>
                  <a:lnTo>
                    <a:pt x="689356" y="0"/>
                  </a:lnTo>
                  <a:cubicBezTo>
                    <a:pt x="765556" y="0"/>
                    <a:pt x="827278" y="61722"/>
                    <a:pt x="827278" y="137922"/>
                  </a:cubicBezTo>
                  <a:lnTo>
                    <a:pt x="827278" y="689356"/>
                  </a:lnTo>
                  <a:cubicBezTo>
                    <a:pt x="827278" y="765556"/>
                    <a:pt x="765556" y="827278"/>
                    <a:pt x="689356" y="827278"/>
                  </a:cubicBezTo>
                  <a:lnTo>
                    <a:pt x="137922" y="827278"/>
                  </a:lnTo>
                  <a:cubicBezTo>
                    <a:pt x="61722" y="827151"/>
                    <a:pt x="0" y="765429"/>
                    <a:pt x="0" y="689356"/>
                  </a:cubicBezTo>
                  <a:lnTo>
                    <a:pt x="0" y="137922"/>
                  </a:lnTo>
                  <a:cubicBezTo>
                    <a:pt x="0" y="61722"/>
                    <a:pt x="61722" y="0"/>
                    <a:pt x="137922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950585" y="8059645"/>
            <a:ext cx="290798" cy="258489"/>
          </a:xfrm>
          <a:custGeom>
            <a:avLst/>
            <a:gdLst/>
            <a:ahLst/>
            <a:cxnLst/>
            <a:rect r="r" b="b" t="t" l="l"/>
            <a:pathLst>
              <a:path h="258489" w="290798">
                <a:moveTo>
                  <a:pt x="0" y="0"/>
                </a:moveTo>
                <a:lnTo>
                  <a:pt x="290799" y="0"/>
                </a:lnTo>
                <a:lnTo>
                  <a:pt x="290799" y="258490"/>
                </a:lnTo>
                <a:lnTo>
                  <a:pt x="0" y="2584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612964" y="7878709"/>
            <a:ext cx="3735143" cy="361883"/>
            <a:chOff x="0" y="0"/>
            <a:chExt cx="4980191" cy="4825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80196" cy="482510"/>
            </a:xfrm>
            <a:custGeom>
              <a:avLst/>
              <a:gdLst/>
              <a:ahLst/>
              <a:cxnLst/>
              <a:rect r="r" b="b" t="t" l="l"/>
              <a:pathLst>
                <a:path h="482510" w="4980196">
                  <a:moveTo>
                    <a:pt x="0" y="0"/>
                  </a:moveTo>
                  <a:lnTo>
                    <a:pt x="4980196" y="0"/>
                  </a:lnTo>
                  <a:lnTo>
                    <a:pt x="4980196" y="482510"/>
                  </a:lnTo>
                  <a:lnTo>
                    <a:pt x="0" y="482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113" r="0" b="-15111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4980191" cy="558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7"/>
                </a:lnSpc>
              </a:pPr>
              <a:r>
                <a:rPr lang="en-US" sz="1831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Claves Foráneas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12964" y="8343986"/>
            <a:ext cx="3722218" cy="1008097"/>
            <a:chOff x="0" y="0"/>
            <a:chExt cx="4962957" cy="134413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62962" cy="1344136"/>
            </a:xfrm>
            <a:custGeom>
              <a:avLst/>
              <a:gdLst/>
              <a:ahLst/>
              <a:cxnLst/>
              <a:rect r="r" b="b" t="t" l="l"/>
              <a:pathLst>
                <a:path h="1344136" w="4962962">
                  <a:moveTo>
                    <a:pt x="0" y="0"/>
                  </a:moveTo>
                  <a:lnTo>
                    <a:pt x="4962962" y="0"/>
                  </a:lnTo>
                  <a:lnTo>
                    <a:pt x="4962962" y="1344136"/>
                  </a:lnTo>
                  <a:lnTo>
                    <a:pt x="0" y="13441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44" r="0" b="-2194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85725"/>
              <a:ext cx="4962957" cy="1429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6"/>
                </a:lnSpc>
              </a:pPr>
              <a:r>
                <a:rPr lang="en-US" sz="162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 refieren a una clave principal específica en otra tabla para </a:t>
              </a:r>
              <a:r>
                <a:rPr lang="en-US" sz="1629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definir una relación</a:t>
              </a:r>
              <a:r>
                <a:rPr lang="en-US" sz="162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entre tablas.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5701398" y="7607427"/>
            <a:ext cx="4988538" cy="2015938"/>
          </a:xfrm>
          <a:custGeom>
            <a:avLst/>
            <a:gdLst/>
            <a:ahLst/>
            <a:cxnLst/>
            <a:rect r="r" b="b" t="t" l="l"/>
            <a:pathLst>
              <a:path h="2015938" w="4988538">
                <a:moveTo>
                  <a:pt x="0" y="0"/>
                </a:moveTo>
                <a:lnTo>
                  <a:pt x="4988538" y="0"/>
                </a:lnTo>
                <a:lnTo>
                  <a:pt x="4988538" y="2015938"/>
                </a:lnTo>
                <a:lnTo>
                  <a:pt x="0" y="20159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5972680" y="7878709"/>
            <a:ext cx="620373" cy="620373"/>
            <a:chOff x="0" y="0"/>
            <a:chExt cx="827164" cy="8271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27278" cy="827278"/>
            </a:xfrm>
            <a:custGeom>
              <a:avLst/>
              <a:gdLst/>
              <a:ahLst/>
              <a:cxnLst/>
              <a:rect r="r" b="b" t="t" l="l"/>
              <a:pathLst>
                <a:path h="827278" w="827278">
                  <a:moveTo>
                    <a:pt x="137922" y="0"/>
                  </a:moveTo>
                  <a:lnTo>
                    <a:pt x="689356" y="0"/>
                  </a:lnTo>
                  <a:cubicBezTo>
                    <a:pt x="765556" y="0"/>
                    <a:pt x="827278" y="61722"/>
                    <a:pt x="827278" y="137922"/>
                  </a:cubicBezTo>
                  <a:lnTo>
                    <a:pt x="827278" y="689356"/>
                  </a:lnTo>
                  <a:cubicBezTo>
                    <a:pt x="827278" y="765556"/>
                    <a:pt x="765556" y="827278"/>
                    <a:pt x="689356" y="827278"/>
                  </a:cubicBezTo>
                  <a:lnTo>
                    <a:pt x="137922" y="827278"/>
                  </a:lnTo>
                  <a:cubicBezTo>
                    <a:pt x="61722" y="827151"/>
                    <a:pt x="0" y="765429"/>
                    <a:pt x="0" y="689356"/>
                  </a:cubicBezTo>
                  <a:lnTo>
                    <a:pt x="0" y="137922"/>
                  </a:lnTo>
                  <a:cubicBezTo>
                    <a:pt x="0" y="61722"/>
                    <a:pt x="61722" y="0"/>
                    <a:pt x="137922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sp>
        <p:nvSpPr>
          <p:cNvPr name="Freeform 53" id="53"/>
          <p:cNvSpPr/>
          <p:nvPr/>
        </p:nvSpPr>
        <p:spPr>
          <a:xfrm flipH="false" flipV="false" rot="0">
            <a:off x="6169781" y="8059645"/>
            <a:ext cx="226181" cy="258489"/>
          </a:xfrm>
          <a:custGeom>
            <a:avLst/>
            <a:gdLst/>
            <a:ahLst/>
            <a:cxnLst/>
            <a:rect r="r" b="b" t="t" l="l"/>
            <a:pathLst>
              <a:path h="258489" w="226181">
                <a:moveTo>
                  <a:pt x="0" y="0"/>
                </a:moveTo>
                <a:lnTo>
                  <a:pt x="226180" y="0"/>
                </a:lnTo>
                <a:lnTo>
                  <a:pt x="226180" y="258490"/>
                </a:lnTo>
                <a:lnTo>
                  <a:pt x="0" y="2584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6799840" y="7878709"/>
            <a:ext cx="3735143" cy="361883"/>
            <a:chOff x="0" y="0"/>
            <a:chExt cx="4980191" cy="48251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980196" cy="482510"/>
            </a:xfrm>
            <a:custGeom>
              <a:avLst/>
              <a:gdLst/>
              <a:ahLst/>
              <a:cxnLst/>
              <a:rect r="r" b="b" t="t" l="l"/>
              <a:pathLst>
                <a:path h="482510" w="4980196">
                  <a:moveTo>
                    <a:pt x="0" y="0"/>
                  </a:moveTo>
                  <a:lnTo>
                    <a:pt x="4980196" y="0"/>
                  </a:lnTo>
                  <a:lnTo>
                    <a:pt x="4980196" y="482510"/>
                  </a:lnTo>
                  <a:lnTo>
                    <a:pt x="0" y="482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113" r="0" b="-15111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4980191" cy="558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7"/>
                </a:lnSpc>
              </a:pPr>
              <a:r>
                <a:rPr lang="en-US" sz="1831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Súper Claves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799840" y="8343986"/>
            <a:ext cx="3722218" cy="1008097"/>
            <a:chOff x="0" y="0"/>
            <a:chExt cx="4962957" cy="134413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962962" cy="1344136"/>
            </a:xfrm>
            <a:custGeom>
              <a:avLst/>
              <a:gdLst/>
              <a:ahLst/>
              <a:cxnLst/>
              <a:rect r="r" b="b" t="t" l="l"/>
              <a:pathLst>
                <a:path h="1344136" w="4962962">
                  <a:moveTo>
                    <a:pt x="0" y="0"/>
                  </a:moveTo>
                  <a:lnTo>
                    <a:pt x="4962962" y="0"/>
                  </a:lnTo>
                  <a:lnTo>
                    <a:pt x="4962962" y="1344136"/>
                  </a:lnTo>
                  <a:lnTo>
                    <a:pt x="0" y="13441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44" r="0" b="-2194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85725"/>
              <a:ext cx="4962957" cy="1429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6"/>
                </a:lnSpc>
              </a:pPr>
              <a:r>
                <a:rPr lang="en-US" sz="162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Similares a claves compuestas pero con </a:t>
              </a:r>
              <a:r>
                <a:rPr lang="en-US" sz="1629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más columnas de las necesarias</a:t>
              </a:r>
              <a:r>
                <a:rPr lang="en-US" sz="162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para identificar registros únicos.</a:t>
              </a: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10991840" y="1962055"/>
            <a:ext cx="6785029" cy="3851196"/>
          </a:xfrm>
          <a:custGeom>
            <a:avLst/>
            <a:gdLst/>
            <a:ahLst/>
            <a:cxnLst/>
            <a:rect r="r" b="b" t="t" l="l"/>
            <a:pathLst>
              <a:path h="3851196" w="6785029">
                <a:moveTo>
                  <a:pt x="0" y="0"/>
                </a:moveTo>
                <a:lnTo>
                  <a:pt x="6785029" y="0"/>
                </a:lnTo>
                <a:lnTo>
                  <a:pt x="6785029" y="3851195"/>
                </a:lnTo>
                <a:lnTo>
                  <a:pt x="0" y="385119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11263112" y="2233336"/>
            <a:ext cx="6242475" cy="3329464"/>
            <a:chOff x="0" y="0"/>
            <a:chExt cx="8323301" cy="4439285"/>
          </a:xfrm>
        </p:grpSpPr>
        <p:sp>
          <p:nvSpPr>
            <p:cNvPr name="Freeform 62" id="62" descr="https://kimi-web-img.moonshot.cn/img/www.learncomputerscienceonline.com/683a214cb07c9fc0e59d7ea3611d186340c027d3.jpg"/>
            <p:cNvSpPr/>
            <p:nvPr/>
          </p:nvSpPr>
          <p:spPr>
            <a:xfrm flipH="false" flipV="false" rot="0">
              <a:off x="0" y="0"/>
              <a:ext cx="8323326" cy="4439241"/>
            </a:xfrm>
            <a:custGeom>
              <a:avLst/>
              <a:gdLst/>
              <a:ahLst/>
              <a:cxnLst/>
              <a:rect r="r" b="b" t="t" l="l"/>
              <a:pathLst>
                <a:path h="4439241" w="8323326">
                  <a:moveTo>
                    <a:pt x="0" y="0"/>
                  </a:moveTo>
                  <a:lnTo>
                    <a:pt x="8323326" y="0"/>
                  </a:lnTo>
                  <a:lnTo>
                    <a:pt x="8323326" y="4439241"/>
                  </a:lnTo>
                  <a:lnTo>
                    <a:pt x="0" y="4439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8388" r="0" b="-839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246315" y="6229550"/>
            <a:ext cx="6332944" cy="258489"/>
            <a:chOff x="0" y="0"/>
            <a:chExt cx="8443925" cy="34465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443930" cy="344650"/>
            </a:xfrm>
            <a:custGeom>
              <a:avLst/>
              <a:gdLst/>
              <a:ahLst/>
              <a:cxnLst/>
              <a:rect r="r" b="b" t="t" l="l"/>
              <a:pathLst>
                <a:path h="344650" w="8443930">
                  <a:moveTo>
                    <a:pt x="0" y="0"/>
                  </a:moveTo>
                  <a:lnTo>
                    <a:pt x="8443930" y="0"/>
                  </a:lnTo>
                  <a:lnTo>
                    <a:pt x="8443930" y="344650"/>
                  </a:lnTo>
                  <a:lnTo>
                    <a:pt x="0" y="3446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7383" r="0" b="-42738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8443925" cy="382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52"/>
                </a:lnSpc>
              </a:pPr>
              <a:r>
                <a:rPr lang="en-US" sz="1425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Tipos de claves en bases de datos relacionales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994288" y="6946725"/>
            <a:ext cx="6772380" cy="2818933"/>
            <a:chOff x="0" y="0"/>
            <a:chExt cx="9029840" cy="375857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029953" cy="3758603"/>
            </a:xfrm>
            <a:custGeom>
              <a:avLst/>
              <a:gdLst/>
              <a:ahLst/>
              <a:cxnLst/>
              <a:rect r="r" b="b" t="t" l="l"/>
              <a:pathLst>
                <a:path h="3758603" w="9029953">
                  <a:moveTo>
                    <a:pt x="137922" y="0"/>
                  </a:moveTo>
                  <a:lnTo>
                    <a:pt x="8892032" y="0"/>
                  </a:lnTo>
                  <a:cubicBezTo>
                    <a:pt x="8968232" y="0"/>
                    <a:pt x="9029953" y="46421"/>
                    <a:pt x="9029953" y="103732"/>
                  </a:cubicBezTo>
                  <a:lnTo>
                    <a:pt x="9029953" y="3654865"/>
                  </a:lnTo>
                  <a:cubicBezTo>
                    <a:pt x="9029953" y="3712176"/>
                    <a:pt x="8968232" y="3758603"/>
                    <a:pt x="8892032" y="3758603"/>
                  </a:cubicBezTo>
                  <a:lnTo>
                    <a:pt x="137922" y="3758603"/>
                  </a:lnTo>
                  <a:cubicBezTo>
                    <a:pt x="61722" y="3758603"/>
                    <a:pt x="0" y="3712176"/>
                    <a:pt x="0" y="3654865"/>
                  </a:cubicBezTo>
                  <a:lnTo>
                    <a:pt x="0" y="103732"/>
                  </a:lnTo>
                  <a:cubicBezTo>
                    <a:pt x="0" y="46421"/>
                    <a:pt x="61722" y="0"/>
                    <a:pt x="137922" y="0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11285087" y="7280081"/>
            <a:ext cx="232639" cy="232639"/>
          </a:xfrm>
          <a:custGeom>
            <a:avLst/>
            <a:gdLst/>
            <a:ahLst/>
            <a:cxnLst/>
            <a:rect r="r" b="b" t="t" l="l"/>
            <a:pathLst>
              <a:path h="232639" w="232639">
                <a:moveTo>
                  <a:pt x="0" y="0"/>
                </a:moveTo>
                <a:lnTo>
                  <a:pt x="232638" y="0"/>
                </a:lnTo>
                <a:lnTo>
                  <a:pt x="232638" y="232639"/>
                </a:lnTo>
                <a:lnTo>
                  <a:pt x="0" y="23263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1547443" y="7150837"/>
            <a:ext cx="6074464" cy="361883"/>
            <a:chOff x="0" y="0"/>
            <a:chExt cx="8099285" cy="48251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099280" cy="482510"/>
            </a:xfrm>
            <a:custGeom>
              <a:avLst/>
              <a:gdLst/>
              <a:ahLst/>
              <a:cxnLst/>
              <a:rect r="r" b="b" t="t" l="l"/>
              <a:pathLst>
                <a:path h="482510" w="8099280">
                  <a:moveTo>
                    <a:pt x="0" y="0"/>
                  </a:moveTo>
                  <a:lnTo>
                    <a:pt x="8099280" y="0"/>
                  </a:lnTo>
                  <a:lnTo>
                    <a:pt x="8099280" y="482510"/>
                  </a:lnTo>
                  <a:lnTo>
                    <a:pt x="0" y="482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76200"/>
              <a:ext cx="8099285" cy="558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7"/>
                </a:lnSpc>
              </a:pPr>
              <a:r>
                <a:rPr lang="en-US" sz="1831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Importancia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263112" y="7646070"/>
            <a:ext cx="6358795" cy="672065"/>
            <a:chOff x="0" y="0"/>
            <a:chExt cx="8478393" cy="89608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478394" cy="896090"/>
            </a:xfrm>
            <a:custGeom>
              <a:avLst/>
              <a:gdLst/>
              <a:ahLst/>
              <a:cxnLst/>
              <a:rect r="r" b="b" t="t" l="l"/>
              <a:pathLst>
                <a:path h="896090" w="8478394">
                  <a:moveTo>
                    <a:pt x="0" y="0"/>
                  </a:moveTo>
                  <a:lnTo>
                    <a:pt x="8478394" y="0"/>
                  </a:lnTo>
                  <a:lnTo>
                    <a:pt x="8478394" y="896090"/>
                  </a:lnTo>
                  <a:lnTo>
                    <a:pt x="0" y="8960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4358" r="0" b="-13435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85725"/>
              <a:ext cx="8478393" cy="981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6"/>
                </a:lnSpc>
              </a:pPr>
              <a:r>
                <a:rPr lang="en-US" sz="1629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Las claves establecen asociaciones entre tablas relacionadas y admiten consultas exitosas y eficientes de SQL.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285087" y="8447370"/>
            <a:ext cx="6255401" cy="982256"/>
            <a:chOff x="0" y="0"/>
            <a:chExt cx="8340534" cy="130967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340471" cy="1309624"/>
            </a:xfrm>
            <a:custGeom>
              <a:avLst/>
              <a:gdLst/>
              <a:ahLst/>
              <a:cxnLst/>
              <a:rect r="r" b="b" t="t" l="l"/>
              <a:pathLst>
                <a:path h="1309624" w="8340471">
                  <a:moveTo>
                    <a:pt x="137795" y="0"/>
                  </a:moveTo>
                  <a:lnTo>
                    <a:pt x="8202676" y="0"/>
                  </a:lnTo>
                  <a:cubicBezTo>
                    <a:pt x="8278749" y="0"/>
                    <a:pt x="8340471" y="61722"/>
                    <a:pt x="8340471" y="137795"/>
                  </a:cubicBezTo>
                  <a:lnTo>
                    <a:pt x="8340471" y="1171829"/>
                  </a:lnTo>
                  <a:cubicBezTo>
                    <a:pt x="8340471" y="1247902"/>
                    <a:pt x="8278749" y="1309624"/>
                    <a:pt x="8202676" y="1309624"/>
                  </a:cubicBezTo>
                  <a:lnTo>
                    <a:pt x="137795" y="1309624"/>
                  </a:lnTo>
                  <a:cubicBezTo>
                    <a:pt x="61722" y="1309624"/>
                    <a:pt x="0" y="1247902"/>
                    <a:pt x="0" y="1171829"/>
                  </a:cubicBezTo>
                  <a:lnTo>
                    <a:pt x="0" y="137795"/>
                  </a:lnTo>
                  <a:cubicBezTo>
                    <a:pt x="0" y="61722"/>
                    <a:pt x="61722" y="0"/>
                    <a:pt x="137795" y="0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388481" y="8615396"/>
            <a:ext cx="6048613" cy="672065"/>
            <a:chOff x="0" y="0"/>
            <a:chExt cx="8064818" cy="89608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064814" cy="896090"/>
            </a:xfrm>
            <a:custGeom>
              <a:avLst/>
              <a:gdLst/>
              <a:ahLst/>
              <a:cxnLst/>
              <a:rect r="r" b="b" t="t" l="l"/>
              <a:pathLst>
                <a:path h="896090" w="8064814">
                  <a:moveTo>
                    <a:pt x="0" y="0"/>
                  </a:moveTo>
                  <a:lnTo>
                    <a:pt x="8064814" y="0"/>
                  </a:lnTo>
                  <a:lnTo>
                    <a:pt x="8064814" y="896090"/>
                  </a:lnTo>
                  <a:lnTo>
                    <a:pt x="0" y="8960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85725"/>
              <a:ext cx="8064818" cy="981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6"/>
                </a:lnSpc>
              </a:pPr>
              <a:r>
                <a:rPr lang="en-US" sz="1629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Durante la normalización, claves foráneas y primarias establecen asociaciones entre nuevas tablas.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59300" cy="342900"/>
            <a:chOff x="0" y="0"/>
            <a:chExt cx="230124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30124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RELACIONES ENTRE ATRIBUTOS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1028700"/>
            <a:ext cx="17402175" cy="571500"/>
            <a:chOff x="0" y="0"/>
            <a:chExt cx="232029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32029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Dependencias Funcionales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1500" y="1828800"/>
            <a:ext cx="1371600" cy="57150"/>
            <a:chOff x="0" y="0"/>
            <a:chExt cx="18288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69595" y="2169795"/>
            <a:ext cx="6727507" cy="4627245"/>
          </a:xfrm>
          <a:custGeom>
            <a:avLst/>
            <a:gdLst/>
            <a:ahLst/>
            <a:cxnLst/>
            <a:rect r="r" b="b" t="t" l="l"/>
            <a:pathLst>
              <a:path h="4627245" w="6727507">
                <a:moveTo>
                  <a:pt x="0" y="0"/>
                </a:moveTo>
                <a:lnTo>
                  <a:pt x="6727507" y="0"/>
                </a:lnTo>
                <a:lnTo>
                  <a:pt x="6727507" y="4627245"/>
                </a:lnTo>
                <a:lnTo>
                  <a:pt x="0" y="46272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1549" y="2583180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83018" y="2526030"/>
            <a:ext cx="5800725" cy="400050"/>
            <a:chOff x="0" y="0"/>
            <a:chExt cx="7734300" cy="533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4300" cy="533400"/>
            </a:xfrm>
            <a:custGeom>
              <a:avLst/>
              <a:gdLst/>
              <a:ahLst/>
              <a:cxnLst/>
              <a:rect r="r" b="b" t="t" l="l"/>
              <a:pathLst>
                <a:path h="533400" w="7734300">
                  <a:moveTo>
                    <a:pt x="0" y="0"/>
                  </a:moveTo>
                  <a:lnTo>
                    <a:pt x="7734300" y="0"/>
                  </a:lnTo>
                  <a:lnTo>
                    <a:pt x="77343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77343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Definición Fundamental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5830" y="3154680"/>
            <a:ext cx="6129338" cy="1485900"/>
            <a:chOff x="0" y="0"/>
            <a:chExt cx="8172450" cy="198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72450" cy="1981200"/>
            </a:xfrm>
            <a:custGeom>
              <a:avLst/>
              <a:gdLst/>
              <a:ahLst/>
              <a:cxnLst/>
              <a:rect r="r" b="b" t="t" l="l"/>
              <a:pathLst>
                <a:path h="1981200" w="8172450">
                  <a:moveTo>
                    <a:pt x="0" y="0"/>
                  </a:moveTo>
                  <a:lnTo>
                    <a:pt x="8172450" y="0"/>
                  </a:lnTo>
                  <a:lnTo>
                    <a:pt x="8172450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8172450" cy="2076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Las relaciones entre atributos donde un atributo (el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determinante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) determina el valor de otro atributo. Estas restricciones se basan en las relaciones entre claves principales y columnas que no son claves.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5830" y="4869180"/>
            <a:ext cx="6015038" cy="1571625"/>
            <a:chOff x="0" y="0"/>
            <a:chExt cx="8020050" cy="2095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20050" cy="2095500"/>
            </a:xfrm>
            <a:custGeom>
              <a:avLst/>
              <a:gdLst/>
              <a:ahLst/>
              <a:cxnLst/>
              <a:rect r="r" b="b" t="t" l="l"/>
              <a:pathLst>
                <a:path h="2095500" w="8020050">
                  <a:moveTo>
                    <a:pt x="152400" y="0"/>
                  </a:moveTo>
                  <a:lnTo>
                    <a:pt x="7867650" y="0"/>
                  </a:lnTo>
                  <a:cubicBezTo>
                    <a:pt x="7951724" y="0"/>
                    <a:pt x="8020050" y="68326"/>
                    <a:pt x="8020050" y="152400"/>
                  </a:cubicBezTo>
                  <a:lnTo>
                    <a:pt x="8020050" y="1943100"/>
                  </a:lnTo>
                  <a:cubicBezTo>
                    <a:pt x="8020050" y="2027174"/>
                    <a:pt x="7951724" y="2095500"/>
                    <a:pt x="7867650" y="2095500"/>
                  </a:cubicBezTo>
                  <a:lnTo>
                    <a:pt x="152400" y="2095500"/>
                  </a:lnTo>
                  <a:cubicBezTo>
                    <a:pt x="68326" y="2095500"/>
                    <a:pt x="0" y="2027174"/>
                    <a:pt x="0" y="19431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211580" y="5154930"/>
            <a:ext cx="171450" cy="228600"/>
          </a:xfrm>
          <a:custGeom>
            <a:avLst/>
            <a:gdLst/>
            <a:ahLst/>
            <a:cxnLst/>
            <a:rect r="r" b="b" t="t" l="l"/>
            <a:pathLst>
              <a:path h="228600" w="171450">
                <a:moveTo>
                  <a:pt x="0" y="0"/>
                </a:moveTo>
                <a:lnTo>
                  <a:pt x="171450" y="0"/>
                </a:lnTo>
                <a:lnTo>
                  <a:pt x="17145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525905" y="5097780"/>
            <a:ext cx="5300662" cy="1114425"/>
            <a:chOff x="0" y="0"/>
            <a:chExt cx="7067550" cy="14859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67550" cy="1485900"/>
            </a:xfrm>
            <a:custGeom>
              <a:avLst/>
              <a:gdLst/>
              <a:ahLst/>
              <a:cxnLst/>
              <a:rect r="r" b="b" t="t" l="l"/>
              <a:pathLst>
                <a:path h="1485900" w="7067550">
                  <a:moveTo>
                    <a:pt x="0" y="0"/>
                  </a:moveTo>
                  <a:lnTo>
                    <a:pt x="7067550" y="0"/>
                  </a:lnTo>
                  <a:lnTo>
                    <a:pt x="706755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678" r="0" b="-426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706755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Las dependencias se entienden mejor en el contexto de conjuntos relevantes de reglas de normalización o formas normales.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71500" y="7023745"/>
            <a:ext cx="6715125" cy="2800350"/>
            <a:chOff x="0" y="0"/>
            <a:chExt cx="8953500" cy="3733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53500" cy="3733800"/>
            </a:xfrm>
            <a:custGeom>
              <a:avLst/>
              <a:gdLst/>
              <a:ahLst/>
              <a:cxnLst/>
              <a:rect r="r" b="b" t="t" l="l"/>
              <a:pathLst>
                <a:path h="3733800" w="8953500">
                  <a:moveTo>
                    <a:pt x="152400" y="0"/>
                  </a:moveTo>
                  <a:lnTo>
                    <a:pt x="8801100" y="0"/>
                  </a:lnTo>
                  <a:cubicBezTo>
                    <a:pt x="8885301" y="0"/>
                    <a:pt x="8953500" y="68199"/>
                    <a:pt x="8953500" y="152400"/>
                  </a:cubicBezTo>
                  <a:lnTo>
                    <a:pt x="8953500" y="3581400"/>
                  </a:lnTo>
                  <a:cubicBezTo>
                    <a:pt x="8953500" y="3665601"/>
                    <a:pt x="8885301" y="3733800"/>
                    <a:pt x="8801100" y="3733800"/>
                  </a:cubicBezTo>
                  <a:lnTo>
                    <a:pt x="152400" y="3733800"/>
                  </a:lnTo>
                  <a:cubicBezTo>
                    <a:pt x="68199" y="3733800"/>
                    <a:pt x="0" y="3665601"/>
                    <a:pt x="0" y="3581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950119" y="7438082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243012" y="7366645"/>
            <a:ext cx="5829300" cy="400050"/>
            <a:chOff x="0" y="0"/>
            <a:chExt cx="7772400" cy="533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772400" cy="533400"/>
            </a:xfrm>
            <a:custGeom>
              <a:avLst/>
              <a:gdLst/>
              <a:ahLst/>
              <a:cxnLst/>
              <a:rect r="r" b="b" t="t" l="l"/>
              <a:pathLst>
                <a:path h="533400" w="7772400">
                  <a:moveTo>
                    <a:pt x="0" y="0"/>
                  </a:moveTo>
                  <a:lnTo>
                    <a:pt x="7772400" y="0"/>
                  </a:lnTo>
                  <a:lnTo>
                    <a:pt x="77724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77724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Atributos No Clave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7995295"/>
            <a:ext cx="6143625" cy="1485900"/>
            <a:chOff x="0" y="0"/>
            <a:chExt cx="8191500" cy="1981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915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8191500">
                  <a:moveTo>
                    <a:pt x="0" y="0"/>
                  </a:moveTo>
                  <a:lnTo>
                    <a:pt x="8191500" y="0"/>
                  </a:lnTo>
                  <a:lnTo>
                    <a:pt x="8191500" y="1981200"/>
                  </a:lnTo>
                  <a:lnTo>
                    <a:pt x="0" y="1981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563" r="0" b="-3056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0"/>
              <a:ext cx="8191500" cy="2076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Columnas que no son claves principales ni candidatas, conocidas como </a:t>
              </a:r>
              <a:r>
                <a:rPr lang="en-US" sz="180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atributos no clave</a:t>
              </a:r>
              <a:r>
                <a:rPr lang="en-US" sz="18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o </a:t>
              </a:r>
              <a:r>
                <a:rPr lang="en-US" sz="180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atributos no primos</a:t>
              </a:r>
              <a:r>
                <a:rPr lang="en-US" sz="18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. Las dependencias funcionales describen cómo estos atributos se relacionan con las claves.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663815" y="2171700"/>
            <a:ext cx="4900612" cy="3714750"/>
            <a:chOff x="0" y="0"/>
            <a:chExt cx="6534150" cy="4953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34150" cy="4953000"/>
            </a:xfrm>
            <a:custGeom>
              <a:avLst/>
              <a:gdLst/>
              <a:ahLst/>
              <a:cxnLst/>
              <a:rect r="r" b="b" t="t" l="l"/>
              <a:pathLst>
                <a:path h="4953000" w="6534150">
                  <a:moveTo>
                    <a:pt x="76200" y="0"/>
                  </a:moveTo>
                  <a:lnTo>
                    <a:pt x="6381750" y="0"/>
                  </a:lnTo>
                  <a:cubicBezTo>
                    <a:pt x="6465951" y="0"/>
                    <a:pt x="6534150" y="68199"/>
                    <a:pt x="6534150" y="152400"/>
                  </a:cubicBezTo>
                  <a:lnTo>
                    <a:pt x="6534150" y="4800600"/>
                  </a:lnTo>
                  <a:cubicBezTo>
                    <a:pt x="6534150" y="4884801"/>
                    <a:pt x="6465951" y="4953000"/>
                    <a:pt x="6381750" y="4953000"/>
                  </a:cubicBezTo>
                  <a:lnTo>
                    <a:pt x="76200" y="4953000"/>
                  </a:lnTo>
                  <a:cubicBezTo>
                    <a:pt x="34163" y="4953000"/>
                    <a:pt x="0" y="4918837"/>
                    <a:pt x="0" y="4876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663815" y="2171700"/>
            <a:ext cx="57150" cy="3714750"/>
            <a:chOff x="0" y="0"/>
            <a:chExt cx="76200" cy="4953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2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76200">
                  <a:moveTo>
                    <a:pt x="76200" y="0"/>
                  </a:moveTo>
                  <a:lnTo>
                    <a:pt x="76200" y="4953000"/>
                  </a:lnTo>
                  <a:cubicBezTo>
                    <a:pt x="34163" y="4953000"/>
                    <a:pt x="0" y="4918837"/>
                    <a:pt x="0" y="4876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978140" y="2457450"/>
            <a:ext cx="571500" cy="571500"/>
            <a:chOff x="0" y="0"/>
            <a:chExt cx="762000" cy="762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222990" y="2543175"/>
            <a:ext cx="214312" cy="400050"/>
            <a:chOff x="0" y="0"/>
            <a:chExt cx="285750" cy="533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5750" cy="533400"/>
            </a:xfrm>
            <a:custGeom>
              <a:avLst/>
              <a:gdLst/>
              <a:ahLst/>
              <a:cxnLst/>
              <a:rect r="r" b="b" t="t" l="l"/>
              <a:pathLst>
                <a:path h="5334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9500" t="0" r="-18950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76200"/>
              <a:ext cx="2857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721090" y="2543175"/>
            <a:ext cx="2200275" cy="400050"/>
            <a:chOff x="0" y="0"/>
            <a:chExt cx="2933700" cy="533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933700" cy="533400"/>
            </a:xfrm>
            <a:custGeom>
              <a:avLst/>
              <a:gdLst/>
              <a:ahLst/>
              <a:cxnLst/>
              <a:rect r="r" b="b" t="t" l="l"/>
              <a:pathLst>
                <a:path h="533400" w="2933700">
                  <a:moveTo>
                    <a:pt x="0" y="0"/>
                  </a:moveTo>
                  <a:lnTo>
                    <a:pt x="2933700" y="0"/>
                  </a:lnTo>
                  <a:lnTo>
                    <a:pt x="29337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29337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Dependencia Parcial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978140" y="3200400"/>
            <a:ext cx="4414838" cy="1114425"/>
            <a:chOff x="0" y="0"/>
            <a:chExt cx="5886450" cy="14859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86450" cy="1485900"/>
            </a:xfrm>
            <a:custGeom>
              <a:avLst/>
              <a:gdLst/>
              <a:ahLst/>
              <a:cxnLst/>
              <a:rect r="r" b="b" t="t" l="l"/>
              <a:pathLst>
                <a:path h="1485900" w="5886450">
                  <a:moveTo>
                    <a:pt x="0" y="0"/>
                  </a:moveTo>
                  <a:lnTo>
                    <a:pt x="5886450" y="0"/>
                  </a:lnTo>
                  <a:lnTo>
                    <a:pt x="588645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90" r="0" b="-2719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0"/>
              <a:ext cx="588645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Atributos no clave dependen de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parte de una clave compuesta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, no de toda la clave. Violación de 2NF.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818745" y="2171700"/>
            <a:ext cx="4900612" cy="3714750"/>
            <a:chOff x="0" y="0"/>
            <a:chExt cx="6534150" cy="4953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34150" cy="4953000"/>
            </a:xfrm>
            <a:custGeom>
              <a:avLst/>
              <a:gdLst/>
              <a:ahLst/>
              <a:cxnLst/>
              <a:rect r="r" b="b" t="t" l="l"/>
              <a:pathLst>
                <a:path h="4953000" w="6534150">
                  <a:moveTo>
                    <a:pt x="76200" y="0"/>
                  </a:moveTo>
                  <a:lnTo>
                    <a:pt x="6381750" y="0"/>
                  </a:lnTo>
                  <a:cubicBezTo>
                    <a:pt x="6465951" y="0"/>
                    <a:pt x="6534150" y="68199"/>
                    <a:pt x="6534150" y="152400"/>
                  </a:cubicBezTo>
                  <a:lnTo>
                    <a:pt x="6534150" y="4800600"/>
                  </a:lnTo>
                  <a:cubicBezTo>
                    <a:pt x="6534150" y="4884801"/>
                    <a:pt x="6465951" y="4953000"/>
                    <a:pt x="6381750" y="4953000"/>
                  </a:cubicBezTo>
                  <a:lnTo>
                    <a:pt x="76200" y="4953000"/>
                  </a:lnTo>
                  <a:cubicBezTo>
                    <a:pt x="34163" y="4953000"/>
                    <a:pt x="0" y="4918837"/>
                    <a:pt x="0" y="4876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818745" y="2171700"/>
            <a:ext cx="57150" cy="3714750"/>
            <a:chOff x="0" y="0"/>
            <a:chExt cx="76200" cy="4953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2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76200">
                  <a:moveTo>
                    <a:pt x="76200" y="0"/>
                  </a:moveTo>
                  <a:lnTo>
                    <a:pt x="76200" y="4953000"/>
                  </a:lnTo>
                  <a:cubicBezTo>
                    <a:pt x="34163" y="4953000"/>
                    <a:pt x="0" y="4918837"/>
                    <a:pt x="0" y="4876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133070" y="2457450"/>
            <a:ext cx="571500" cy="571500"/>
            <a:chOff x="0" y="0"/>
            <a:chExt cx="762000" cy="762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353278" y="2543175"/>
            <a:ext cx="257175" cy="400050"/>
            <a:chOff x="0" y="0"/>
            <a:chExt cx="342900" cy="533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2900" cy="533400"/>
            </a:xfrm>
            <a:custGeom>
              <a:avLst/>
              <a:gdLst/>
              <a:ahLst/>
              <a:cxnLst/>
              <a:rect r="r" b="b" t="t" l="l"/>
              <a:pathLst>
                <a:path h="5334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9583" t="0" r="-14958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3429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876020" y="2543175"/>
            <a:ext cx="2528888" cy="400050"/>
            <a:chOff x="0" y="0"/>
            <a:chExt cx="3371850" cy="533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371850" cy="533400"/>
            </a:xfrm>
            <a:custGeom>
              <a:avLst/>
              <a:gdLst/>
              <a:ahLst/>
              <a:cxnLst/>
              <a:rect r="r" b="b" t="t" l="l"/>
              <a:pathLst>
                <a:path h="533400" w="3371850">
                  <a:moveTo>
                    <a:pt x="0" y="0"/>
                  </a:moveTo>
                  <a:lnTo>
                    <a:pt x="3371850" y="0"/>
                  </a:lnTo>
                  <a:lnTo>
                    <a:pt x="3371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173" r="0" b="-7317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76200"/>
              <a:ext cx="3371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Dependencia Transitiva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133070" y="3200400"/>
            <a:ext cx="4414838" cy="1114425"/>
            <a:chOff x="0" y="0"/>
            <a:chExt cx="5886450" cy="14859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886450" cy="1485900"/>
            </a:xfrm>
            <a:custGeom>
              <a:avLst/>
              <a:gdLst/>
              <a:ahLst/>
              <a:cxnLst/>
              <a:rect r="r" b="b" t="t" l="l"/>
              <a:pathLst>
                <a:path h="1485900" w="5886450">
                  <a:moveTo>
                    <a:pt x="0" y="0"/>
                  </a:moveTo>
                  <a:lnTo>
                    <a:pt x="5886450" y="0"/>
                  </a:lnTo>
                  <a:lnTo>
                    <a:pt x="588645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90" r="0" b="-2719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0"/>
              <a:ext cx="588645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Atributos no clave dependen de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otros atributos no clave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en lugar de claves primarias. Violación de 3NF.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663815" y="6112192"/>
            <a:ext cx="4900612" cy="3714750"/>
            <a:chOff x="0" y="0"/>
            <a:chExt cx="6534150" cy="49530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534150" cy="4953000"/>
            </a:xfrm>
            <a:custGeom>
              <a:avLst/>
              <a:gdLst/>
              <a:ahLst/>
              <a:cxnLst/>
              <a:rect r="r" b="b" t="t" l="l"/>
              <a:pathLst>
                <a:path h="4953000" w="6534150">
                  <a:moveTo>
                    <a:pt x="76200" y="0"/>
                  </a:moveTo>
                  <a:lnTo>
                    <a:pt x="6381750" y="0"/>
                  </a:lnTo>
                  <a:cubicBezTo>
                    <a:pt x="6465951" y="0"/>
                    <a:pt x="6534150" y="68199"/>
                    <a:pt x="6534150" y="152400"/>
                  </a:cubicBezTo>
                  <a:lnTo>
                    <a:pt x="6534150" y="4800600"/>
                  </a:lnTo>
                  <a:cubicBezTo>
                    <a:pt x="6534150" y="4884801"/>
                    <a:pt x="6465951" y="4953000"/>
                    <a:pt x="6381750" y="4953000"/>
                  </a:cubicBezTo>
                  <a:lnTo>
                    <a:pt x="76200" y="4953000"/>
                  </a:lnTo>
                  <a:cubicBezTo>
                    <a:pt x="34163" y="4953000"/>
                    <a:pt x="0" y="4918837"/>
                    <a:pt x="0" y="4876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663815" y="6112192"/>
            <a:ext cx="57150" cy="3714750"/>
            <a:chOff x="0" y="0"/>
            <a:chExt cx="76200" cy="4953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62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76200">
                  <a:moveTo>
                    <a:pt x="76200" y="0"/>
                  </a:moveTo>
                  <a:lnTo>
                    <a:pt x="76200" y="4953000"/>
                  </a:lnTo>
                  <a:cubicBezTo>
                    <a:pt x="34163" y="4953000"/>
                    <a:pt x="0" y="4918837"/>
                    <a:pt x="0" y="4876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978140" y="6397942"/>
            <a:ext cx="571500" cy="571500"/>
            <a:chOff x="0" y="0"/>
            <a:chExt cx="762000" cy="7620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8194958" y="6483668"/>
            <a:ext cx="271462" cy="400050"/>
            <a:chOff x="0" y="0"/>
            <a:chExt cx="361950" cy="533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1950" cy="533400"/>
            </a:xfrm>
            <a:custGeom>
              <a:avLst/>
              <a:gdLst/>
              <a:ahLst/>
              <a:cxnLst/>
              <a:rect r="r" b="b" t="t" l="l"/>
              <a:pathLst>
                <a:path h="53340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9078" t="0" r="-139078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76200"/>
              <a:ext cx="3619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721090" y="6483668"/>
            <a:ext cx="2843212" cy="400050"/>
            <a:chOff x="0" y="0"/>
            <a:chExt cx="3790950" cy="533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790950" cy="533400"/>
            </a:xfrm>
            <a:custGeom>
              <a:avLst/>
              <a:gdLst/>
              <a:ahLst/>
              <a:cxnLst/>
              <a:rect r="r" b="b" t="t" l="l"/>
              <a:pathLst>
                <a:path h="533400" w="3790950">
                  <a:moveTo>
                    <a:pt x="0" y="0"/>
                  </a:moveTo>
                  <a:lnTo>
                    <a:pt x="3790950" y="0"/>
                  </a:lnTo>
                  <a:lnTo>
                    <a:pt x="3790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82" r="0" b="-8848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76200"/>
              <a:ext cx="37909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Dependencia Multivaluada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978140" y="7140893"/>
            <a:ext cx="4414838" cy="1114425"/>
            <a:chOff x="0" y="0"/>
            <a:chExt cx="5886450" cy="14859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886450" cy="1485900"/>
            </a:xfrm>
            <a:custGeom>
              <a:avLst/>
              <a:gdLst/>
              <a:ahLst/>
              <a:cxnLst/>
              <a:rect r="r" b="b" t="t" l="l"/>
              <a:pathLst>
                <a:path h="1485900" w="5886450">
                  <a:moveTo>
                    <a:pt x="0" y="0"/>
                  </a:moveTo>
                  <a:lnTo>
                    <a:pt x="5886450" y="0"/>
                  </a:lnTo>
                  <a:lnTo>
                    <a:pt x="588645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90" r="0" b="-2719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0"/>
              <a:ext cx="588645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Valores de dos o más columnas son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independientes entre sí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y solo dependen de la clave principal. Violación de 4NF.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818745" y="6112192"/>
            <a:ext cx="4900612" cy="3714750"/>
            <a:chOff x="0" y="0"/>
            <a:chExt cx="6534150" cy="49530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534150" cy="4953000"/>
            </a:xfrm>
            <a:custGeom>
              <a:avLst/>
              <a:gdLst/>
              <a:ahLst/>
              <a:cxnLst/>
              <a:rect r="r" b="b" t="t" l="l"/>
              <a:pathLst>
                <a:path h="4953000" w="6534150">
                  <a:moveTo>
                    <a:pt x="76200" y="0"/>
                  </a:moveTo>
                  <a:lnTo>
                    <a:pt x="6381750" y="0"/>
                  </a:lnTo>
                  <a:cubicBezTo>
                    <a:pt x="6465951" y="0"/>
                    <a:pt x="6534150" y="68199"/>
                    <a:pt x="6534150" y="152400"/>
                  </a:cubicBezTo>
                  <a:lnTo>
                    <a:pt x="6534150" y="4800600"/>
                  </a:lnTo>
                  <a:cubicBezTo>
                    <a:pt x="6534150" y="4884801"/>
                    <a:pt x="6465951" y="4953000"/>
                    <a:pt x="6381750" y="4953000"/>
                  </a:cubicBezTo>
                  <a:lnTo>
                    <a:pt x="76200" y="4953000"/>
                  </a:lnTo>
                  <a:cubicBezTo>
                    <a:pt x="34163" y="4953000"/>
                    <a:pt x="0" y="4918837"/>
                    <a:pt x="0" y="4876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818745" y="6112192"/>
            <a:ext cx="57150" cy="3714750"/>
            <a:chOff x="0" y="0"/>
            <a:chExt cx="76200" cy="49530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62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76200">
                  <a:moveTo>
                    <a:pt x="76200" y="0"/>
                  </a:moveTo>
                  <a:lnTo>
                    <a:pt x="76200" y="4953000"/>
                  </a:lnTo>
                  <a:cubicBezTo>
                    <a:pt x="34163" y="4953000"/>
                    <a:pt x="0" y="4918837"/>
                    <a:pt x="0" y="4876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133070" y="6397942"/>
            <a:ext cx="571500" cy="571500"/>
            <a:chOff x="0" y="0"/>
            <a:chExt cx="762000" cy="7620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353450" y="6483668"/>
            <a:ext cx="257175" cy="400050"/>
            <a:chOff x="0" y="0"/>
            <a:chExt cx="342900" cy="5334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42900" cy="533400"/>
            </a:xfrm>
            <a:custGeom>
              <a:avLst/>
              <a:gdLst/>
              <a:ahLst/>
              <a:cxnLst/>
              <a:rect r="r" b="b" t="t" l="l"/>
              <a:pathLst>
                <a:path h="5334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9583" t="0" r="-149583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76200"/>
              <a:ext cx="3429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4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876020" y="6483668"/>
            <a:ext cx="2400300" cy="400050"/>
            <a:chOff x="0" y="0"/>
            <a:chExt cx="3200400" cy="5334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200400" cy="533400"/>
            </a:xfrm>
            <a:custGeom>
              <a:avLst/>
              <a:gdLst/>
              <a:ahLst/>
              <a:cxnLst/>
              <a:rect r="r" b="b" t="t" l="l"/>
              <a:pathLst>
                <a:path h="5334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76200"/>
              <a:ext cx="32004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Dependencia de Unión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3133070" y="7140893"/>
            <a:ext cx="4414838" cy="1114425"/>
            <a:chOff x="0" y="0"/>
            <a:chExt cx="5886450" cy="14859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886450" cy="1485900"/>
            </a:xfrm>
            <a:custGeom>
              <a:avLst/>
              <a:gdLst/>
              <a:ahLst/>
              <a:cxnLst/>
              <a:rect r="r" b="b" t="t" l="l"/>
              <a:pathLst>
                <a:path h="1485900" w="5886450">
                  <a:moveTo>
                    <a:pt x="0" y="0"/>
                  </a:moveTo>
                  <a:lnTo>
                    <a:pt x="5886450" y="0"/>
                  </a:lnTo>
                  <a:lnTo>
                    <a:pt x="588645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90" r="0" b="-2719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0"/>
              <a:ext cx="588645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Después de dividir tablas, es posible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reconstruir la tabla original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sin pérdida de datos. Relacionada con 5NF.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estuary.dev/ae510b3deca8677c7bad00a69cb44592fe2524d1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136" r="0" b="-713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D3436">
                    <a:alpha val="95000"/>
                  </a:srgbClr>
                </a:gs>
                <a:gs pos="50000">
                  <a:srgbClr val="2D3436">
                    <a:alpha val="85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69595" y="2672715"/>
            <a:ext cx="1969770" cy="598170"/>
          </a:xfrm>
          <a:custGeom>
            <a:avLst/>
            <a:gdLst/>
            <a:ahLst/>
            <a:cxnLst/>
            <a:rect r="r" b="b" t="t" l="l"/>
            <a:pathLst>
              <a:path h="598170" w="1969770">
                <a:moveTo>
                  <a:pt x="0" y="0"/>
                </a:moveTo>
                <a:lnTo>
                  <a:pt x="1969770" y="0"/>
                </a:lnTo>
                <a:lnTo>
                  <a:pt x="1969770" y="598170"/>
                </a:lnTo>
                <a:lnTo>
                  <a:pt x="0" y="598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11530" y="2800350"/>
            <a:ext cx="1600200" cy="342900"/>
            <a:chOff x="0" y="0"/>
            <a:chExt cx="2133600" cy="457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3600" cy="457200"/>
            </a:xfrm>
            <a:custGeom>
              <a:avLst/>
              <a:gdLst/>
              <a:ahLst/>
              <a:cxnLst/>
              <a:rect r="r" b="b" t="t" l="l"/>
              <a:pathLst>
                <a:path h="4572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1336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CAPÍTULO 04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500" y="3611880"/>
            <a:ext cx="17573625" cy="2143125"/>
            <a:chOff x="0" y="0"/>
            <a:chExt cx="23431500" cy="285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431500" cy="2857500"/>
            </a:xfrm>
            <a:custGeom>
              <a:avLst/>
              <a:gdLst/>
              <a:ahLst/>
              <a:cxnLst/>
              <a:rect r="r" b="b" t="t" l="l"/>
              <a:pathLst>
                <a:path h="2857500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2857500"/>
                  </a:lnTo>
                  <a:lnTo>
                    <a:pt x="0" y="285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3431500" cy="2867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6750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Formas</a:t>
              </a:r>
            </a:p>
            <a:p>
              <a:pPr algn="l">
                <a:lnSpc>
                  <a:spcPts val="8100"/>
                </a:lnSpc>
              </a:pPr>
              <a:r>
                <a:rPr lang="en-US" sz="6750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Normales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1500" y="6097905"/>
            <a:ext cx="1828800" cy="57150"/>
            <a:chOff x="0" y="0"/>
            <a:chExt cx="2438400" cy="76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71500" y="6497955"/>
            <a:ext cx="8401050" cy="1114425"/>
            <a:chOff x="0" y="0"/>
            <a:chExt cx="11201400" cy="1485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014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11201400">
                  <a:moveTo>
                    <a:pt x="0" y="0"/>
                  </a:moveTo>
                  <a:lnTo>
                    <a:pt x="11201400" y="0"/>
                  </a:lnTo>
                  <a:lnTo>
                    <a:pt x="1120140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887" r="0" b="-968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33350"/>
              <a:ext cx="11201400" cy="1619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27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Los seis niveles de normalización explicados con ejemplos prácticos y casos reales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59300" cy="342900"/>
            <a:chOff x="0" y="0"/>
            <a:chExt cx="230124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30124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1NF - PRIMERA FORMA NORMAL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1028700"/>
            <a:ext cx="17402175" cy="571500"/>
            <a:chOff x="0" y="0"/>
            <a:chExt cx="232029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32029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Primera Forma Normal: El Fundamento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1500" y="1828800"/>
            <a:ext cx="1371600" cy="57150"/>
            <a:chOff x="0" y="0"/>
            <a:chExt cx="18288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69595" y="2169795"/>
            <a:ext cx="10085070" cy="3227070"/>
          </a:xfrm>
          <a:custGeom>
            <a:avLst/>
            <a:gdLst/>
            <a:ahLst/>
            <a:cxnLst/>
            <a:rect r="r" b="b" t="t" l="l"/>
            <a:pathLst>
              <a:path h="3227070" w="10085070">
                <a:moveTo>
                  <a:pt x="0" y="0"/>
                </a:moveTo>
                <a:lnTo>
                  <a:pt x="10085070" y="0"/>
                </a:lnTo>
                <a:lnTo>
                  <a:pt x="10085070" y="3227070"/>
                </a:lnTo>
                <a:lnTo>
                  <a:pt x="0" y="3227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04399" y="2526030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25868" y="2468880"/>
            <a:ext cx="9272588" cy="400050"/>
            <a:chOff x="0" y="0"/>
            <a:chExt cx="12363450" cy="533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363450" cy="533400"/>
            </a:xfrm>
            <a:custGeom>
              <a:avLst/>
              <a:gdLst/>
              <a:ahLst/>
              <a:cxnLst/>
              <a:rect r="r" b="b" t="t" l="l"/>
              <a:pathLst>
                <a:path h="533400" w="12363450">
                  <a:moveTo>
                    <a:pt x="0" y="0"/>
                  </a:moveTo>
                  <a:lnTo>
                    <a:pt x="12363450" y="0"/>
                  </a:lnTo>
                  <a:lnTo>
                    <a:pt x="123634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1635" r="0" b="-40163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23634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Requisitos de 1NF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7255" y="3154680"/>
            <a:ext cx="228600" cy="228600"/>
            <a:chOff x="0" y="0"/>
            <a:chExt cx="304800" cy="304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25880" y="3097530"/>
            <a:ext cx="4873976" cy="371475"/>
            <a:chOff x="0" y="0"/>
            <a:chExt cx="6498634" cy="4953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98634" cy="495300"/>
            </a:xfrm>
            <a:custGeom>
              <a:avLst/>
              <a:gdLst/>
              <a:ahLst/>
              <a:cxnLst/>
              <a:rect r="r" b="b" t="t" l="l"/>
              <a:pathLst>
                <a:path h="495300" w="6498634">
                  <a:moveTo>
                    <a:pt x="0" y="0"/>
                  </a:moveTo>
                  <a:lnTo>
                    <a:pt x="6498634" y="0"/>
                  </a:lnTo>
                  <a:lnTo>
                    <a:pt x="6498634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323" r="10299" b="-17932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6498634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El esquema debe incluir una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clave principal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7255" y="3697605"/>
            <a:ext cx="228600" cy="228600"/>
            <a:chOff x="0" y="0"/>
            <a:chExt cx="304800" cy="304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25880" y="3640455"/>
            <a:ext cx="4026938" cy="371475"/>
            <a:chOff x="0" y="0"/>
            <a:chExt cx="5369251" cy="495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69251" cy="495300"/>
            </a:xfrm>
            <a:custGeom>
              <a:avLst/>
              <a:gdLst/>
              <a:ahLst/>
              <a:cxnLst/>
              <a:rect r="r" b="b" t="t" l="l"/>
              <a:pathLst>
                <a:path h="495300" w="5369251">
                  <a:moveTo>
                    <a:pt x="0" y="0"/>
                  </a:moveTo>
                  <a:lnTo>
                    <a:pt x="5369251" y="0"/>
                  </a:lnTo>
                  <a:lnTo>
                    <a:pt x="5369251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353" r="9881" b="-14035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5369251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Excluir la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repetición entre columnas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97255" y="4240530"/>
            <a:ext cx="228600" cy="228600"/>
            <a:chOff x="0" y="0"/>
            <a:chExt cx="304800" cy="304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25880" y="4183380"/>
            <a:ext cx="5091916" cy="371475"/>
            <a:chOff x="0" y="0"/>
            <a:chExt cx="6789221" cy="4953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89221" cy="495300"/>
            </a:xfrm>
            <a:custGeom>
              <a:avLst/>
              <a:gdLst/>
              <a:ahLst/>
              <a:cxnLst/>
              <a:rect r="r" b="b" t="t" l="l"/>
              <a:pathLst>
                <a:path h="495300" w="6789221">
                  <a:moveTo>
                    <a:pt x="0" y="0"/>
                  </a:moveTo>
                  <a:lnTo>
                    <a:pt x="6789221" y="0"/>
                  </a:lnTo>
                  <a:lnTo>
                    <a:pt x="6789221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307" r="6282" b="-20030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0"/>
              <a:ext cx="6789221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No debe tener campos con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matrices de valores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97255" y="4783455"/>
            <a:ext cx="228600" cy="228600"/>
            <a:chOff x="0" y="0"/>
            <a:chExt cx="304800" cy="304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25880" y="4593041"/>
            <a:ext cx="3629025" cy="678104"/>
            <a:chOff x="0" y="0"/>
            <a:chExt cx="4838700" cy="9041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38700" cy="904138"/>
            </a:xfrm>
            <a:custGeom>
              <a:avLst/>
              <a:gdLst/>
              <a:ahLst/>
              <a:cxnLst/>
              <a:rect r="r" b="b" t="t" l="l"/>
              <a:pathLst>
                <a:path h="904138" w="4838700">
                  <a:moveTo>
                    <a:pt x="0" y="0"/>
                  </a:moveTo>
                  <a:lnTo>
                    <a:pt x="4838700" y="0"/>
                  </a:lnTo>
                  <a:lnTo>
                    <a:pt x="4838700" y="904138"/>
                  </a:lnTo>
                  <a:lnTo>
                    <a:pt x="0" y="904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676" r="7874" b="-2345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0"/>
              <a:ext cx="4838700" cy="999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No debe incluir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grupos repetidos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0075" y="5623570"/>
            <a:ext cx="10058400" cy="3114675"/>
            <a:chOff x="0" y="0"/>
            <a:chExt cx="13411200" cy="41529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4112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13411200">
                  <a:moveTo>
                    <a:pt x="76200" y="0"/>
                  </a:moveTo>
                  <a:lnTo>
                    <a:pt x="13258800" y="0"/>
                  </a:lnTo>
                  <a:cubicBezTo>
                    <a:pt x="13342874" y="0"/>
                    <a:pt x="13411200" y="68326"/>
                    <a:pt x="13411200" y="152400"/>
                  </a:cubicBezTo>
                  <a:lnTo>
                    <a:pt x="13411200" y="4000500"/>
                  </a:lnTo>
                  <a:cubicBezTo>
                    <a:pt x="13411200" y="4084701"/>
                    <a:pt x="13343001" y="4152900"/>
                    <a:pt x="13258800" y="4152900"/>
                  </a:cubicBezTo>
                  <a:lnTo>
                    <a:pt x="76200" y="4152900"/>
                  </a:lnTo>
                  <a:cubicBezTo>
                    <a:pt x="34163" y="4152900"/>
                    <a:pt x="0" y="4118737"/>
                    <a:pt x="0" y="4076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00075" y="5623570"/>
            <a:ext cx="57150" cy="3114675"/>
            <a:chOff x="0" y="0"/>
            <a:chExt cx="76200" cy="41529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2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76200">
                  <a:moveTo>
                    <a:pt x="76200" y="0"/>
                  </a:moveTo>
                  <a:lnTo>
                    <a:pt x="76200" y="4152900"/>
                  </a:lnTo>
                  <a:cubicBezTo>
                    <a:pt x="34163" y="4152900"/>
                    <a:pt x="0" y="4118737"/>
                    <a:pt x="0" y="4076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950119" y="5980757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243012" y="5909320"/>
            <a:ext cx="9258300" cy="400050"/>
            <a:chOff x="0" y="0"/>
            <a:chExt cx="12344400" cy="533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344400" cy="533400"/>
            </a:xfrm>
            <a:custGeom>
              <a:avLst/>
              <a:gdLst/>
              <a:ahLst/>
              <a:cxnLst/>
              <a:rect r="r" b="b" t="t" l="l"/>
              <a:pathLst>
                <a:path h="533400" w="12344400">
                  <a:moveTo>
                    <a:pt x="0" y="0"/>
                  </a:moveTo>
                  <a:lnTo>
                    <a:pt x="12344400" y="0"/>
                  </a:lnTo>
                  <a:lnTo>
                    <a:pt x="123444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0939" r="0" b="-40093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123444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Ejemplo de Violación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4400" y="6480820"/>
            <a:ext cx="9572625" cy="742950"/>
            <a:chOff x="0" y="0"/>
            <a:chExt cx="12763500" cy="990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763500" cy="990600"/>
            </a:xfrm>
            <a:custGeom>
              <a:avLst/>
              <a:gdLst/>
              <a:ahLst/>
              <a:cxnLst/>
              <a:rect r="r" b="b" t="t" l="l"/>
              <a:pathLst>
                <a:path h="990600" w="12763500">
                  <a:moveTo>
                    <a:pt x="0" y="0"/>
                  </a:moveTo>
                  <a:lnTo>
                    <a:pt x="12763500" y="0"/>
                  </a:lnTo>
                  <a:lnTo>
                    <a:pt x="127635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1057" r="0" b="-20105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0"/>
              <a:ext cx="127635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Tabla de padres con columnas </a:t>
              </a:r>
              <a:r>
                <a:rPr lang="en-US" sz="1800">
                  <a:solidFill>
                    <a:srgbClr val="2D343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child1</a:t>
              </a:r>
              <a:r>
                <a:rPr lang="en-US" sz="18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, </a:t>
              </a:r>
              <a:r>
                <a:rPr lang="en-US" sz="1800">
                  <a:solidFill>
                    <a:srgbClr val="2D343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child2</a:t>
              </a:r>
              <a:r>
                <a:rPr lang="en-US" sz="18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, </a:t>
              </a:r>
              <a:r>
                <a:rPr lang="en-US" sz="1800">
                  <a:solidFill>
                    <a:srgbClr val="2D343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child3</a:t>
              </a:r>
              <a:r>
                <a:rPr lang="en-US" sz="18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viola 1NF porque almacena el mismo tipo de información en múltiples columnas.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912495" y="7393315"/>
            <a:ext cx="9456420" cy="1055370"/>
          </a:xfrm>
          <a:custGeom>
            <a:avLst/>
            <a:gdLst/>
            <a:ahLst/>
            <a:cxnLst/>
            <a:rect r="r" b="b" t="t" l="l"/>
            <a:pathLst>
              <a:path h="1055370" w="9456420">
                <a:moveTo>
                  <a:pt x="0" y="0"/>
                </a:moveTo>
                <a:lnTo>
                  <a:pt x="9456420" y="0"/>
                </a:lnTo>
                <a:lnTo>
                  <a:pt x="9456420" y="1055370"/>
                </a:lnTo>
                <a:lnTo>
                  <a:pt x="0" y="10553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097280" y="7578100"/>
            <a:ext cx="9201150" cy="685800"/>
            <a:chOff x="0" y="0"/>
            <a:chExt cx="1226820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268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424" r="0" b="-21142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12268200" cy="990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Problemas: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No se pueden agregar padres con menos de 3 hijos, consultas ineficientes requieren buscar en 3 columnas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10993755" y="2169795"/>
            <a:ext cx="6727507" cy="6113145"/>
          </a:xfrm>
          <a:custGeom>
            <a:avLst/>
            <a:gdLst/>
            <a:ahLst/>
            <a:cxnLst/>
            <a:rect r="r" b="b" t="t" l="l"/>
            <a:pathLst>
              <a:path h="6113145" w="6727507">
                <a:moveTo>
                  <a:pt x="0" y="0"/>
                </a:moveTo>
                <a:lnTo>
                  <a:pt x="6727507" y="0"/>
                </a:lnTo>
                <a:lnTo>
                  <a:pt x="6727507" y="6113145"/>
                </a:lnTo>
                <a:lnTo>
                  <a:pt x="0" y="61131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1360706" y="2540317"/>
            <a:ext cx="192881" cy="257175"/>
          </a:xfrm>
          <a:custGeom>
            <a:avLst/>
            <a:gdLst/>
            <a:ahLst/>
            <a:cxnLst/>
            <a:rect r="r" b="b" t="t" l="l"/>
            <a:pathLst>
              <a:path h="257175" w="192881">
                <a:moveTo>
                  <a:pt x="0" y="0"/>
                </a:moveTo>
                <a:lnTo>
                  <a:pt x="192881" y="0"/>
                </a:lnTo>
                <a:lnTo>
                  <a:pt x="192881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1621452" y="2468880"/>
            <a:ext cx="5929312" cy="400050"/>
            <a:chOff x="0" y="0"/>
            <a:chExt cx="7905750" cy="533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905750" cy="533400"/>
            </a:xfrm>
            <a:custGeom>
              <a:avLst/>
              <a:gdLst/>
              <a:ahLst/>
              <a:cxnLst/>
              <a:rect r="r" b="b" t="t" l="l"/>
              <a:pathLst>
                <a:path h="533400" w="7905750">
                  <a:moveTo>
                    <a:pt x="0" y="0"/>
                  </a:moveTo>
                  <a:lnTo>
                    <a:pt x="7905750" y="0"/>
                  </a:lnTo>
                  <a:lnTo>
                    <a:pt x="7905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8796" r="0" b="-23879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76200"/>
              <a:ext cx="79057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Solución: Dos Tablas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292840" y="3097530"/>
            <a:ext cx="6129338" cy="2857500"/>
            <a:chOff x="0" y="0"/>
            <a:chExt cx="8172450" cy="3810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72450" cy="3810000"/>
            </a:xfrm>
            <a:custGeom>
              <a:avLst/>
              <a:gdLst/>
              <a:ahLst/>
              <a:cxnLst/>
              <a:rect r="r" b="b" t="t" l="l"/>
              <a:pathLst>
                <a:path h="3810000" w="8172450">
                  <a:moveTo>
                    <a:pt x="152400" y="0"/>
                  </a:moveTo>
                  <a:lnTo>
                    <a:pt x="8020050" y="0"/>
                  </a:lnTo>
                  <a:cubicBezTo>
                    <a:pt x="8104124" y="0"/>
                    <a:pt x="8172450" y="68326"/>
                    <a:pt x="8172450" y="152400"/>
                  </a:cubicBezTo>
                  <a:lnTo>
                    <a:pt x="8172450" y="3657600"/>
                  </a:lnTo>
                  <a:cubicBezTo>
                    <a:pt x="8172450" y="3741674"/>
                    <a:pt x="8104124" y="3810000"/>
                    <a:pt x="8020050" y="3810000"/>
                  </a:cubicBezTo>
                  <a:lnTo>
                    <a:pt x="152400" y="3810000"/>
                  </a:lnTo>
                  <a:cubicBezTo>
                    <a:pt x="68326" y="3810000"/>
                    <a:pt x="0" y="3741674"/>
                    <a:pt x="0" y="3657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521440" y="3326130"/>
            <a:ext cx="5786438" cy="342900"/>
            <a:chOff x="0" y="0"/>
            <a:chExt cx="7715250" cy="457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715250" cy="457200"/>
            </a:xfrm>
            <a:custGeom>
              <a:avLst/>
              <a:gdLst/>
              <a:ahLst/>
              <a:cxnLst/>
              <a:rect r="r" b="b" t="t" l="l"/>
              <a:pathLst>
                <a:path h="457200" w="7715250">
                  <a:moveTo>
                    <a:pt x="0" y="0"/>
                  </a:moveTo>
                  <a:lnTo>
                    <a:pt x="7715250" y="0"/>
                  </a:lnTo>
                  <a:lnTo>
                    <a:pt x="77152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76200"/>
              <a:ext cx="77152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TABLA 1: Padres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521440" y="3783330"/>
            <a:ext cx="5786438" cy="342900"/>
            <a:chOff x="0" y="0"/>
            <a:chExt cx="7715250" cy="457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715250" cy="457200"/>
            </a:xfrm>
            <a:custGeom>
              <a:avLst/>
              <a:gdLst/>
              <a:ahLst/>
              <a:cxnLst/>
              <a:rect r="r" b="b" t="t" l="l"/>
              <a:pathLst>
                <a:path h="457200" w="7715250">
                  <a:moveTo>
                    <a:pt x="0" y="0"/>
                  </a:moveTo>
                  <a:lnTo>
                    <a:pt x="7715250" y="0"/>
                  </a:lnTo>
                  <a:lnTo>
                    <a:pt x="77152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85725"/>
              <a:ext cx="771525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636E72"/>
                  </a:solidFill>
                  <a:latin typeface="Arimo"/>
                  <a:ea typeface="Arimo"/>
                  <a:cs typeface="Arimo"/>
                  <a:sym typeface="Arimo"/>
                </a:rPr>
                <a:t>rec_num (PK)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1519535" y="4147195"/>
            <a:ext cx="906599" cy="426720"/>
          </a:xfrm>
          <a:custGeom>
            <a:avLst/>
            <a:gdLst/>
            <a:ahLst/>
            <a:cxnLst/>
            <a:rect r="r" b="b" t="t" l="l"/>
            <a:pathLst>
              <a:path h="426720" w="906599">
                <a:moveTo>
                  <a:pt x="0" y="0"/>
                </a:moveTo>
                <a:lnTo>
                  <a:pt x="906599" y="0"/>
                </a:lnTo>
                <a:lnTo>
                  <a:pt x="906599" y="426720"/>
                </a:lnTo>
                <a:lnTo>
                  <a:pt x="0" y="42672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1595735" y="4149100"/>
            <a:ext cx="919934" cy="400050"/>
            <a:chOff x="0" y="0"/>
            <a:chExt cx="1226579" cy="533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26582" cy="533400"/>
            </a:xfrm>
            <a:custGeom>
              <a:avLst/>
              <a:gdLst/>
              <a:ahLst/>
              <a:cxnLst/>
              <a:rect r="r" b="b" t="t" l="l"/>
              <a:pathLst>
                <a:path h="533400" w="1226582">
                  <a:moveTo>
                    <a:pt x="0" y="0"/>
                  </a:moveTo>
                  <a:lnTo>
                    <a:pt x="1226582" y="0"/>
                  </a:lnTo>
                  <a:lnTo>
                    <a:pt x="1226582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7" t="0" r="-9832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85725"/>
              <a:ext cx="1226579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636E72"/>
                  </a:solidFill>
                  <a:latin typeface="Arimo"/>
                  <a:ea typeface="Arimo"/>
                  <a:cs typeface="Arimo"/>
                  <a:sym typeface="Arimo"/>
                </a:rPr>
                <a:t>lname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11519535" y="4547245"/>
            <a:ext cx="906599" cy="426720"/>
          </a:xfrm>
          <a:custGeom>
            <a:avLst/>
            <a:gdLst/>
            <a:ahLst/>
            <a:cxnLst/>
            <a:rect r="r" b="b" t="t" l="l"/>
            <a:pathLst>
              <a:path h="426720" w="906599">
                <a:moveTo>
                  <a:pt x="0" y="0"/>
                </a:moveTo>
                <a:lnTo>
                  <a:pt x="906599" y="0"/>
                </a:lnTo>
                <a:lnTo>
                  <a:pt x="906599" y="426720"/>
                </a:lnTo>
                <a:lnTo>
                  <a:pt x="0" y="42672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1595735" y="4549150"/>
            <a:ext cx="919934" cy="400050"/>
            <a:chOff x="0" y="0"/>
            <a:chExt cx="1226579" cy="533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26582" cy="533400"/>
            </a:xfrm>
            <a:custGeom>
              <a:avLst/>
              <a:gdLst/>
              <a:ahLst/>
              <a:cxnLst/>
              <a:rect r="r" b="b" t="t" l="l"/>
              <a:pathLst>
                <a:path h="533400" w="1226582">
                  <a:moveTo>
                    <a:pt x="0" y="0"/>
                  </a:moveTo>
                  <a:lnTo>
                    <a:pt x="1226582" y="0"/>
                  </a:lnTo>
                  <a:lnTo>
                    <a:pt x="1226582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7" t="0" r="-983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85725"/>
              <a:ext cx="1226579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636E72"/>
                  </a:solidFill>
                  <a:latin typeface="Arimo"/>
                  <a:ea typeface="Arimo"/>
                  <a:cs typeface="Arimo"/>
                  <a:sym typeface="Arimo"/>
                </a:rPr>
                <a:t>fname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11519535" y="4947295"/>
            <a:ext cx="906599" cy="426720"/>
          </a:xfrm>
          <a:custGeom>
            <a:avLst/>
            <a:gdLst/>
            <a:ahLst/>
            <a:cxnLst/>
            <a:rect r="r" b="b" t="t" l="l"/>
            <a:pathLst>
              <a:path h="426720" w="906599">
                <a:moveTo>
                  <a:pt x="0" y="0"/>
                </a:moveTo>
                <a:lnTo>
                  <a:pt x="906599" y="0"/>
                </a:lnTo>
                <a:lnTo>
                  <a:pt x="906599" y="426720"/>
                </a:lnTo>
                <a:lnTo>
                  <a:pt x="0" y="42672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11595735" y="4949200"/>
            <a:ext cx="919934" cy="400050"/>
            <a:chOff x="0" y="0"/>
            <a:chExt cx="1226579" cy="533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26582" cy="533400"/>
            </a:xfrm>
            <a:custGeom>
              <a:avLst/>
              <a:gdLst/>
              <a:ahLst/>
              <a:cxnLst/>
              <a:rect r="r" b="b" t="t" l="l"/>
              <a:pathLst>
                <a:path h="533400" w="1226582">
                  <a:moveTo>
                    <a:pt x="0" y="0"/>
                  </a:moveTo>
                  <a:lnTo>
                    <a:pt x="1226582" y="0"/>
                  </a:lnTo>
                  <a:lnTo>
                    <a:pt x="1226582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7" t="0" r="-9832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85725"/>
              <a:ext cx="1226579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636E72"/>
                  </a:solidFill>
                  <a:latin typeface="Arimo"/>
                  <a:ea typeface="Arimo"/>
                  <a:cs typeface="Arimo"/>
                  <a:sym typeface="Arimo"/>
                </a:rPr>
                <a:t>bdate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11519535" y="5347345"/>
            <a:ext cx="906599" cy="426720"/>
          </a:xfrm>
          <a:custGeom>
            <a:avLst/>
            <a:gdLst/>
            <a:ahLst/>
            <a:cxnLst/>
            <a:rect r="r" b="b" t="t" l="l"/>
            <a:pathLst>
              <a:path h="426720" w="906599">
                <a:moveTo>
                  <a:pt x="0" y="0"/>
                </a:moveTo>
                <a:lnTo>
                  <a:pt x="906599" y="0"/>
                </a:lnTo>
                <a:lnTo>
                  <a:pt x="906599" y="426720"/>
                </a:lnTo>
                <a:lnTo>
                  <a:pt x="0" y="42672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11595735" y="5349250"/>
            <a:ext cx="919934" cy="400050"/>
            <a:chOff x="0" y="0"/>
            <a:chExt cx="1226579" cy="533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26582" cy="533400"/>
            </a:xfrm>
            <a:custGeom>
              <a:avLst/>
              <a:gdLst/>
              <a:ahLst/>
              <a:cxnLst/>
              <a:rect r="r" b="b" t="t" l="l"/>
              <a:pathLst>
                <a:path h="533400" w="1226582">
                  <a:moveTo>
                    <a:pt x="0" y="0"/>
                  </a:moveTo>
                  <a:lnTo>
                    <a:pt x="1226582" y="0"/>
                  </a:lnTo>
                  <a:lnTo>
                    <a:pt x="1226582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7" t="0" r="-9832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85725"/>
              <a:ext cx="1226579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636E72"/>
                  </a:solidFill>
                  <a:latin typeface="Arimo"/>
                  <a:ea typeface="Arimo"/>
                  <a:cs typeface="Arimo"/>
                  <a:sym typeface="Arimo"/>
                </a:rPr>
                <a:t>email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292840" y="6183630"/>
            <a:ext cx="6129338" cy="1657350"/>
            <a:chOff x="0" y="0"/>
            <a:chExt cx="8172450" cy="2209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172450" cy="2209800"/>
            </a:xfrm>
            <a:custGeom>
              <a:avLst/>
              <a:gdLst/>
              <a:ahLst/>
              <a:cxnLst/>
              <a:rect r="r" b="b" t="t" l="l"/>
              <a:pathLst>
                <a:path h="2209800" w="8172450">
                  <a:moveTo>
                    <a:pt x="152400" y="0"/>
                  </a:moveTo>
                  <a:lnTo>
                    <a:pt x="8020050" y="0"/>
                  </a:lnTo>
                  <a:cubicBezTo>
                    <a:pt x="8104251" y="0"/>
                    <a:pt x="8172450" y="68199"/>
                    <a:pt x="8172450" y="152400"/>
                  </a:cubicBezTo>
                  <a:lnTo>
                    <a:pt x="8172450" y="2057400"/>
                  </a:lnTo>
                  <a:cubicBezTo>
                    <a:pt x="8172450" y="2141601"/>
                    <a:pt x="8104251" y="2209800"/>
                    <a:pt x="8020050" y="2209800"/>
                  </a:cubicBezTo>
                  <a:lnTo>
                    <a:pt x="152400" y="2209800"/>
                  </a:lnTo>
                  <a:cubicBezTo>
                    <a:pt x="68199" y="2209800"/>
                    <a:pt x="0" y="2141601"/>
                    <a:pt x="0" y="2057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1521440" y="6412230"/>
            <a:ext cx="5786438" cy="342900"/>
            <a:chOff x="0" y="0"/>
            <a:chExt cx="7715250" cy="4572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715250" cy="457200"/>
            </a:xfrm>
            <a:custGeom>
              <a:avLst/>
              <a:gdLst/>
              <a:ahLst/>
              <a:cxnLst/>
              <a:rect r="r" b="b" t="t" l="l"/>
              <a:pathLst>
                <a:path h="457200" w="7715250">
                  <a:moveTo>
                    <a:pt x="0" y="0"/>
                  </a:moveTo>
                  <a:lnTo>
                    <a:pt x="7715250" y="0"/>
                  </a:lnTo>
                  <a:lnTo>
                    <a:pt x="77152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76200"/>
              <a:ext cx="77152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TABLA 2: Hijos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1521440" y="6869430"/>
            <a:ext cx="5786438" cy="342900"/>
            <a:chOff x="0" y="0"/>
            <a:chExt cx="7715250" cy="4572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715250" cy="457200"/>
            </a:xfrm>
            <a:custGeom>
              <a:avLst/>
              <a:gdLst/>
              <a:ahLst/>
              <a:cxnLst/>
              <a:rect r="r" b="b" t="t" l="l"/>
              <a:pathLst>
                <a:path h="457200" w="7715250">
                  <a:moveTo>
                    <a:pt x="0" y="0"/>
                  </a:moveTo>
                  <a:lnTo>
                    <a:pt x="7715250" y="0"/>
                  </a:lnTo>
                  <a:lnTo>
                    <a:pt x="77152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810" r="0" b="-27881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85725"/>
              <a:ext cx="771525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636E72"/>
                  </a:solidFill>
                  <a:latin typeface="Arimo"/>
                  <a:ea typeface="Arimo"/>
                  <a:cs typeface="Arimo"/>
                  <a:sym typeface="Arimo"/>
                </a:rPr>
                <a:t>rec_num (FK)</a:t>
              </a: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11519535" y="7233295"/>
            <a:ext cx="1535078" cy="426720"/>
          </a:xfrm>
          <a:custGeom>
            <a:avLst/>
            <a:gdLst/>
            <a:ahLst/>
            <a:cxnLst/>
            <a:rect r="r" b="b" t="t" l="l"/>
            <a:pathLst>
              <a:path h="426720" w="1535078">
                <a:moveTo>
                  <a:pt x="0" y="0"/>
                </a:moveTo>
                <a:lnTo>
                  <a:pt x="1535078" y="0"/>
                </a:lnTo>
                <a:lnTo>
                  <a:pt x="1535078" y="426720"/>
                </a:lnTo>
                <a:lnTo>
                  <a:pt x="0" y="42672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0">
            <a:off x="11595735" y="7235200"/>
            <a:ext cx="1548413" cy="400050"/>
            <a:chOff x="0" y="0"/>
            <a:chExt cx="2064550" cy="5334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064544" cy="533400"/>
            </a:xfrm>
            <a:custGeom>
              <a:avLst/>
              <a:gdLst/>
              <a:ahLst/>
              <a:cxnLst/>
              <a:rect r="r" b="b" t="t" l="l"/>
              <a:pathLst>
                <a:path h="533400" w="2064544">
                  <a:moveTo>
                    <a:pt x="0" y="0"/>
                  </a:moveTo>
                  <a:lnTo>
                    <a:pt x="2064544" y="0"/>
                  </a:lnTo>
                  <a:lnTo>
                    <a:pt x="2064544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36" r="-4798" b="-29036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85725"/>
              <a:ext cx="206455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636E72"/>
                  </a:solidFill>
                  <a:latin typeface="Arimo"/>
                  <a:ea typeface="Arimo"/>
                  <a:cs typeface="Arimo"/>
                  <a:sym typeface="Arimo"/>
                </a:rPr>
                <a:t>child_name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995660" y="8515350"/>
            <a:ext cx="6715125" cy="1200150"/>
            <a:chOff x="0" y="0"/>
            <a:chExt cx="8953500" cy="16002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9535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8953500">
                  <a:moveTo>
                    <a:pt x="152400" y="0"/>
                  </a:moveTo>
                  <a:lnTo>
                    <a:pt x="8801100" y="0"/>
                  </a:lnTo>
                  <a:cubicBezTo>
                    <a:pt x="8885301" y="0"/>
                    <a:pt x="8953500" y="68199"/>
                    <a:pt x="8953500" y="152400"/>
                  </a:cubicBezTo>
                  <a:lnTo>
                    <a:pt x="8953500" y="1447800"/>
                  </a:lnTo>
                  <a:cubicBezTo>
                    <a:pt x="8953500" y="1532001"/>
                    <a:pt x="8885301" y="1600200"/>
                    <a:pt x="8801100" y="1600200"/>
                  </a:cubicBezTo>
                  <a:lnTo>
                    <a:pt x="152400" y="1600200"/>
                  </a:lnTo>
                  <a:cubicBezTo>
                    <a:pt x="68199" y="1600200"/>
                    <a:pt x="0" y="1532001"/>
                    <a:pt x="0" y="1447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93" id="93"/>
          <p:cNvSpPr/>
          <p:nvPr/>
        </p:nvSpPr>
        <p:spPr>
          <a:xfrm flipH="false" flipV="false" rot="0">
            <a:off x="11238548" y="8801100"/>
            <a:ext cx="257175" cy="228600"/>
          </a:xfrm>
          <a:custGeom>
            <a:avLst/>
            <a:gdLst/>
            <a:ahLst/>
            <a:cxnLst/>
            <a:rect r="r" b="b" t="t" l="l"/>
            <a:pathLst>
              <a:path h="228600" w="257175">
                <a:moveTo>
                  <a:pt x="0" y="0"/>
                </a:moveTo>
                <a:lnTo>
                  <a:pt x="257174" y="0"/>
                </a:lnTo>
                <a:lnTo>
                  <a:pt x="257174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4" id="94"/>
          <p:cNvGrpSpPr/>
          <p:nvPr/>
        </p:nvGrpSpPr>
        <p:grpSpPr>
          <a:xfrm rot="0">
            <a:off x="11595735" y="8743950"/>
            <a:ext cx="6000750" cy="742950"/>
            <a:chOff x="0" y="0"/>
            <a:chExt cx="8001000" cy="9906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001000" cy="990600"/>
            </a:xfrm>
            <a:custGeom>
              <a:avLst/>
              <a:gdLst/>
              <a:ahLst/>
              <a:cxnLst/>
              <a:rect r="r" b="b" t="t" l="l"/>
              <a:pathLst>
                <a:path h="990600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379" r="0" b="-107379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0"/>
              <a:ext cx="80010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Las tablas se vinculan mediante </a:t>
              </a:r>
              <a:r>
                <a:rPr lang="en-US" sz="180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rec_num</a:t>
              </a:r>
              <a:r>
                <a:rPr lang="en-US" sz="18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: clave principal en Tabla 1 y clave foránea en Tabla 2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5906" y="545906"/>
            <a:ext cx="17305363" cy="327546"/>
            <a:chOff x="0" y="0"/>
            <a:chExt cx="23073817" cy="4367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73813" cy="436728"/>
            </a:xfrm>
            <a:custGeom>
              <a:avLst/>
              <a:gdLst/>
              <a:ahLst/>
              <a:cxnLst/>
              <a:rect r="r" b="b" t="t" l="l"/>
              <a:pathLst>
                <a:path h="436728" w="23073813">
                  <a:moveTo>
                    <a:pt x="0" y="0"/>
                  </a:moveTo>
                  <a:lnTo>
                    <a:pt x="23073813" y="0"/>
                  </a:lnTo>
                  <a:lnTo>
                    <a:pt x="23073813" y="436728"/>
                  </a:lnTo>
                  <a:lnTo>
                    <a:pt x="0" y="4367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9460" r="0" b="-9794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3073817" cy="50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1"/>
                </a:lnSpc>
              </a:pPr>
              <a:r>
                <a:rPr lang="en-US" b="true" sz="1719" spc="85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2NF - SEGUNDA FORMA NORMAL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5906" y="982637"/>
            <a:ext cx="17441837" cy="545906"/>
            <a:chOff x="0" y="0"/>
            <a:chExt cx="23255783" cy="7278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55787" cy="727880"/>
            </a:xfrm>
            <a:custGeom>
              <a:avLst/>
              <a:gdLst/>
              <a:ahLst/>
              <a:cxnLst/>
              <a:rect r="r" b="b" t="t" l="l"/>
              <a:pathLst>
                <a:path h="727880" w="23255787">
                  <a:moveTo>
                    <a:pt x="0" y="0"/>
                  </a:moveTo>
                  <a:lnTo>
                    <a:pt x="23255787" y="0"/>
                  </a:lnTo>
                  <a:lnTo>
                    <a:pt x="23255787" y="727880"/>
                  </a:lnTo>
                  <a:lnTo>
                    <a:pt x="0" y="727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2547" r="0" b="-57254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3255783" cy="68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77"/>
                </a:lnSpc>
              </a:pPr>
              <a:r>
                <a:rPr lang="en-US" sz="3868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Segunda Forma Normal: Eliminando Dependencias Parciales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5906" y="1746914"/>
            <a:ext cx="1310183" cy="54588"/>
            <a:chOff x="0" y="0"/>
            <a:chExt cx="1746910" cy="727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46885" cy="72771"/>
            </a:xfrm>
            <a:custGeom>
              <a:avLst/>
              <a:gdLst/>
              <a:ahLst/>
              <a:cxnLst/>
              <a:rect r="r" b="b" t="t" l="l"/>
              <a:pathLst>
                <a:path h="72771" w="1746885">
                  <a:moveTo>
                    <a:pt x="0" y="0"/>
                  </a:moveTo>
                  <a:lnTo>
                    <a:pt x="1746885" y="0"/>
                  </a:lnTo>
                  <a:lnTo>
                    <a:pt x="1746885" y="72771"/>
                  </a:lnTo>
                  <a:lnTo>
                    <a:pt x="0" y="727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43754" y="2072297"/>
            <a:ext cx="10125504" cy="2892190"/>
          </a:xfrm>
          <a:custGeom>
            <a:avLst/>
            <a:gdLst/>
            <a:ahLst/>
            <a:cxnLst/>
            <a:rect r="r" b="b" t="t" l="l"/>
            <a:pathLst>
              <a:path h="2892190" w="10125504">
                <a:moveTo>
                  <a:pt x="0" y="0"/>
                </a:moveTo>
                <a:lnTo>
                  <a:pt x="10125503" y="0"/>
                </a:lnTo>
                <a:lnTo>
                  <a:pt x="10125503" y="2892190"/>
                </a:lnTo>
                <a:lnTo>
                  <a:pt x="0" y="28921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3908" y="2412921"/>
            <a:ext cx="272958" cy="272958"/>
          </a:xfrm>
          <a:custGeom>
            <a:avLst/>
            <a:gdLst/>
            <a:ahLst/>
            <a:cxnLst/>
            <a:rect r="r" b="b" t="t" l="l"/>
            <a:pathLst>
              <a:path h="272958" w="272958">
                <a:moveTo>
                  <a:pt x="0" y="0"/>
                </a:moveTo>
                <a:lnTo>
                  <a:pt x="272958" y="0"/>
                </a:lnTo>
                <a:lnTo>
                  <a:pt x="272958" y="272958"/>
                </a:lnTo>
                <a:lnTo>
                  <a:pt x="0" y="272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70975" y="2358333"/>
            <a:ext cx="9348721" cy="382133"/>
            <a:chOff x="0" y="0"/>
            <a:chExt cx="12464961" cy="5095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64956" cy="509516"/>
            </a:xfrm>
            <a:custGeom>
              <a:avLst/>
              <a:gdLst/>
              <a:ahLst/>
              <a:cxnLst/>
              <a:rect r="r" b="b" t="t" l="l"/>
              <a:pathLst>
                <a:path h="509516" w="12464956">
                  <a:moveTo>
                    <a:pt x="0" y="0"/>
                  </a:moveTo>
                  <a:lnTo>
                    <a:pt x="12464956" y="0"/>
                  </a:lnTo>
                  <a:lnTo>
                    <a:pt x="12464956" y="509516"/>
                  </a:lnTo>
                  <a:lnTo>
                    <a:pt x="0" y="5095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6688" r="0" b="-42668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2464961" cy="5666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95"/>
                </a:lnSpc>
              </a:pPr>
              <a:r>
                <a:rPr lang="en-US" sz="2149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Requisitos de 2NF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9780" y="2958836"/>
            <a:ext cx="9662617" cy="709679"/>
            <a:chOff x="0" y="0"/>
            <a:chExt cx="12883490" cy="9462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83486" cy="946244"/>
            </a:xfrm>
            <a:custGeom>
              <a:avLst/>
              <a:gdLst/>
              <a:ahLst/>
              <a:cxnLst/>
              <a:rect r="r" b="b" t="t" l="l"/>
              <a:pathLst>
                <a:path h="946244" w="12883486">
                  <a:moveTo>
                    <a:pt x="0" y="0"/>
                  </a:moveTo>
                  <a:lnTo>
                    <a:pt x="12883486" y="0"/>
                  </a:lnTo>
                  <a:lnTo>
                    <a:pt x="12883486" y="946244"/>
                  </a:lnTo>
                  <a:lnTo>
                    <a:pt x="0" y="9462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5296" r="0" b="-21529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2883490" cy="1031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7"/>
                </a:lnSpc>
              </a:pPr>
              <a:r>
                <a:rPr lang="en-US" sz="171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Ningún atributo que no sea clave tiene una </a:t>
              </a:r>
              <a:r>
                <a:rPr lang="en-US" sz="1719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dependencia parcial</a:t>
              </a:r>
              <a:r>
                <a:rPr lang="en-US" sz="171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de la clave principal. Si la clave es compuesta, el atributo no clave debe depender de </a:t>
              </a:r>
              <a:r>
                <a:rPr lang="en-US" sz="1719">
                  <a:solidFill>
                    <a:srgbClr val="0984E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CADA columna </a:t>
              </a:r>
              <a:r>
                <a:rPr lang="en-US" sz="171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 esa clave compuesta.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9780" y="3886876"/>
            <a:ext cx="9553432" cy="791566"/>
            <a:chOff x="0" y="0"/>
            <a:chExt cx="12737910" cy="10554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737847" cy="1055370"/>
            </a:xfrm>
            <a:custGeom>
              <a:avLst/>
              <a:gdLst/>
              <a:ahLst/>
              <a:cxnLst/>
              <a:rect r="r" b="b" t="t" l="l"/>
              <a:pathLst>
                <a:path h="1055370" w="12737847">
                  <a:moveTo>
                    <a:pt x="145542" y="0"/>
                  </a:moveTo>
                  <a:lnTo>
                    <a:pt x="12592304" y="0"/>
                  </a:lnTo>
                  <a:cubicBezTo>
                    <a:pt x="12672695" y="0"/>
                    <a:pt x="12737847" y="65151"/>
                    <a:pt x="12737847" y="145542"/>
                  </a:cubicBezTo>
                  <a:lnTo>
                    <a:pt x="12737847" y="909828"/>
                  </a:lnTo>
                  <a:cubicBezTo>
                    <a:pt x="12737847" y="990219"/>
                    <a:pt x="12672695" y="1055370"/>
                    <a:pt x="12592304" y="1055370"/>
                  </a:cubicBezTo>
                  <a:lnTo>
                    <a:pt x="145542" y="1055370"/>
                  </a:lnTo>
                  <a:cubicBezTo>
                    <a:pt x="65151" y="1055370"/>
                    <a:pt x="0" y="990219"/>
                    <a:pt x="0" y="909828"/>
                  </a:cubicBezTo>
                  <a:lnTo>
                    <a:pt x="0" y="145542"/>
                  </a:lnTo>
                  <a:cubicBezTo>
                    <a:pt x="0" y="65278"/>
                    <a:pt x="65278" y="0"/>
                    <a:pt x="145542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075439" y="4159834"/>
            <a:ext cx="218361" cy="218361"/>
          </a:xfrm>
          <a:custGeom>
            <a:avLst/>
            <a:gdLst/>
            <a:ahLst/>
            <a:cxnLst/>
            <a:rect r="r" b="b" t="t" l="l"/>
            <a:pathLst>
              <a:path h="218361" w="218361">
                <a:moveTo>
                  <a:pt x="0" y="0"/>
                </a:moveTo>
                <a:lnTo>
                  <a:pt x="218361" y="0"/>
                </a:lnTo>
                <a:lnTo>
                  <a:pt x="218361" y="218361"/>
                </a:lnTo>
                <a:lnTo>
                  <a:pt x="0" y="2183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399327" y="4105246"/>
            <a:ext cx="8874709" cy="354844"/>
            <a:chOff x="0" y="0"/>
            <a:chExt cx="11832946" cy="47312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32948" cy="473122"/>
            </a:xfrm>
            <a:custGeom>
              <a:avLst/>
              <a:gdLst/>
              <a:ahLst/>
              <a:cxnLst/>
              <a:rect r="r" b="b" t="t" l="l"/>
              <a:pathLst>
                <a:path h="473122" w="11832948">
                  <a:moveTo>
                    <a:pt x="0" y="0"/>
                  </a:moveTo>
                  <a:lnTo>
                    <a:pt x="11832948" y="0"/>
                  </a:lnTo>
                  <a:lnTo>
                    <a:pt x="11832948" y="473122"/>
                  </a:lnTo>
                  <a:lnTo>
                    <a:pt x="0" y="4731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327" r="0" b="-43732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11832946" cy="5588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7"/>
                </a:lnSpc>
              </a:pPr>
              <a:r>
                <a:rPr lang="en-US" sz="171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Primero debe cumplirse 1NF antes de aplicar 2NF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73205" y="5180695"/>
            <a:ext cx="10099348" cy="3248168"/>
            <a:chOff x="0" y="0"/>
            <a:chExt cx="13465797" cy="43308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65809" cy="4330827"/>
            </a:xfrm>
            <a:custGeom>
              <a:avLst/>
              <a:gdLst/>
              <a:ahLst/>
              <a:cxnLst/>
              <a:rect r="r" b="b" t="t" l="l"/>
              <a:pathLst>
                <a:path h="4330827" w="13465809">
                  <a:moveTo>
                    <a:pt x="72771" y="0"/>
                  </a:moveTo>
                  <a:lnTo>
                    <a:pt x="13320268" y="0"/>
                  </a:lnTo>
                  <a:cubicBezTo>
                    <a:pt x="13400658" y="0"/>
                    <a:pt x="13465809" y="65151"/>
                    <a:pt x="13465809" y="145542"/>
                  </a:cubicBezTo>
                  <a:lnTo>
                    <a:pt x="13465809" y="4185285"/>
                  </a:lnTo>
                  <a:cubicBezTo>
                    <a:pt x="13465809" y="4265676"/>
                    <a:pt x="13400658" y="4330827"/>
                    <a:pt x="13320268" y="4330827"/>
                  </a:cubicBezTo>
                  <a:lnTo>
                    <a:pt x="72771" y="4330827"/>
                  </a:lnTo>
                  <a:cubicBezTo>
                    <a:pt x="32512" y="4330827"/>
                    <a:pt x="0" y="4298188"/>
                    <a:pt x="0" y="4258056"/>
                  </a:cubicBezTo>
                  <a:lnTo>
                    <a:pt x="0" y="72771"/>
                  </a:lnTo>
                  <a:cubicBezTo>
                    <a:pt x="0" y="32639"/>
                    <a:pt x="32639" y="0"/>
                    <a:pt x="72771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73205" y="5180695"/>
            <a:ext cx="54588" cy="3248168"/>
            <a:chOff x="0" y="0"/>
            <a:chExt cx="72784" cy="43308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771" cy="4330827"/>
            </a:xfrm>
            <a:custGeom>
              <a:avLst/>
              <a:gdLst/>
              <a:ahLst/>
              <a:cxnLst/>
              <a:rect r="r" b="b" t="t" l="l"/>
              <a:pathLst>
                <a:path h="4330827" w="72771">
                  <a:moveTo>
                    <a:pt x="72771" y="0"/>
                  </a:moveTo>
                  <a:lnTo>
                    <a:pt x="72771" y="4330827"/>
                  </a:lnTo>
                  <a:cubicBezTo>
                    <a:pt x="32512" y="4330827"/>
                    <a:pt x="0" y="4298188"/>
                    <a:pt x="0" y="4258056"/>
                  </a:cubicBezTo>
                  <a:lnTo>
                    <a:pt x="0" y="72771"/>
                  </a:lnTo>
                  <a:cubicBezTo>
                    <a:pt x="0" y="32639"/>
                    <a:pt x="32639" y="0"/>
                    <a:pt x="72771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907580" y="5521890"/>
            <a:ext cx="245659" cy="245659"/>
          </a:xfrm>
          <a:custGeom>
            <a:avLst/>
            <a:gdLst/>
            <a:ahLst/>
            <a:cxnLst/>
            <a:rect r="r" b="b" t="t" l="l"/>
            <a:pathLst>
              <a:path h="245659" w="245659">
                <a:moveTo>
                  <a:pt x="0" y="0"/>
                </a:moveTo>
                <a:lnTo>
                  <a:pt x="245659" y="0"/>
                </a:lnTo>
                <a:lnTo>
                  <a:pt x="245659" y="245659"/>
                </a:lnTo>
                <a:lnTo>
                  <a:pt x="0" y="2456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187358" y="5453653"/>
            <a:ext cx="9335072" cy="382133"/>
            <a:chOff x="0" y="0"/>
            <a:chExt cx="12446762" cy="5095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446758" cy="509516"/>
            </a:xfrm>
            <a:custGeom>
              <a:avLst/>
              <a:gdLst/>
              <a:ahLst/>
              <a:cxnLst/>
              <a:rect r="r" b="b" t="t" l="l"/>
              <a:pathLst>
                <a:path h="509516" w="12446758">
                  <a:moveTo>
                    <a:pt x="0" y="0"/>
                  </a:moveTo>
                  <a:lnTo>
                    <a:pt x="12446758" y="0"/>
                  </a:lnTo>
                  <a:lnTo>
                    <a:pt x="12446758" y="509516"/>
                  </a:lnTo>
                  <a:lnTo>
                    <a:pt x="0" y="5095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992" r="0" b="-42599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12446762" cy="585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18"/>
                </a:lnSpc>
              </a:pPr>
              <a:r>
                <a:rPr lang="en-US" sz="1935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Ejemplo de Violación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73452" y="5999559"/>
            <a:ext cx="9635319" cy="354842"/>
            <a:chOff x="0" y="0"/>
            <a:chExt cx="12847091" cy="47312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47092" cy="473118"/>
            </a:xfrm>
            <a:custGeom>
              <a:avLst/>
              <a:gdLst/>
              <a:ahLst/>
              <a:cxnLst/>
              <a:rect r="r" b="b" t="t" l="l"/>
              <a:pathLst>
                <a:path h="473118" w="12847092">
                  <a:moveTo>
                    <a:pt x="0" y="0"/>
                  </a:moveTo>
                  <a:lnTo>
                    <a:pt x="12847092" y="0"/>
                  </a:lnTo>
                  <a:lnTo>
                    <a:pt x="12847092" y="473118"/>
                  </a:lnTo>
                  <a:lnTo>
                    <a:pt x="0" y="473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9097" r="0" b="-47909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12847091" cy="5588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7"/>
                </a:lnSpc>
              </a:pPr>
              <a:r>
                <a:rPr lang="en-US" sz="171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Tabla de inventario con clave compuesta </a:t>
              </a:r>
              <a:r>
                <a:rPr lang="en-US" sz="1719">
                  <a:solidFill>
                    <a:srgbClr val="2D3436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(part, warehouse)</a:t>
              </a:r>
              <a:r>
                <a:rPr lang="en-US" sz="1719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</a:t>
              </a:r>
              <a:r>
                <a:rPr lang="en-US" sz="171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: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871299" y="6516014"/>
            <a:ext cx="9525000" cy="1117978"/>
          </a:xfrm>
          <a:custGeom>
            <a:avLst/>
            <a:gdLst/>
            <a:ahLst/>
            <a:cxnLst/>
            <a:rect r="r" b="b" t="t" l="l"/>
            <a:pathLst>
              <a:path h="1117978" w="9525000">
                <a:moveTo>
                  <a:pt x="0" y="0"/>
                </a:moveTo>
                <a:lnTo>
                  <a:pt x="9525000" y="0"/>
                </a:lnTo>
                <a:lnTo>
                  <a:pt x="9525000" y="1117978"/>
                </a:lnTo>
                <a:lnTo>
                  <a:pt x="0" y="11179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048150" y="6692865"/>
            <a:ext cx="4640237" cy="327546"/>
            <a:chOff x="0" y="0"/>
            <a:chExt cx="6186983" cy="4367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186986" cy="436728"/>
            </a:xfrm>
            <a:custGeom>
              <a:avLst/>
              <a:gdLst/>
              <a:ahLst/>
              <a:cxnLst/>
              <a:rect r="r" b="b" t="t" l="l"/>
              <a:pathLst>
                <a:path h="436728" w="6186986">
                  <a:moveTo>
                    <a:pt x="0" y="0"/>
                  </a:moveTo>
                  <a:lnTo>
                    <a:pt x="6186986" y="0"/>
                  </a:lnTo>
                  <a:lnTo>
                    <a:pt x="6186986" y="436728"/>
                  </a:lnTo>
                  <a:lnTo>
                    <a:pt x="0" y="4367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6186983" cy="50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1"/>
                </a:lnSpc>
              </a:pPr>
              <a:r>
                <a:rPr lang="en-US" sz="1719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part:</a:t>
              </a:r>
              <a:r>
                <a:rPr lang="en-US" sz="171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Pieza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690092" y="6692865"/>
            <a:ext cx="4640237" cy="327546"/>
            <a:chOff x="0" y="0"/>
            <a:chExt cx="6186983" cy="4367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86986" cy="436728"/>
            </a:xfrm>
            <a:custGeom>
              <a:avLst/>
              <a:gdLst/>
              <a:ahLst/>
              <a:cxnLst/>
              <a:rect r="r" b="b" t="t" l="l"/>
              <a:pathLst>
                <a:path h="436728" w="6186986">
                  <a:moveTo>
                    <a:pt x="0" y="0"/>
                  </a:moveTo>
                  <a:lnTo>
                    <a:pt x="6186986" y="0"/>
                  </a:lnTo>
                  <a:lnTo>
                    <a:pt x="6186986" y="436728"/>
                  </a:lnTo>
                  <a:lnTo>
                    <a:pt x="0" y="4367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6186983" cy="50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1"/>
                </a:lnSpc>
              </a:pPr>
              <a:r>
                <a:rPr lang="en-US" sz="1719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warehouse:</a:t>
              </a:r>
              <a:r>
                <a:rPr lang="en-US" sz="171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Almacén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48150" y="7129596"/>
            <a:ext cx="4640237" cy="327546"/>
            <a:chOff x="0" y="0"/>
            <a:chExt cx="6186983" cy="4367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186986" cy="436728"/>
            </a:xfrm>
            <a:custGeom>
              <a:avLst/>
              <a:gdLst/>
              <a:ahLst/>
              <a:cxnLst/>
              <a:rect r="r" b="b" t="t" l="l"/>
              <a:pathLst>
                <a:path h="436728" w="6186986">
                  <a:moveTo>
                    <a:pt x="0" y="0"/>
                  </a:moveTo>
                  <a:lnTo>
                    <a:pt x="6186986" y="0"/>
                  </a:lnTo>
                  <a:lnTo>
                    <a:pt x="6186986" y="436728"/>
                  </a:lnTo>
                  <a:lnTo>
                    <a:pt x="0" y="4367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6186983" cy="50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1"/>
                </a:lnSpc>
              </a:pPr>
              <a:r>
                <a:rPr lang="en-US" sz="1719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quantity:</a:t>
              </a:r>
              <a:r>
                <a:rPr lang="en-US" sz="171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Cantidad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690092" y="7129596"/>
            <a:ext cx="4640237" cy="327546"/>
            <a:chOff x="0" y="0"/>
            <a:chExt cx="6186983" cy="4367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186986" cy="436728"/>
            </a:xfrm>
            <a:custGeom>
              <a:avLst/>
              <a:gdLst/>
              <a:ahLst/>
              <a:cxnLst/>
              <a:rect r="r" b="b" t="t" l="l"/>
              <a:pathLst>
                <a:path h="436728" w="6186986">
                  <a:moveTo>
                    <a:pt x="0" y="0"/>
                  </a:moveTo>
                  <a:lnTo>
                    <a:pt x="6186986" y="0"/>
                  </a:lnTo>
                  <a:lnTo>
                    <a:pt x="6186986" y="436728"/>
                  </a:lnTo>
                  <a:lnTo>
                    <a:pt x="0" y="4367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038" r="0" b="-22603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6186983" cy="50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1"/>
                </a:lnSpc>
              </a:pPr>
              <a:r>
                <a:rPr lang="en-US" sz="1719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warehouse_address:</a:t>
              </a:r>
              <a:r>
                <a:rPr lang="en-US" sz="171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Dirección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73452" y="7795603"/>
            <a:ext cx="9635319" cy="354844"/>
            <a:chOff x="0" y="0"/>
            <a:chExt cx="12847091" cy="47312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847092" cy="473122"/>
            </a:xfrm>
            <a:custGeom>
              <a:avLst/>
              <a:gdLst/>
              <a:ahLst/>
              <a:cxnLst/>
              <a:rect r="r" b="b" t="t" l="l"/>
              <a:pathLst>
                <a:path h="473122" w="12847092">
                  <a:moveTo>
                    <a:pt x="0" y="0"/>
                  </a:moveTo>
                  <a:lnTo>
                    <a:pt x="12847092" y="0"/>
                  </a:lnTo>
                  <a:lnTo>
                    <a:pt x="12847092" y="473122"/>
                  </a:lnTo>
                  <a:lnTo>
                    <a:pt x="0" y="4731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9093" r="0" b="-47909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85725"/>
              <a:ext cx="12847091" cy="5588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7"/>
                </a:lnSpc>
              </a:pPr>
              <a:r>
                <a:rPr lang="en-US" sz="1719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Problema:</a:t>
              </a:r>
              <a:r>
                <a:rPr lang="en-US" sz="1719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warehouse_address </a:t>
              </a:r>
              <a:r>
                <a:rPr lang="en-US" sz="171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depende solo de </a:t>
              </a:r>
              <a:r>
                <a:rPr lang="en-US" sz="1719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warehouse </a:t>
              </a:r>
              <a:r>
                <a:rPr lang="en-US" sz="171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, no de toda la clave compuesta.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10996060" y="2072297"/>
            <a:ext cx="6754501" cy="4611805"/>
          </a:xfrm>
          <a:custGeom>
            <a:avLst/>
            <a:gdLst/>
            <a:ahLst/>
            <a:cxnLst/>
            <a:rect r="r" b="b" t="t" l="l"/>
            <a:pathLst>
              <a:path h="4611805" w="6754501">
                <a:moveTo>
                  <a:pt x="0" y="0"/>
                </a:moveTo>
                <a:lnTo>
                  <a:pt x="6754501" y="0"/>
                </a:lnTo>
                <a:lnTo>
                  <a:pt x="6754501" y="4611805"/>
                </a:lnTo>
                <a:lnTo>
                  <a:pt x="0" y="461180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1316214" y="2426570"/>
            <a:ext cx="245659" cy="245659"/>
          </a:xfrm>
          <a:custGeom>
            <a:avLst/>
            <a:gdLst/>
            <a:ahLst/>
            <a:cxnLst/>
            <a:rect r="r" b="b" t="t" l="l"/>
            <a:pathLst>
              <a:path h="245659" w="245659">
                <a:moveTo>
                  <a:pt x="0" y="0"/>
                </a:moveTo>
                <a:lnTo>
                  <a:pt x="245660" y="0"/>
                </a:lnTo>
                <a:lnTo>
                  <a:pt x="245660" y="245659"/>
                </a:lnTo>
                <a:lnTo>
                  <a:pt x="0" y="24565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1595992" y="2358333"/>
            <a:ext cx="5991368" cy="382133"/>
            <a:chOff x="0" y="0"/>
            <a:chExt cx="7988490" cy="5095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988490" cy="509516"/>
            </a:xfrm>
            <a:custGeom>
              <a:avLst/>
              <a:gdLst/>
              <a:ahLst/>
              <a:cxnLst/>
              <a:rect r="r" b="b" t="t" l="l"/>
              <a:pathLst>
                <a:path h="509516" w="7988490">
                  <a:moveTo>
                    <a:pt x="0" y="0"/>
                  </a:moveTo>
                  <a:lnTo>
                    <a:pt x="7988490" y="0"/>
                  </a:lnTo>
                  <a:lnTo>
                    <a:pt x="7988490" y="509516"/>
                  </a:lnTo>
                  <a:lnTo>
                    <a:pt x="0" y="5095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498" r="0" b="-25549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7988490" cy="585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18"/>
                </a:lnSpc>
              </a:pPr>
              <a:r>
                <a:rPr lang="en-US" sz="1935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Riesgos de la Violación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309385" y="2958836"/>
            <a:ext cx="6155141" cy="1037234"/>
            <a:chOff x="0" y="0"/>
            <a:chExt cx="8206854" cy="138297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206867" cy="1382903"/>
            </a:xfrm>
            <a:custGeom>
              <a:avLst/>
              <a:gdLst/>
              <a:ahLst/>
              <a:cxnLst/>
              <a:rect r="r" b="b" t="t" l="l"/>
              <a:pathLst>
                <a:path h="1382903" w="8206867">
                  <a:moveTo>
                    <a:pt x="72771" y="0"/>
                  </a:moveTo>
                  <a:lnTo>
                    <a:pt x="8061325" y="0"/>
                  </a:lnTo>
                  <a:cubicBezTo>
                    <a:pt x="8141716" y="0"/>
                    <a:pt x="8206867" y="65151"/>
                    <a:pt x="8206867" y="145542"/>
                  </a:cubicBezTo>
                  <a:lnTo>
                    <a:pt x="8206867" y="1237361"/>
                  </a:lnTo>
                  <a:cubicBezTo>
                    <a:pt x="8206867" y="1317752"/>
                    <a:pt x="8141716" y="1382903"/>
                    <a:pt x="8061325" y="1382903"/>
                  </a:cubicBezTo>
                  <a:lnTo>
                    <a:pt x="72771" y="1382903"/>
                  </a:lnTo>
                  <a:cubicBezTo>
                    <a:pt x="32512" y="1382903"/>
                    <a:pt x="0" y="1350264"/>
                    <a:pt x="0" y="1310132"/>
                  </a:cubicBezTo>
                  <a:lnTo>
                    <a:pt x="0" y="72771"/>
                  </a:lnTo>
                  <a:cubicBezTo>
                    <a:pt x="0" y="32639"/>
                    <a:pt x="32639" y="0"/>
                    <a:pt x="72771" y="0"/>
                  </a:cubicBezTo>
                  <a:close/>
                </a:path>
              </a:pathLst>
            </a:custGeom>
            <a:solidFill>
              <a:srgbClr val="FEF2F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309385" y="2958836"/>
            <a:ext cx="54588" cy="1037234"/>
            <a:chOff x="0" y="0"/>
            <a:chExt cx="72784" cy="138297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2771" cy="1383030"/>
            </a:xfrm>
            <a:custGeom>
              <a:avLst/>
              <a:gdLst/>
              <a:ahLst/>
              <a:cxnLst/>
              <a:rect r="r" b="b" t="t" l="l"/>
              <a:pathLst>
                <a:path h="1383030" w="72771">
                  <a:moveTo>
                    <a:pt x="72771" y="0"/>
                  </a:moveTo>
                  <a:lnTo>
                    <a:pt x="72771" y="1383030"/>
                  </a:lnTo>
                  <a:cubicBezTo>
                    <a:pt x="32512" y="1383030"/>
                    <a:pt x="0" y="1350391"/>
                    <a:pt x="0" y="1310259"/>
                  </a:cubicBezTo>
                  <a:lnTo>
                    <a:pt x="0" y="72771"/>
                  </a:lnTo>
                  <a:cubicBezTo>
                    <a:pt x="0" y="32639"/>
                    <a:pt x="32639" y="0"/>
                    <a:pt x="72771" y="0"/>
                  </a:cubicBezTo>
                  <a:close/>
                </a:path>
              </a:pathLst>
            </a:custGeom>
            <a:solidFill>
              <a:srgbClr val="FB2C36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500456" y="3122609"/>
            <a:ext cx="5909481" cy="709679"/>
            <a:chOff x="0" y="0"/>
            <a:chExt cx="7879309" cy="94623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879308" cy="946244"/>
            </a:xfrm>
            <a:custGeom>
              <a:avLst/>
              <a:gdLst/>
              <a:ahLst/>
              <a:cxnLst/>
              <a:rect r="r" b="b" t="t" l="l"/>
              <a:pathLst>
                <a:path h="946244" w="7879308">
                  <a:moveTo>
                    <a:pt x="0" y="0"/>
                  </a:moveTo>
                  <a:lnTo>
                    <a:pt x="7879308" y="0"/>
                  </a:lnTo>
                  <a:lnTo>
                    <a:pt x="7879308" y="946244"/>
                  </a:lnTo>
                  <a:lnTo>
                    <a:pt x="0" y="9462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250" r="0" b="-11225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85725"/>
              <a:ext cx="7879309" cy="1031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7"/>
                </a:lnSpc>
              </a:pPr>
              <a:r>
                <a:rPr lang="en-US" sz="1719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Redundancia:</a:t>
              </a:r>
              <a:r>
                <a:rPr lang="en-US" sz="171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La dirección aparece cada vez que aparece una pieza del mismo almacén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309385" y="4159834"/>
            <a:ext cx="6155141" cy="1037234"/>
            <a:chOff x="0" y="0"/>
            <a:chExt cx="8206854" cy="138297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206867" cy="1382903"/>
            </a:xfrm>
            <a:custGeom>
              <a:avLst/>
              <a:gdLst/>
              <a:ahLst/>
              <a:cxnLst/>
              <a:rect r="r" b="b" t="t" l="l"/>
              <a:pathLst>
                <a:path h="1382903" w="8206867">
                  <a:moveTo>
                    <a:pt x="72771" y="0"/>
                  </a:moveTo>
                  <a:lnTo>
                    <a:pt x="8061325" y="0"/>
                  </a:lnTo>
                  <a:cubicBezTo>
                    <a:pt x="8141716" y="0"/>
                    <a:pt x="8206867" y="65151"/>
                    <a:pt x="8206867" y="145542"/>
                  </a:cubicBezTo>
                  <a:lnTo>
                    <a:pt x="8206867" y="1237361"/>
                  </a:lnTo>
                  <a:cubicBezTo>
                    <a:pt x="8206867" y="1317752"/>
                    <a:pt x="8141716" y="1382903"/>
                    <a:pt x="8061325" y="1382903"/>
                  </a:cubicBezTo>
                  <a:lnTo>
                    <a:pt x="72771" y="1382903"/>
                  </a:lnTo>
                  <a:cubicBezTo>
                    <a:pt x="32512" y="1382903"/>
                    <a:pt x="0" y="1350264"/>
                    <a:pt x="0" y="1310132"/>
                  </a:cubicBezTo>
                  <a:lnTo>
                    <a:pt x="0" y="72771"/>
                  </a:lnTo>
                  <a:cubicBezTo>
                    <a:pt x="0" y="32639"/>
                    <a:pt x="32639" y="0"/>
                    <a:pt x="72771" y="0"/>
                  </a:cubicBezTo>
                  <a:close/>
                </a:path>
              </a:pathLst>
            </a:custGeom>
            <a:solidFill>
              <a:srgbClr val="FEF2F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309385" y="4159834"/>
            <a:ext cx="54588" cy="1037234"/>
            <a:chOff x="0" y="0"/>
            <a:chExt cx="72784" cy="138297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2771" cy="1383030"/>
            </a:xfrm>
            <a:custGeom>
              <a:avLst/>
              <a:gdLst/>
              <a:ahLst/>
              <a:cxnLst/>
              <a:rect r="r" b="b" t="t" l="l"/>
              <a:pathLst>
                <a:path h="1383030" w="72771">
                  <a:moveTo>
                    <a:pt x="72771" y="0"/>
                  </a:moveTo>
                  <a:lnTo>
                    <a:pt x="72771" y="1383030"/>
                  </a:lnTo>
                  <a:cubicBezTo>
                    <a:pt x="32512" y="1383030"/>
                    <a:pt x="0" y="1350391"/>
                    <a:pt x="0" y="1310259"/>
                  </a:cubicBezTo>
                  <a:lnTo>
                    <a:pt x="0" y="72771"/>
                  </a:lnTo>
                  <a:cubicBezTo>
                    <a:pt x="0" y="32639"/>
                    <a:pt x="32639" y="0"/>
                    <a:pt x="72771" y="0"/>
                  </a:cubicBezTo>
                  <a:close/>
                </a:path>
              </a:pathLst>
            </a:custGeom>
            <a:solidFill>
              <a:srgbClr val="FB2C36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500456" y="4323607"/>
            <a:ext cx="5909481" cy="709679"/>
            <a:chOff x="0" y="0"/>
            <a:chExt cx="7879309" cy="94623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879308" cy="946244"/>
            </a:xfrm>
            <a:custGeom>
              <a:avLst/>
              <a:gdLst/>
              <a:ahLst/>
              <a:cxnLst/>
              <a:rect r="r" b="b" t="t" l="l"/>
              <a:pathLst>
                <a:path h="946244" w="7879308">
                  <a:moveTo>
                    <a:pt x="0" y="0"/>
                  </a:moveTo>
                  <a:lnTo>
                    <a:pt x="7879308" y="0"/>
                  </a:lnTo>
                  <a:lnTo>
                    <a:pt x="7879308" y="946244"/>
                  </a:lnTo>
                  <a:lnTo>
                    <a:pt x="0" y="9462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250" r="0" b="-11225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85725"/>
              <a:ext cx="7879309" cy="1031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7"/>
                </a:lnSpc>
              </a:pPr>
              <a:r>
                <a:rPr lang="en-US" sz="1719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Errores de actualización:</a:t>
              </a:r>
              <a:r>
                <a:rPr lang="en-US" sz="171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Si la dirección se actualiza en una fila y no en otras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309385" y="5360841"/>
            <a:ext cx="6155141" cy="1037234"/>
            <a:chOff x="0" y="0"/>
            <a:chExt cx="8206854" cy="138297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206867" cy="1382903"/>
            </a:xfrm>
            <a:custGeom>
              <a:avLst/>
              <a:gdLst/>
              <a:ahLst/>
              <a:cxnLst/>
              <a:rect r="r" b="b" t="t" l="l"/>
              <a:pathLst>
                <a:path h="1382903" w="8206867">
                  <a:moveTo>
                    <a:pt x="72771" y="0"/>
                  </a:moveTo>
                  <a:lnTo>
                    <a:pt x="8061325" y="0"/>
                  </a:lnTo>
                  <a:cubicBezTo>
                    <a:pt x="8141716" y="0"/>
                    <a:pt x="8206867" y="65151"/>
                    <a:pt x="8206867" y="145542"/>
                  </a:cubicBezTo>
                  <a:lnTo>
                    <a:pt x="8206867" y="1237361"/>
                  </a:lnTo>
                  <a:cubicBezTo>
                    <a:pt x="8206867" y="1317752"/>
                    <a:pt x="8141716" y="1382903"/>
                    <a:pt x="8061325" y="1382903"/>
                  </a:cubicBezTo>
                  <a:lnTo>
                    <a:pt x="72771" y="1382903"/>
                  </a:lnTo>
                  <a:cubicBezTo>
                    <a:pt x="32512" y="1382903"/>
                    <a:pt x="0" y="1350264"/>
                    <a:pt x="0" y="1310132"/>
                  </a:cubicBezTo>
                  <a:lnTo>
                    <a:pt x="0" y="72771"/>
                  </a:lnTo>
                  <a:cubicBezTo>
                    <a:pt x="0" y="32639"/>
                    <a:pt x="32639" y="0"/>
                    <a:pt x="72771" y="0"/>
                  </a:cubicBezTo>
                  <a:close/>
                </a:path>
              </a:pathLst>
            </a:custGeom>
            <a:solidFill>
              <a:srgbClr val="FEF2F2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309385" y="5360841"/>
            <a:ext cx="54588" cy="1037234"/>
            <a:chOff x="0" y="0"/>
            <a:chExt cx="72784" cy="138297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2771" cy="1383030"/>
            </a:xfrm>
            <a:custGeom>
              <a:avLst/>
              <a:gdLst/>
              <a:ahLst/>
              <a:cxnLst/>
              <a:rect r="r" b="b" t="t" l="l"/>
              <a:pathLst>
                <a:path h="1383030" w="72771">
                  <a:moveTo>
                    <a:pt x="72771" y="0"/>
                  </a:moveTo>
                  <a:lnTo>
                    <a:pt x="72771" y="1383030"/>
                  </a:lnTo>
                  <a:cubicBezTo>
                    <a:pt x="32512" y="1383030"/>
                    <a:pt x="0" y="1350391"/>
                    <a:pt x="0" y="1310259"/>
                  </a:cubicBezTo>
                  <a:lnTo>
                    <a:pt x="0" y="72771"/>
                  </a:lnTo>
                  <a:cubicBezTo>
                    <a:pt x="0" y="32639"/>
                    <a:pt x="32639" y="0"/>
                    <a:pt x="72771" y="0"/>
                  </a:cubicBezTo>
                  <a:close/>
                </a:path>
              </a:pathLst>
            </a:custGeom>
            <a:solidFill>
              <a:srgbClr val="FB2C3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500456" y="5524614"/>
            <a:ext cx="5909481" cy="709679"/>
            <a:chOff x="0" y="0"/>
            <a:chExt cx="7879309" cy="94623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879308" cy="946244"/>
            </a:xfrm>
            <a:custGeom>
              <a:avLst/>
              <a:gdLst/>
              <a:ahLst/>
              <a:cxnLst/>
              <a:rect r="r" b="b" t="t" l="l"/>
              <a:pathLst>
                <a:path h="946244" w="7879308">
                  <a:moveTo>
                    <a:pt x="0" y="0"/>
                  </a:moveTo>
                  <a:lnTo>
                    <a:pt x="7879308" y="0"/>
                  </a:lnTo>
                  <a:lnTo>
                    <a:pt x="7879308" y="946244"/>
                  </a:lnTo>
                  <a:lnTo>
                    <a:pt x="0" y="9462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250" r="0" b="-11225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85725"/>
              <a:ext cx="7879309" cy="1031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7"/>
                </a:lnSpc>
              </a:pPr>
              <a:r>
                <a:rPr lang="en-US" sz="1719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Errores de eliminación:</a:t>
              </a:r>
              <a:r>
                <a:rPr lang="en-US" sz="1719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Si un almacén deja de almacenar piezas, se eliminaría también la dirección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998222" y="6900320"/>
            <a:ext cx="6755644" cy="3258896"/>
            <a:chOff x="0" y="0"/>
            <a:chExt cx="9007526" cy="434519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007475" cy="4345158"/>
            </a:xfrm>
            <a:custGeom>
              <a:avLst/>
              <a:gdLst/>
              <a:ahLst/>
              <a:cxnLst/>
              <a:rect r="r" b="b" t="t" l="l"/>
              <a:pathLst>
                <a:path h="4345158" w="9007475">
                  <a:moveTo>
                    <a:pt x="145542" y="0"/>
                  </a:moveTo>
                  <a:lnTo>
                    <a:pt x="8861933" y="0"/>
                  </a:lnTo>
                  <a:cubicBezTo>
                    <a:pt x="8942324" y="0"/>
                    <a:pt x="9007475" y="62731"/>
                    <a:pt x="9007475" y="140135"/>
                  </a:cubicBezTo>
                  <a:lnTo>
                    <a:pt x="9007475" y="4205023"/>
                  </a:lnTo>
                  <a:cubicBezTo>
                    <a:pt x="9007475" y="4282427"/>
                    <a:pt x="8942324" y="4345158"/>
                    <a:pt x="8861933" y="4345158"/>
                  </a:cubicBezTo>
                  <a:lnTo>
                    <a:pt x="145542" y="4345158"/>
                  </a:lnTo>
                  <a:cubicBezTo>
                    <a:pt x="65151" y="4345158"/>
                    <a:pt x="0" y="4282427"/>
                    <a:pt x="0" y="4205023"/>
                  </a:cubicBezTo>
                  <a:lnTo>
                    <a:pt x="0" y="140135"/>
                  </a:lnTo>
                  <a:cubicBezTo>
                    <a:pt x="0" y="62731"/>
                    <a:pt x="65151" y="0"/>
                    <a:pt x="145542" y="0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79" id="79"/>
          <p:cNvSpPr/>
          <p:nvPr/>
        </p:nvSpPr>
        <p:spPr>
          <a:xfrm flipH="false" flipV="false" rot="0">
            <a:off x="11335998" y="7241505"/>
            <a:ext cx="184242" cy="245659"/>
          </a:xfrm>
          <a:custGeom>
            <a:avLst/>
            <a:gdLst/>
            <a:ahLst/>
            <a:cxnLst/>
            <a:rect r="r" b="b" t="t" l="l"/>
            <a:pathLst>
              <a:path h="245659" w="184242">
                <a:moveTo>
                  <a:pt x="0" y="0"/>
                </a:moveTo>
                <a:lnTo>
                  <a:pt x="184242" y="0"/>
                </a:lnTo>
                <a:lnTo>
                  <a:pt x="184242" y="245659"/>
                </a:lnTo>
                <a:lnTo>
                  <a:pt x="0" y="24565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1585077" y="7173268"/>
            <a:ext cx="6018667" cy="382133"/>
            <a:chOff x="0" y="0"/>
            <a:chExt cx="8024889" cy="50951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024884" cy="509516"/>
            </a:xfrm>
            <a:custGeom>
              <a:avLst/>
              <a:gdLst/>
              <a:ahLst/>
              <a:cxnLst/>
              <a:rect r="r" b="b" t="t" l="l"/>
              <a:pathLst>
                <a:path h="509516" w="8024884">
                  <a:moveTo>
                    <a:pt x="0" y="0"/>
                  </a:moveTo>
                  <a:lnTo>
                    <a:pt x="8024884" y="0"/>
                  </a:lnTo>
                  <a:lnTo>
                    <a:pt x="8024884" y="509516"/>
                  </a:lnTo>
                  <a:lnTo>
                    <a:pt x="0" y="5095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890" r="0" b="-25688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76200"/>
              <a:ext cx="8024889" cy="5857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18"/>
                </a:lnSpc>
              </a:pPr>
              <a:r>
                <a:rPr lang="en-US" sz="1935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Solución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309385" y="7660176"/>
            <a:ext cx="6209729" cy="1037234"/>
            <a:chOff x="0" y="0"/>
            <a:chExt cx="8279638" cy="138297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279638" cy="1382903"/>
            </a:xfrm>
            <a:custGeom>
              <a:avLst/>
              <a:gdLst/>
              <a:ahLst/>
              <a:cxnLst/>
              <a:rect r="r" b="b" t="t" l="l"/>
              <a:pathLst>
                <a:path h="1382903" w="8279638">
                  <a:moveTo>
                    <a:pt x="145542" y="0"/>
                  </a:moveTo>
                  <a:lnTo>
                    <a:pt x="8134096" y="0"/>
                  </a:lnTo>
                  <a:cubicBezTo>
                    <a:pt x="8214487" y="0"/>
                    <a:pt x="8279638" y="65151"/>
                    <a:pt x="8279638" y="145542"/>
                  </a:cubicBezTo>
                  <a:lnTo>
                    <a:pt x="8279638" y="1237361"/>
                  </a:lnTo>
                  <a:cubicBezTo>
                    <a:pt x="8279638" y="1317752"/>
                    <a:pt x="8214487" y="1382903"/>
                    <a:pt x="8134096" y="1382903"/>
                  </a:cubicBezTo>
                  <a:lnTo>
                    <a:pt x="145542" y="1382903"/>
                  </a:lnTo>
                  <a:cubicBezTo>
                    <a:pt x="65151" y="1383030"/>
                    <a:pt x="0" y="1317752"/>
                    <a:pt x="0" y="1237361"/>
                  </a:cubicBezTo>
                  <a:lnTo>
                    <a:pt x="0" y="145542"/>
                  </a:lnTo>
                  <a:cubicBezTo>
                    <a:pt x="0" y="65151"/>
                    <a:pt x="65151" y="0"/>
                    <a:pt x="145542" y="0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473158" y="7823949"/>
            <a:ext cx="5991368" cy="327546"/>
            <a:chOff x="0" y="0"/>
            <a:chExt cx="7988490" cy="43672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988490" cy="436728"/>
            </a:xfrm>
            <a:custGeom>
              <a:avLst/>
              <a:gdLst/>
              <a:ahLst/>
              <a:cxnLst/>
              <a:rect r="r" b="b" t="t" l="l"/>
              <a:pathLst>
                <a:path h="436728" w="7988490">
                  <a:moveTo>
                    <a:pt x="0" y="0"/>
                  </a:moveTo>
                  <a:lnTo>
                    <a:pt x="7988490" y="0"/>
                  </a:lnTo>
                  <a:lnTo>
                    <a:pt x="7988490" y="436728"/>
                  </a:lnTo>
                  <a:lnTo>
                    <a:pt x="0" y="4367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414" r="0" b="-30641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66675"/>
              <a:ext cx="7988490" cy="50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1"/>
                </a:lnSpc>
              </a:pPr>
              <a:r>
                <a:rPr lang="en-US" sz="171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TABLA 1: Inventario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473158" y="8206083"/>
            <a:ext cx="5991368" cy="327546"/>
            <a:chOff x="0" y="0"/>
            <a:chExt cx="7988490" cy="43672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988490" cy="436728"/>
            </a:xfrm>
            <a:custGeom>
              <a:avLst/>
              <a:gdLst/>
              <a:ahLst/>
              <a:cxnLst/>
              <a:rect r="r" b="b" t="t" l="l"/>
              <a:pathLst>
                <a:path h="436728" w="7988490">
                  <a:moveTo>
                    <a:pt x="0" y="0"/>
                  </a:moveTo>
                  <a:lnTo>
                    <a:pt x="7988490" y="0"/>
                  </a:lnTo>
                  <a:lnTo>
                    <a:pt x="7988490" y="436728"/>
                  </a:lnTo>
                  <a:lnTo>
                    <a:pt x="0" y="4367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414" r="0" b="-306414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66675"/>
              <a:ext cx="7988490" cy="50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1"/>
                </a:lnSpc>
              </a:pPr>
              <a:r>
                <a:rPr lang="en-US" sz="1719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part, warehouse, quantity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309385" y="8861184"/>
            <a:ext cx="6209729" cy="1037234"/>
            <a:chOff x="0" y="0"/>
            <a:chExt cx="8279638" cy="138297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279638" cy="1382903"/>
            </a:xfrm>
            <a:custGeom>
              <a:avLst/>
              <a:gdLst/>
              <a:ahLst/>
              <a:cxnLst/>
              <a:rect r="r" b="b" t="t" l="l"/>
              <a:pathLst>
                <a:path h="1382903" w="8279638">
                  <a:moveTo>
                    <a:pt x="145542" y="0"/>
                  </a:moveTo>
                  <a:lnTo>
                    <a:pt x="8134096" y="0"/>
                  </a:lnTo>
                  <a:cubicBezTo>
                    <a:pt x="8214487" y="0"/>
                    <a:pt x="8279638" y="65151"/>
                    <a:pt x="8279638" y="145542"/>
                  </a:cubicBezTo>
                  <a:lnTo>
                    <a:pt x="8279638" y="1237361"/>
                  </a:lnTo>
                  <a:cubicBezTo>
                    <a:pt x="8279638" y="1317752"/>
                    <a:pt x="8214487" y="1382903"/>
                    <a:pt x="8134096" y="1382903"/>
                  </a:cubicBezTo>
                  <a:lnTo>
                    <a:pt x="145542" y="1382903"/>
                  </a:lnTo>
                  <a:cubicBezTo>
                    <a:pt x="65151" y="1383030"/>
                    <a:pt x="0" y="1317752"/>
                    <a:pt x="0" y="1237361"/>
                  </a:cubicBezTo>
                  <a:lnTo>
                    <a:pt x="0" y="145542"/>
                  </a:lnTo>
                  <a:cubicBezTo>
                    <a:pt x="0" y="65151"/>
                    <a:pt x="65151" y="0"/>
                    <a:pt x="145542" y="0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1473158" y="9024957"/>
            <a:ext cx="5991368" cy="327546"/>
            <a:chOff x="0" y="0"/>
            <a:chExt cx="7988490" cy="43672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988490" cy="436728"/>
            </a:xfrm>
            <a:custGeom>
              <a:avLst/>
              <a:gdLst/>
              <a:ahLst/>
              <a:cxnLst/>
              <a:rect r="r" b="b" t="t" l="l"/>
              <a:pathLst>
                <a:path h="436728" w="7988490">
                  <a:moveTo>
                    <a:pt x="0" y="0"/>
                  </a:moveTo>
                  <a:lnTo>
                    <a:pt x="7988490" y="0"/>
                  </a:lnTo>
                  <a:lnTo>
                    <a:pt x="7988490" y="436728"/>
                  </a:lnTo>
                  <a:lnTo>
                    <a:pt x="0" y="4367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414" r="0" b="-306414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66675"/>
              <a:ext cx="7988490" cy="50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1"/>
                </a:lnSpc>
              </a:pPr>
              <a:r>
                <a:rPr lang="en-US" sz="171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TABLA 2: Almacenes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1473158" y="9407090"/>
            <a:ext cx="5991368" cy="327546"/>
            <a:chOff x="0" y="0"/>
            <a:chExt cx="7988490" cy="43672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988490" cy="436728"/>
            </a:xfrm>
            <a:custGeom>
              <a:avLst/>
              <a:gdLst/>
              <a:ahLst/>
              <a:cxnLst/>
              <a:rect r="r" b="b" t="t" l="l"/>
              <a:pathLst>
                <a:path h="436728" w="7988490">
                  <a:moveTo>
                    <a:pt x="0" y="0"/>
                  </a:moveTo>
                  <a:lnTo>
                    <a:pt x="7988490" y="0"/>
                  </a:lnTo>
                  <a:lnTo>
                    <a:pt x="7988490" y="436728"/>
                  </a:lnTo>
                  <a:lnTo>
                    <a:pt x="0" y="4367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6414" r="0" b="-30641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66675"/>
              <a:ext cx="7988490" cy="50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1"/>
                </a:lnSpc>
              </a:pPr>
              <a:r>
                <a:rPr lang="en-US" sz="1719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warehouse, warehouse_address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149" y="504149"/>
            <a:ext cx="17380534" cy="302485"/>
            <a:chOff x="0" y="0"/>
            <a:chExt cx="23174046" cy="403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74041" cy="403320"/>
            </a:xfrm>
            <a:custGeom>
              <a:avLst/>
              <a:gdLst/>
              <a:ahLst/>
              <a:cxnLst/>
              <a:rect r="r" b="b" t="t" l="l"/>
              <a:pathLst>
                <a:path h="403320" w="23174041">
                  <a:moveTo>
                    <a:pt x="0" y="0"/>
                  </a:moveTo>
                  <a:lnTo>
                    <a:pt x="23174041" y="0"/>
                  </a:lnTo>
                  <a:lnTo>
                    <a:pt x="23174041" y="403320"/>
                  </a:lnTo>
                  <a:lnTo>
                    <a:pt x="0" y="403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9576" r="0" b="-106957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174046" cy="460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8"/>
                </a:lnSpc>
              </a:pPr>
              <a:r>
                <a:rPr lang="en-US" b="true" sz="1588" spc="79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3NF Y BCNF - TERCERA FORMA NORMAL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4149" y="907466"/>
            <a:ext cx="17506569" cy="504149"/>
            <a:chOff x="0" y="0"/>
            <a:chExt cx="23342092" cy="6721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42092" cy="672198"/>
            </a:xfrm>
            <a:custGeom>
              <a:avLst/>
              <a:gdLst/>
              <a:ahLst/>
              <a:cxnLst/>
              <a:rect r="r" b="b" t="t" l="l"/>
              <a:pathLst>
                <a:path h="672198" w="23342092">
                  <a:moveTo>
                    <a:pt x="0" y="0"/>
                  </a:moveTo>
                  <a:lnTo>
                    <a:pt x="23342092" y="0"/>
                  </a:lnTo>
                  <a:lnTo>
                    <a:pt x="23342092" y="672198"/>
                  </a:lnTo>
                  <a:lnTo>
                    <a:pt x="0" y="6721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6618" r="0" b="-62661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3342092" cy="6436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58"/>
                </a:lnSpc>
              </a:pPr>
              <a:r>
                <a:rPr lang="en-US" sz="3573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Tercera Forma Normal: Eliminando Dependencias Transitivas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4149" y="1613278"/>
            <a:ext cx="1209961" cy="50416"/>
            <a:chOff x="0" y="0"/>
            <a:chExt cx="1613281" cy="672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13281" cy="67183"/>
            </a:xfrm>
            <a:custGeom>
              <a:avLst/>
              <a:gdLst/>
              <a:ahLst/>
              <a:cxnLst/>
              <a:rect r="r" b="b" t="t" l="l"/>
              <a:pathLst>
                <a:path h="67183" w="1613281">
                  <a:moveTo>
                    <a:pt x="0" y="0"/>
                  </a:moveTo>
                  <a:lnTo>
                    <a:pt x="1613281" y="0"/>
                  </a:lnTo>
                  <a:lnTo>
                    <a:pt x="1613281" y="67183"/>
                  </a:lnTo>
                  <a:lnTo>
                    <a:pt x="0" y="671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01567" y="1913192"/>
            <a:ext cx="8520227" cy="2999804"/>
          </a:xfrm>
          <a:custGeom>
            <a:avLst/>
            <a:gdLst/>
            <a:ahLst/>
            <a:cxnLst/>
            <a:rect r="r" b="b" t="t" l="l"/>
            <a:pathLst>
              <a:path h="2999804" w="8520227">
                <a:moveTo>
                  <a:pt x="0" y="0"/>
                </a:moveTo>
                <a:lnTo>
                  <a:pt x="8520227" y="0"/>
                </a:lnTo>
                <a:lnTo>
                  <a:pt x="8520227" y="2999803"/>
                </a:lnTo>
                <a:lnTo>
                  <a:pt x="0" y="29998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97814" y="2228336"/>
            <a:ext cx="252079" cy="252079"/>
          </a:xfrm>
          <a:custGeom>
            <a:avLst/>
            <a:gdLst/>
            <a:ahLst/>
            <a:cxnLst/>
            <a:rect r="r" b="b" t="t" l="l"/>
            <a:pathLst>
              <a:path h="252079" w="252079">
                <a:moveTo>
                  <a:pt x="0" y="0"/>
                </a:moveTo>
                <a:lnTo>
                  <a:pt x="252079" y="0"/>
                </a:lnTo>
                <a:lnTo>
                  <a:pt x="252079" y="252079"/>
                </a:lnTo>
                <a:lnTo>
                  <a:pt x="0" y="2520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81402" y="2177920"/>
            <a:ext cx="7801708" cy="352901"/>
            <a:chOff x="0" y="0"/>
            <a:chExt cx="10402278" cy="4705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02272" cy="470538"/>
            </a:xfrm>
            <a:custGeom>
              <a:avLst/>
              <a:gdLst/>
              <a:ahLst/>
              <a:cxnLst/>
              <a:rect r="r" b="b" t="t" l="l"/>
              <a:pathLst>
                <a:path h="470538" w="10402272">
                  <a:moveTo>
                    <a:pt x="0" y="0"/>
                  </a:moveTo>
                  <a:lnTo>
                    <a:pt x="10402272" y="0"/>
                  </a:lnTo>
                  <a:lnTo>
                    <a:pt x="10402272" y="470538"/>
                  </a:lnTo>
                  <a:lnTo>
                    <a:pt x="0" y="4705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0759" r="0" b="-38075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0402278" cy="527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7"/>
                </a:lnSpc>
              </a:pPr>
              <a:r>
                <a:rPr lang="en-US" sz="1984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Requisitos de 3NF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66305" y="2732484"/>
            <a:ext cx="8091592" cy="655396"/>
            <a:chOff x="0" y="0"/>
            <a:chExt cx="10788790" cy="8738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88786" cy="873858"/>
            </a:xfrm>
            <a:custGeom>
              <a:avLst/>
              <a:gdLst/>
              <a:ahLst/>
              <a:cxnLst/>
              <a:rect r="r" b="b" t="t" l="l"/>
              <a:pathLst>
                <a:path h="873858" w="10788786">
                  <a:moveTo>
                    <a:pt x="0" y="0"/>
                  </a:moveTo>
                  <a:lnTo>
                    <a:pt x="10788786" y="0"/>
                  </a:lnTo>
                  <a:lnTo>
                    <a:pt x="10788786" y="873858"/>
                  </a:lnTo>
                  <a:lnTo>
                    <a:pt x="0" y="8738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565" r="0" b="-19056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10788790" cy="9500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588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Satisface tanto 1NF como 2NF, evitando situaciones donde </a:t>
              </a:r>
              <a:r>
                <a:rPr lang="en-US" sz="1588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atributos no clave dependen de otros atributos no clave</a:t>
              </a:r>
              <a:r>
                <a:rPr lang="en-US" sz="1588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en lugar de claves primarias.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6305" y="3589534"/>
            <a:ext cx="7990761" cy="1058713"/>
            <a:chOff x="0" y="0"/>
            <a:chExt cx="10654348" cy="14116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54412" cy="1411732"/>
            </a:xfrm>
            <a:custGeom>
              <a:avLst/>
              <a:gdLst/>
              <a:ahLst/>
              <a:cxnLst/>
              <a:rect r="r" b="b" t="t" l="l"/>
              <a:pathLst>
                <a:path h="1411732" w="10654412">
                  <a:moveTo>
                    <a:pt x="134493" y="0"/>
                  </a:moveTo>
                  <a:lnTo>
                    <a:pt x="10519918" y="0"/>
                  </a:lnTo>
                  <a:cubicBezTo>
                    <a:pt x="10594213" y="0"/>
                    <a:pt x="10654412" y="60198"/>
                    <a:pt x="10654412" y="134493"/>
                  </a:cubicBezTo>
                  <a:lnTo>
                    <a:pt x="10654412" y="1277239"/>
                  </a:lnTo>
                  <a:cubicBezTo>
                    <a:pt x="10654412" y="1351534"/>
                    <a:pt x="10594213" y="1411732"/>
                    <a:pt x="10519918" y="1411732"/>
                  </a:cubicBezTo>
                  <a:lnTo>
                    <a:pt x="134493" y="1411732"/>
                  </a:lnTo>
                  <a:cubicBezTo>
                    <a:pt x="60198" y="1411605"/>
                    <a:pt x="0" y="1351407"/>
                    <a:pt x="0" y="1277112"/>
                  </a:cubicBezTo>
                  <a:lnTo>
                    <a:pt x="0" y="134493"/>
                  </a:lnTo>
                  <a:cubicBezTo>
                    <a:pt x="0" y="60198"/>
                    <a:pt x="60198" y="0"/>
                    <a:pt x="134493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7969" y="3791198"/>
            <a:ext cx="7688266" cy="655396"/>
            <a:chOff x="0" y="0"/>
            <a:chExt cx="10251021" cy="8738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51026" cy="873858"/>
            </a:xfrm>
            <a:custGeom>
              <a:avLst/>
              <a:gdLst/>
              <a:ahLst/>
              <a:cxnLst/>
              <a:rect r="r" b="b" t="t" l="l"/>
              <a:pathLst>
                <a:path h="873858" w="10251026">
                  <a:moveTo>
                    <a:pt x="0" y="0"/>
                  </a:moveTo>
                  <a:lnTo>
                    <a:pt x="10251026" y="0"/>
                  </a:lnTo>
                  <a:lnTo>
                    <a:pt x="10251026" y="873858"/>
                  </a:lnTo>
                  <a:lnTo>
                    <a:pt x="0" y="8738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574" r="0" b="-17857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0251021" cy="9500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588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Dependencia transitiva:</a:t>
              </a:r>
              <a:r>
                <a:rPr lang="en-US" sz="1588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Cuando atributos no clave dependen de otros atributos no clave, violando 3NF.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9352" y="5112077"/>
            <a:ext cx="8482308" cy="2823239"/>
            <a:chOff x="0" y="0"/>
            <a:chExt cx="11309744" cy="37643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09731" cy="3764280"/>
            </a:xfrm>
            <a:custGeom>
              <a:avLst/>
              <a:gdLst/>
              <a:ahLst/>
              <a:cxnLst/>
              <a:rect r="r" b="b" t="t" l="l"/>
              <a:pathLst>
                <a:path h="3764280" w="11309731">
                  <a:moveTo>
                    <a:pt x="67183" y="0"/>
                  </a:moveTo>
                  <a:lnTo>
                    <a:pt x="11175365" y="0"/>
                  </a:lnTo>
                  <a:cubicBezTo>
                    <a:pt x="11249660" y="0"/>
                    <a:pt x="11309731" y="60198"/>
                    <a:pt x="11309731" y="134366"/>
                  </a:cubicBezTo>
                  <a:lnTo>
                    <a:pt x="11309731" y="3629914"/>
                  </a:lnTo>
                  <a:cubicBezTo>
                    <a:pt x="11309731" y="3704209"/>
                    <a:pt x="11249533" y="3764280"/>
                    <a:pt x="11175365" y="3764280"/>
                  </a:cubicBezTo>
                  <a:lnTo>
                    <a:pt x="67183" y="3764280"/>
                  </a:lnTo>
                  <a:cubicBezTo>
                    <a:pt x="30099" y="3764280"/>
                    <a:pt x="0" y="3734181"/>
                    <a:pt x="0" y="3697097"/>
                  </a:cubicBezTo>
                  <a:lnTo>
                    <a:pt x="0" y="67183"/>
                  </a:lnTo>
                  <a:cubicBezTo>
                    <a:pt x="0" y="30099"/>
                    <a:pt x="30099" y="0"/>
                    <a:pt x="67183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29352" y="5112077"/>
            <a:ext cx="50416" cy="2823239"/>
            <a:chOff x="0" y="0"/>
            <a:chExt cx="67221" cy="376431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183" cy="3764280"/>
            </a:xfrm>
            <a:custGeom>
              <a:avLst/>
              <a:gdLst/>
              <a:ahLst/>
              <a:cxnLst/>
              <a:rect r="r" b="b" t="t" l="l"/>
              <a:pathLst>
                <a:path h="3764280" w="67183">
                  <a:moveTo>
                    <a:pt x="67183" y="0"/>
                  </a:moveTo>
                  <a:lnTo>
                    <a:pt x="67183" y="3764280"/>
                  </a:lnTo>
                  <a:cubicBezTo>
                    <a:pt x="30099" y="3764280"/>
                    <a:pt x="0" y="3734181"/>
                    <a:pt x="0" y="3697097"/>
                  </a:cubicBezTo>
                  <a:lnTo>
                    <a:pt x="0" y="67183"/>
                  </a:lnTo>
                  <a:cubicBezTo>
                    <a:pt x="0" y="30099"/>
                    <a:pt x="30099" y="0"/>
                    <a:pt x="67183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838143" y="5427174"/>
            <a:ext cx="226866" cy="226866"/>
          </a:xfrm>
          <a:custGeom>
            <a:avLst/>
            <a:gdLst/>
            <a:ahLst/>
            <a:cxnLst/>
            <a:rect r="r" b="b" t="t" l="l"/>
            <a:pathLst>
              <a:path h="226866" w="226866">
                <a:moveTo>
                  <a:pt x="0" y="0"/>
                </a:moveTo>
                <a:lnTo>
                  <a:pt x="226866" y="0"/>
                </a:lnTo>
                <a:lnTo>
                  <a:pt x="226866" y="226866"/>
                </a:lnTo>
                <a:lnTo>
                  <a:pt x="0" y="2268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096528" y="5364156"/>
            <a:ext cx="7776496" cy="352901"/>
            <a:chOff x="0" y="0"/>
            <a:chExt cx="10368661" cy="47053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368662" cy="470538"/>
            </a:xfrm>
            <a:custGeom>
              <a:avLst/>
              <a:gdLst/>
              <a:ahLst/>
              <a:cxnLst/>
              <a:rect r="r" b="b" t="t" l="l"/>
              <a:pathLst>
                <a:path h="470538" w="10368662">
                  <a:moveTo>
                    <a:pt x="0" y="0"/>
                  </a:moveTo>
                  <a:lnTo>
                    <a:pt x="10368662" y="0"/>
                  </a:lnTo>
                  <a:lnTo>
                    <a:pt x="10368662" y="470538"/>
                  </a:lnTo>
                  <a:lnTo>
                    <a:pt x="0" y="4705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9367" r="0" b="-37936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10368661" cy="546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6"/>
                </a:lnSpc>
              </a:pPr>
              <a:r>
                <a:rPr lang="en-US" sz="1786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Ejemplo de Violación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06634" y="5868295"/>
            <a:ext cx="8053778" cy="327698"/>
            <a:chOff x="0" y="0"/>
            <a:chExt cx="10738371" cy="4369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38370" cy="436930"/>
            </a:xfrm>
            <a:custGeom>
              <a:avLst/>
              <a:gdLst/>
              <a:ahLst/>
              <a:cxnLst/>
              <a:rect r="r" b="b" t="t" l="l"/>
              <a:pathLst>
                <a:path h="436930" w="10738370">
                  <a:moveTo>
                    <a:pt x="0" y="0"/>
                  </a:moveTo>
                  <a:lnTo>
                    <a:pt x="10738370" y="0"/>
                  </a:lnTo>
                  <a:lnTo>
                    <a:pt x="10738370" y="436930"/>
                  </a:lnTo>
                  <a:lnTo>
                    <a:pt x="0" y="436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881" r="0" b="-42888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10738371" cy="513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588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Tabla de empleados donde </a:t>
              </a:r>
              <a:r>
                <a:rPr lang="en-US" sz="1588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dept_name </a:t>
              </a:r>
              <a:r>
                <a:rPr lang="en-US" sz="1588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depende de </a:t>
              </a:r>
              <a:r>
                <a:rPr lang="en-US" sz="1588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dept_num </a:t>
              </a:r>
              <a:r>
                <a:rPr lang="en-US" sz="1588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(atributo no clave):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804062" y="6344660"/>
            <a:ext cx="7965672" cy="1336110"/>
          </a:xfrm>
          <a:custGeom>
            <a:avLst/>
            <a:gdLst/>
            <a:ahLst/>
            <a:cxnLst/>
            <a:rect r="r" b="b" t="t" l="l"/>
            <a:pathLst>
              <a:path h="1336110" w="7965672">
                <a:moveTo>
                  <a:pt x="0" y="0"/>
                </a:moveTo>
                <a:lnTo>
                  <a:pt x="7965672" y="0"/>
                </a:lnTo>
                <a:lnTo>
                  <a:pt x="7965672" y="1336110"/>
                </a:lnTo>
                <a:lnTo>
                  <a:pt x="0" y="13361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967969" y="6508566"/>
            <a:ext cx="7738682" cy="302485"/>
            <a:chOff x="0" y="0"/>
            <a:chExt cx="10318242" cy="40331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318246" cy="403320"/>
            </a:xfrm>
            <a:custGeom>
              <a:avLst/>
              <a:gdLst/>
              <a:ahLst/>
              <a:cxnLst/>
              <a:rect r="r" b="b" t="t" l="l"/>
              <a:pathLst>
                <a:path h="403320" w="10318246">
                  <a:moveTo>
                    <a:pt x="0" y="0"/>
                  </a:moveTo>
                  <a:lnTo>
                    <a:pt x="10318246" y="0"/>
                  </a:lnTo>
                  <a:lnTo>
                    <a:pt x="10318246" y="403320"/>
                  </a:lnTo>
                  <a:lnTo>
                    <a:pt x="0" y="403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8491" r="0" b="-44849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0318242" cy="460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8"/>
                </a:lnSpc>
              </a:pPr>
              <a:r>
                <a:rPr lang="en-US" sz="1588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PK:</a:t>
              </a:r>
              <a:r>
                <a:rPr lang="en-US" sz="1588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emp_num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7969" y="6861467"/>
            <a:ext cx="7738682" cy="302485"/>
            <a:chOff x="0" y="0"/>
            <a:chExt cx="10318242" cy="40331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318246" cy="403320"/>
            </a:xfrm>
            <a:custGeom>
              <a:avLst/>
              <a:gdLst/>
              <a:ahLst/>
              <a:cxnLst/>
              <a:rect r="r" b="b" t="t" l="l"/>
              <a:pathLst>
                <a:path h="403320" w="10318246">
                  <a:moveTo>
                    <a:pt x="0" y="0"/>
                  </a:moveTo>
                  <a:lnTo>
                    <a:pt x="10318246" y="0"/>
                  </a:lnTo>
                  <a:lnTo>
                    <a:pt x="10318246" y="403320"/>
                  </a:lnTo>
                  <a:lnTo>
                    <a:pt x="0" y="403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8491" r="0" b="-44849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0318242" cy="460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8"/>
                </a:lnSpc>
              </a:pPr>
              <a:r>
                <a:rPr lang="en-US" sz="1588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Atributos:</a:t>
              </a:r>
              <a:r>
                <a:rPr lang="en-US" sz="1588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emp_fname, emp_lname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7969" y="7214378"/>
            <a:ext cx="7738682" cy="302485"/>
            <a:chOff x="0" y="0"/>
            <a:chExt cx="10318242" cy="40331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318246" cy="403320"/>
            </a:xfrm>
            <a:custGeom>
              <a:avLst/>
              <a:gdLst/>
              <a:ahLst/>
              <a:cxnLst/>
              <a:rect r="r" b="b" t="t" l="l"/>
              <a:pathLst>
                <a:path h="403320" w="10318246">
                  <a:moveTo>
                    <a:pt x="0" y="0"/>
                  </a:moveTo>
                  <a:lnTo>
                    <a:pt x="10318246" y="0"/>
                  </a:lnTo>
                  <a:lnTo>
                    <a:pt x="10318246" y="403320"/>
                  </a:lnTo>
                  <a:lnTo>
                    <a:pt x="0" y="403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8491" r="0" b="-44849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0318242" cy="460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8"/>
                </a:lnSpc>
              </a:pPr>
              <a:r>
                <a:rPr lang="en-US" sz="1588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No clave:</a:t>
              </a:r>
              <a:r>
                <a:rPr lang="en-US" sz="1588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dept_num → dept_name</a:t>
              </a: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9265253" y="1913192"/>
            <a:ext cx="8520227" cy="4411418"/>
          </a:xfrm>
          <a:custGeom>
            <a:avLst/>
            <a:gdLst/>
            <a:ahLst/>
            <a:cxnLst/>
            <a:rect r="r" b="b" t="t" l="l"/>
            <a:pathLst>
              <a:path h="4411418" w="8520227">
                <a:moveTo>
                  <a:pt x="0" y="0"/>
                </a:moveTo>
                <a:lnTo>
                  <a:pt x="8520227" y="0"/>
                </a:lnTo>
                <a:lnTo>
                  <a:pt x="8520227" y="4411418"/>
                </a:lnTo>
                <a:lnTo>
                  <a:pt x="0" y="44114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9561500" y="2240937"/>
            <a:ext cx="226866" cy="226866"/>
          </a:xfrm>
          <a:custGeom>
            <a:avLst/>
            <a:gdLst/>
            <a:ahLst/>
            <a:cxnLst/>
            <a:rect r="r" b="b" t="t" l="l"/>
            <a:pathLst>
              <a:path h="226866" w="226866">
                <a:moveTo>
                  <a:pt x="0" y="0"/>
                </a:moveTo>
                <a:lnTo>
                  <a:pt x="226866" y="0"/>
                </a:lnTo>
                <a:lnTo>
                  <a:pt x="226866" y="226867"/>
                </a:lnTo>
                <a:lnTo>
                  <a:pt x="0" y="22686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9819875" y="2177920"/>
            <a:ext cx="7814310" cy="352901"/>
            <a:chOff x="0" y="0"/>
            <a:chExt cx="10419080" cy="47053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419076" cy="470538"/>
            </a:xfrm>
            <a:custGeom>
              <a:avLst/>
              <a:gdLst/>
              <a:ahLst/>
              <a:cxnLst/>
              <a:rect r="r" b="b" t="t" l="l"/>
              <a:pathLst>
                <a:path h="470538" w="10419076">
                  <a:moveTo>
                    <a:pt x="0" y="0"/>
                  </a:moveTo>
                  <a:lnTo>
                    <a:pt x="10419076" y="0"/>
                  </a:lnTo>
                  <a:lnTo>
                    <a:pt x="10419076" y="470538"/>
                  </a:lnTo>
                  <a:lnTo>
                    <a:pt x="0" y="4705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1455" r="0" b="-38145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76200"/>
              <a:ext cx="10419080" cy="546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6"/>
                </a:lnSpc>
              </a:pPr>
              <a:r>
                <a:rPr lang="en-US" sz="1786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Solución: Tres Tablas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529991" y="2732484"/>
            <a:ext cx="7990761" cy="1008297"/>
            <a:chOff x="0" y="0"/>
            <a:chExt cx="10654348" cy="134439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654412" cy="1344422"/>
            </a:xfrm>
            <a:custGeom>
              <a:avLst/>
              <a:gdLst/>
              <a:ahLst/>
              <a:cxnLst/>
              <a:rect r="r" b="b" t="t" l="l"/>
              <a:pathLst>
                <a:path h="1344422" w="10654412">
                  <a:moveTo>
                    <a:pt x="134493" y="0"/>
                  </a:moveTo>
                  <a:lnTo>
                    <a:pt x="10519918" y="0"/>
                  </a:lnTo>
                  <a:cubicBezTo>
                    <a:pt x="10594213" y="0"/>
                    <a:pt x="10654412" y="60198"/>
                    <a:pt x="10654412" y="134493"/>
                  </a:cubicBezTo>
                  <a:lnTo>
                    <a:pt x="10654412" y="1209929"/>
                  </a:lnTo>
                  <a:cubicBezTo>
                    <a:pt x="10654412" y="1284224"/>
                    <a:pt x="10594213" y="1344422"/>
                    <a:pt x="10519918" y="1344422"/>
                  </a:cubicBezTo>
                  <a:lnTo>
                    <a:pt x="134493" y="1344422"/>
                  </a:lnTo>
                  <a:cubicBezTo>
                    <a:pt x="60198" y="1344422"/>
                    <a:pt x="0" y="1284224"/>
                    <a:pt x="0" y="1209929"/>
                  </a:cubicBezTo>
                  <a:lnTo>
                    <a:pt x="0" y="134493"/>
                  </a:lnTo>
                  <a:cubicBezTo>
                    <a:pt x="0" y="60198"/>
                    <a:pt x="60198" y="0"/>
                    <a:pt x="134493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681239" y="2883732"/>
            <a:ext cx="7789097" cy="302485"/>
            <a:chOff x="0" y="0"/>
            <a:chExt cx="10385463" cy="40331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385466" cy="403320"/>
            </a:xfrm>
            <a:custGeom>
              <a:avLst/>
              <a:gdLst/>
              <a:ahLst/>
              <a:cxnLst/>
              <a:rect r="r" b="b" t="t" l="l"/>
              <a:pathLst>
                <a:path h="403320" w="10385466">
                  <a:moveTo>
                    <a:pt x="0" y="0"/>
                  </a:moveTo>
                  <a:lnTo>
                    <a:pt x="10385466" y="0"/>
                  </a:lnTo>
                  <a:lnTo>
                    <a:pt x="10385466" y="403320"/>
                  </a:lnTo>
                  <a:lnTo>
                    <a:pt x="0" y="403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739" r="0" b="-45173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10385463" cy="460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8"/>
                </a:lnSpc>
              </a:pPr>
              <a:r>
                <a:rPr lang="en-US" sz="1588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EMPLOYEE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81239" y="3287049"/>
            <a:ext cx="7789097" cy="302485"/>
            <a:chOff x="0" y="0"/>
            <a:chExt cx="10385463" cy="40331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385466" cy="403320"/>
            </a:xfrm>
            <a:custGeom>
              <a:avLst/>
              <a:gdLst/>
              <a:ahLst/>
              <a:cxnLst/>
              <a:rect r="r" b="b" t="t" l="l"/>
              <a:pathLst>
                <a:path h="403320" w="10385466">
                  <a:moveTo>
                    <a:pt x="0" y="0"/>
                  </a:moveTo>
                  <a:lnTo>
                    <a:pt x="10385466" y="0"/>
                  </a:lnTo>
                  <a:lnTo>
                    <a:pt x="10385466" y="403320"/>
                  </a:lnTo>
                  <a:lnTo>
                    <a:pt x="0" y="403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739" r="0" b="-45173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10385463" cy="460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8"/>
                </a:lnSpc>
              </a:pPr>
              <a:r>
                <a:rPr lang="en-US" sz="1588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emp_num (PK), emp_fname, emp_lname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529991" y="3892029"/>
            <a:ext cx="7990761" cy="1008297"/>
            <a:chOff x="0" y="0"/>
            <a:chExt cx="10654348" cy="134439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654412" cy="1344422"/>
            </a:xfrm>
            <a:custGeom>
              <a:avLst/>
              <a:gdLst/>
              <a:ahLst/>
              <a:cxnLst/>
              <a:rect r="r" b="b" t="t" l="l"/>
              <a:pathLst>
                <a:path h="1344422" w="10654412">
                  <a:moveTo>
                    <a:pt x="134493" y="0"/>
                  </a:moveTo>
                  <a:lnTo>
                    <a:pt x="10519918" y="0"/>
                  </a:lnTo>
                  <a:cubicBezTo>
                    <a:pt x="10594213" y="0"/>
                    <a:pt x="10654412" y="60198"/>
                    <a:pt x="10654412" y="134493"/>
                  </a:cubicBezTo>
                  <a:lnTo>
                    <a:pt x="10654412" y="1209929"/>
                  </a:lnTo>
                  <a:cubicBezTo>
                    <a:pt x="10654412" y="1284224"/>
                    <a:pt x="10594213" y="1344422"/>
                    <a:pt x="10519918" y="1344422"/>
                  </a:cubicBezTo>
                  <a:lnTo>
                    <a:pt x="134493" y="1344422"/>
                  </a:lnTo>
                  <a:cubicBezTo>
                    <a:pt x="60198" y="1344422"/>
                    <a:pt x="0" y="1284224"/>
                    <a:pt x="0" y="1209929"/>
                  </a:cubicBezTo>
                  <a:lnTo>
                    <a:pt x="0" y="134493"/>
                  </a:lnTo>
                  <a:cubicBezTo>
                    <a:pt x="0" y="60198"/>
                    <a:pt x="60198" y="0"/>
                    <a:pt x="134493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681239" y="4043267"/>
            <a:ext cx="7789097" cy="302485"/>
            <a:chOff x="0" y="0"/>
            <a:chExt cx="10385463" cy="40331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385466" cy="403320"/>
            </a:xfrm>
            <a:custGeom>
              <a:avLst/>
              <a:gdLst/>
              <a:ahLst/>
              <a:cxnLst/>
              <a:rect r="r" b="b" t="t" l="l"/>
              <a:pathLst>
                <a:path h="403320" w="10385466">
                  <a:moveTo>
                    <a:pt x="0" y="0"/>
                  </a:moveTo>
                  <a:lnTo>
                    <a:pt x="10385466" y="0"/>
                  </a:lnTo>
                  <a:lnTo>
                    <a:pt x="10385466" y="403320"/>
                  </a:lnTo>
                  <a:lnTo>
                    <a:pt x="0" y="403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739" r="0" b="-45173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10385463" cy="460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8"/>
                </a:lnSpc>
              </a:pPr>
              <a:r>
                <a:rPr lang="en-US" sz="1588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DEPARTMENT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81239" y="4446594"/>
            <a:ext cx="7789097" cy="302485"/>
            <a:chOff x="0" y="0"/>
            <a:chExt cx="10385463" cy="40331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385466" cy="403320"/>
            </a:xfrm>
            <a:custGeom>
              <a:avLst/>
              <a:gdLst/>
              <a:ahLst/>
              <a:cxnLst/>
              <a:rect r="r" b="b" t="t" l="l"/>
              <a:pathLst>
                <a:path h="403320" w="10385466">
                  <a:moveTo>
                    <a:pt x="0" y="0"/>
                  </a:moveTo>
                  <a:lnTo>
                    <a:pt x="10385466" y="0"/>
                  </a:lnTo>
                  <a:lnTo>
                    <a:pt x="10385466" y="403320"/>
                  </a:lnTo>
                  <a:lnTo>
                    <a:pt x="0" y="403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739" r="0" b="-45173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10385463" cy="460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8"/>
                </a:lnSpc>
              </a:pPr>
              <a:r>
                <a:rPr lang="en-US" sz="1588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dept_num (PK), dept_name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29991" y="5051574"/>
            <a:ext cx="7990761" cy="1008297"/>
            <a:chOff x="0" y="0"/>
            <a:chExt cx="10654348" cy="134439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654412" cy="1344422"/>
            </a:xfrm>
            <a:custGeom>
              <a:avLst/>
              <a:gdLst/>
              <a:ahLst/>
              <a:cxnLst/>
              <a:rect r="r" b="b" t="t" l="l"/>
              <a:pathLst>
                <a:path h="1344422" w="10654412">
                  <a:moveTo>
                    <a:pt x="134493" y="0"/>
                  </a:moveTo>
                  <a:lnTo>
                    <a:pt x="10519918" y="0"/>
                  </a:lnTo>
                  <a:cubicBezTo>
                    <a:pt x="10594213" y="0"/>
                    <a:pt x="10654412" y="60198"/>
                    <a:pt x="10654412" y="134493"/>
                  </a:cubicBezTo>
                  <a:lnTo>
                    <a:pt x="10654412" y="1209929"/>
                  </a:lnTo>
                  <a:cubicBezTo>
                    <a:pt x="10654412" y="1284224"/>
                    <a:pt x="10594213" y="1344422"/>
                    <a:pt x="10519918" y="1344422"/>
                  </a:cubicBezTo>
                  <a:lnTo>
                    <a:pt x="134493" y="1344422"/>
                  </a:lnTo>
                  <a:cubicBezTo>
                    <a:pt x="60198" y="1344422"/>
                    <a:pt x="0" y="1284224"/>
                    <a:pt x="0" y="1209929"/>
                  </a:cubicBezTo>
                  <a:lnTo>
                    <a:pt x="0" y="134493"/>
                  </a:lnTo>
                  <a:cubicBezTo>
                    <a:pt x="0" y="60198"/>
                    <a:pt x="60198" y="0"/>
                    <a:pt x="134493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681239" y="5202812"/>
            <a:ext cx="7789097" cy="302485"/>
            <a:chOff x="0" y="0"/>
            <a:chExt cx="10385463" cy="40331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385466" cy="403320"/>
            </a:xfrm>
            <a:custGeom>
              <a:avLst/>
              <a:gdLst/>
              <a:ahLst/>
              <a:cxnLst/>
              <a:rect r="r" b="b" t="t" l="l"/>
              <a:pathLst>
                <a:path h="403320" w="10385466">
                  <a:moveTo>
                    <a:pt x="0" y="0"/>
                  </a:moveTo>
                  <a:lnTo>
                    <a:pt x="10385466" y="0"/>
                  </a:lnTo>
                  <a:lnTo>
                    <a:pt x="10385466" y="403320"/>
                  </a:lnTo>
                  <a:lnTo>
                    <a:pt x="0" y="403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739" r="0" b="-45173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10385463" cy="460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8"/>
                </a:lnSpc>
              </a:pPr>
              <a:r>
                <a:rPr lang="en-US" sz="1588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EMPLOYEE_DEPARTMENT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681239" y="5606129"/>
            <a:ext cx="7789097" cy="302485"/>
            <a:chOff x="0" y="0"/>
            <a:chExt cx="10385463" cy="40331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385466" cy="403320"/>
            </a:xfrm>
            <a:custGeom>
              <a:avLst/>
              <a:gdLst/>
              <a:ahLst/>
              <a:cxnLst/>
              <a:rect r="r" b="b" t="t" l="l"/>
              <a:pathLst>
                <a:path h="403320" w="10385466">
                  <a:moveTo>
                    <a:pt x="0" y="0"/>
                  </a:moveTo>
                  <a:lnTo>
                    <a:pt x="10385466" y="0"/>
                  </a:lnTo>
                  <a:lnTo>
                    <a:pt x="10385466" y="403320"/>
                  </a:lnTo>
                  <a:lnTo>
                    <a:pt x="0" y="403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739" r="0" b="-45173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10385463" cy="460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8"/>
                </a:lnSpc>
              </a:pPr>
              <a:r>
                <a:rPr lang="en-US" sz="1588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dept_num (FK), emp_num (FK)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267835" y="6523692"/>
            <a:ext cx="8507511" cy="2495540"/>
            <a:chOff x="0" y="0"/>
            <a:chExt cx="11343348" cy="332738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343260" cy="3327273"/>
            </a:xfrm>
            <a:custGeom>
              <a:avLst/>
              <a:gdLst/>
              <a:ahLst/>
              <a:cxnLst/>
              <a:rect r="r" b="b" t="t" l="l"/>
              <a:pathLst>
                <a:path h="3327273" w="11343260">
                  <a:moveTo>
                    <a:pt x="134366" y="0"/>
                  </a:moveTo>
                  <a:lnTo>
                    <a:pt x="11208893" y="0"/>
                  </a:lnTo>
                  <a:cubicBezTo>
                    <a:pt x="11283188" y="0"/>
                    <a:pt x="11343260" y="60198"/>
                    <a:pt x="11343260" y="134366"/>
                  </a:cubicBezTo>
                  <a:lnTo>
                    <a:pt x="11343260" y="3192907"/>
                  </a:lnTo>
                  <a:cubicBezTo>
                    <a:pt x="11343260" y="3267202"/>
                    <a:pt x="11283062" y="3327273"/>
                    <a:pt x="11208893" y="3327273"/>
                  </a:cubicBezTo>
                  <a:lnTo>
                    <a:pt x="134366" y="3327273"/>
                  </a:lnTo>
                  <a:cubicBezTo>
                    <a:pt x="60198" y="3327400"/>
                    <a:pt x="0" y="3267202"/>
                    <a:pt x="0" y="3192907"/>
                  </a:cubicBezTo>
                  <a:lnTo>
                    <a:pt x="0" y="134366"/>
                  </a:lnTo>
                  <a:cubicBezTo>
                    <a:pt x="0" y="60198"/>
                    <a:pt x="60198" y="0"/>
                    <a:pt x="134366" y="0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75" id="75"/>
          <p:cNvSpPr/>
          <p:nvPr/>
        </p:nvSpPr>
        <p:spPr>
          <a:xfrm flipH="false" flipV="false" rot="0">
            <a:off x="9537240" y="6838788"/>
            <a:ext cx="255222" cy="226866"/>
          </a:xfrm>
          <a:custGeom>
            <a:avLst/>
            <a:gdLst/>
            <a:ahLst/>
            <a:cxnLst/>
            <a:rect r="r" b="b" t="t" l="l"/>
            <a:pathLst>
              <a:path h="226866" w="255222">
                <a:moveTo>
                  <a:pt x="0" y="0"/>
                </a:moveTo>
                <a:lnTo>
                  <a:pt x="255222" y="0"/>
                </a:lnTo>
                <a:lnTo>
                  <a:pt x="255222" y="226867"/>
                </a:lnTo>
                <a:lnTo>
                  <a:pt x="0" y="22686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9809788" y="6775771"/>
            <a:ext cx="7826912" cy="352901"/>
            <a:chOff x="0" y="0"/>
            <a:chExt cx="10435882" cy="47053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435882" cy="470538"/>
            </a:xfrm>
            <a:custGeom>
              <a:avLst/>
              <a:gdLst/>
              <a:ahLst/>
              <a:cxnLst/>
              <a:rect r="r" b="b" t="t" l="l"/>
              <a:pathLst>
                <a:path h="470538" w="10435882">
                  <a:moveTo>
                    <a:pt x="0" y="0"/>
                  </a:moveTo>
                  <a:lnTo>
                    <a:pt x="10435882" y="0"/>
                  </a:lnTo>
                  <a:lnTo>
                    <a:pt x="10435882" y="470538"/>
                  </a:lnTo>
                  <a:lnTo>
                    <a:pt x="0" y="4705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151" r="0" b="-38215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76200"/>
              <a:ext cx="10435882" cy="546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6"/>
                </a:lnSpc>
              </a:pPr>
              <a:r>
                <a:rPr lang="en-US" sz="1786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BCNF - Boyce-Codd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519904" y="7330335"/>
            <a:ext cx="8104194" cy="655396"/>
            <a:chOff x="0" y="0"/>
            <a:chExt cx="10805592" cy="87386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805590" cy="873858"/>
            </a:xfrm>
            <a:custGeom>
              <a:avLst/>
              <a:gdLst/>
              <a:ahLst/>
              <a:cxnLst/>
              <a:rect r="r" b="b" t="t" l="l"/>
              <a:pathLst>
                <a:path h="873858" w="10805590">
                  <a:moveTo>
                    <a:pt x="0" y="0"/>
                  </a:moveTo>
                  <a:lnTo>
                    <a:pt x="10805590" y="0"/>
                  </a:lnTo>
                  <a:lnTo>
                    <a:pt x="10805590" y="873858"/>
                  </a:lnTo>
                  <a:lnTo>
                    <a:pt x="0" y="8738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939" r="0" b="-19094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76200"/>
              <a:ext cx="10805592" cy="9500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588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Forma normal que se considera una </a:t>
              </a:r>
              <a:r>
                <a:rPr lang="en-US" sz="1588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versión más estricta o más fuerte</a:t>
              </a:r>
              <a:r>
                <a:rPr lang="en-US" sz="1588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de la tercera forma normal.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519904" y="8136969"/>
            <a:ext cx="8003362" cy="630184"/>
            <a:chOff x="0" y="0"/>
            <a:chExt cx="10671150" cy="84024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671175" cy="840359"/>
            </a:xfrm>
            <a:custGeom>
              <a:avLst/>
              <a:gdLst/>
              <a:ahLst/>
              <a:cxnLst/>
              <a:rect r="r" b="b" t="t" l="l"/>
              <a:pathLst>
                <a:path h="840359" w="10671175">
                  <a:moveTo>
                    <a:pt x="134493" y="0"/>
                  </a:moveTo>
                  <a:lnTo>
                    <a:pt x="10536682" y="0"/>
                  </a:lnTo>
                  <a:cubicBezTo>
                    <a:pt x="10610976" y="0"/>
                    <a:pt x="10671175" y="60198"/>
                    <a:pt x="10671175" y="134493"/>
                  </a:cubicBezTo>
                  <a:lnTo>
                    <a:pt x="10671175" y="705866"/>
                  </a:lnTo>
                  <a:cubicBezTo>
                    <a:pt x="10671175" y="780161"/>
                    <a:pt x="10610976" y="840359"/>
                    <a:pt x="10536682" y="840359"/>
                  </a:cubicBezTo>
                  <a:lnTo>
                    <a:pt x="134493" y="840359"/>
                  </a:lnTo>
                  <a:cubicBezTo>
                    <a:pt x="60198" y="840232"/>
                    <a:pt x="0" y="780034"/>
                    <a:pt x="0" y="705866"/>
                  </a:cubicBezTo>
                  <a:lnTo>
                    <a:pt x="0" y="134493"/>
                  </a:lnTo>
                  <a:cubicBezTo>
                    <a:pt x="0" y="60198"/>
                    <a:pt x="60198" y="0"/>
                    <a:pt x="134493" y="0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671152" y="8288217"/>
            <a:ext cx="7801708" cy="327698"/>
            <a:chOff x="0" y="0"/>
            <a:chExt cx="10402278" cy="43693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402272" cy="436930"/>
            </a:xfrm>
            <a:custGeom>
              <a:avLst/>
              <a:gdLst/>
              <a:ahLst/>
              <a:cxnLst/>
              <a:rect r="r" b="b" t="t" l="l"/>
              <a:pathLst>
                <a:path h="436930" w="10402272">
                  <a:moveTo>
                    <a:pt x="0" y="0"/>
                  </a:moveTo>
                  <a:lnTo>
                    <a:pt x="10402272" y="0"/>
                  </a:lnTo>
                  <a:lnTo>
                    <a:pt x="10402272" y="436930"/>
                  </a:lnTo>
                  <a:lnTo>
                    <a:pt x="0" y="436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3892" r="0" b="-41389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76200"/>
              <a:ext cx="10402278" cy="513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588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Requisito:</a:t>
              </a:r>
              <a:r>
                <a:rPr lang="en-US" sz="1588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Requiere el uso de súper claves para todas las dependencias funcionales.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529352" y="9220886"/>
            <a:ext cx="17254499" cy="731015"/>
            <a:chOff x="0" y="0"/>
            <a:chExt cx="23005999" cy="974687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3006050" cy="974725"/>
            </a:xfrm>
            <a:custGeom>
              <a:avLst/>
              <a:gdLst/>
              <a:ahLst/>
              <a:cxnLst/>
              <a:rect r="r" b="b" t="t" l="l"/>
              <a:pathLst>
                <a:path h="974725" w="23006050">
                  <a:moveTo>
                    <a:pt x="67183" y="0"/>
                  </a:moveTo>
                  <a:lnTo>
                    <a:pt x="22871557" y="0"/>
                  </a:lnTo>
                  <a:cubicBezTo>
                    <a:pt x="22945852" y="0"/>
                    <a:pt x="23006050" y="60198"/>
                    <a:pt x="23006050" y="134493"/>
                  </a:cubicBezTo>
                  <a:lnTo>
                    <a:pt x="23006050" y="840232"/>
                  </a:lnTo>
                  <a:cubicBezTo>
                    <a:pt x="23006050" y="914527"/>
                    <a:pt x="22945852" y="974725"/>
                    <a:pt x="22871557" y="974725"/>
                  </a:cubicBezTo>
                  <a:lnTo>
                    <a:pt x="67183" y="974725"/>
                  </a:lnTo>
                  <a:cubicBezTo>
                    <a:pt x="30099" y="974725"/>
                    <a:pt x="0" y="944626"/>
                    <a:pt x="0" y="907415"/>
                  </a:cubicBezTo>
                  <a:lnTo>
                    <a:pt x="0" y="67183"/>
                  </a:lnTo>
                  <a:cubicBezTo>
                    <a:pt x="0" y="30099"/>
                    <a:pt x="30099" y="0"/>
                    <a:pt x="67183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529352" y="9220886"/>
            <a:ext cx="50416" cy="731015"/>
            <a:chOff x="0" y="0"/>
            <a:chExt cx="67221" cy="97468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7183" cy="974725"/>
            </a:xfrm>
            <a:custGeom>
              <a:avLst/>
              <a:gdLst/>
              <a:ahLst/>
              <a:cxnLst/>
              <a:rect r="r" b="b" t="t" l="l"/>
              <a:pathLst>
                <a:path h="974725" w="67183">
                  <a:moveTo>
                    <a:pt x="67183" y="0"/>
                  </a:moveTo>
                  <a:lnTo>
                    <a:pt x="67183" y="974725"/>
                  </a:lnTo>
                  <a:cubicBezTo>
                    <a:pt x="30099" y="974725"/>
                    <a:pt x="0" y="944626"/>
                    <a:pt x="0" y="907415"/>
                  </a:cubicBezTo>
                  <a:lnTo>
                    <a:pt x="0" y="67183"/>
                  </a:lnTo>
                  <a:cubicBezTo>
                    <a:pt x="0" y="30099"/>
                    <a:pt x="30099" y="0"/>
                    <a:pt x="67183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sp>
        <p:nvSpPr>
          <p:cNvPr name="Freeform 91" id="91"/>
          <p:cNvSpPr/>
          <p:nvPr/>
        </p:nvSpPr>
        <p:spPr>
          <a:xfrm flipH="false" flipV="false" rot="0">
            <a:off x="806634" y="9472965"/>
            <a:ext cx="151247" cy="201663"/>
          </a:xfrm>
          <a:custGeom>
            <a:avLst/>
            <a:gdLst/>
            <a:ahLst/>
            <a:cxnLst/>
            <a:rect r="r" b="b" t="t" l="l"/>
            <a:pathLst>
              <a:path h="201663" w="151247">
                <a:moveTo>
                  <a:pt x="0" y="0"/>
                </a:moveTo>
                <a:lnTo>
                  <a:pt x="151248" y="0"/>
                </a:lnTo>
                <a:lnTo>
                  <a:pt x="151248" y="201663"/>
                </a:lnTo>
                <a:lnTo>
                  <a:pt x="0" y="20166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1075011" y="9422549"/>
            <a:ext cx="16608009" cy="327698"/>
            <a:chOff x="0" y="0"/>
            <a:chExt cx="22144012" cy="43693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2144017" cy="436930"/>
            </a:xfrm>
            <a:custGeom>
              <a:avLst/>
              <a:gdLst/>
              <a:ahLst/>
              <a:cxnLst/>
              <a:rect r="r" b="b" t="t" l="l"/>
              <a:pathLst>
                <a:path h="436930" w="22144017">
                  <a:moveTo>
                    <a:pt x="0" y="0"/>
                  </a:moveTo>
                  <a:lnTo>
                    <a:pt x="22144017" y="0"/>
                  </a:lnTo>
                  <a:lnTo>
                    <a:pt x="22144017" y="436930"/>
                  </a:lnTo>
                  <a:lnTo>
                    <a:pt x="0" y="4369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7519" r="0" b="-93751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76200"/>
              <a:ext cx="22144012" cy="513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8"/>
                </a:lnSpc>
              </a:pPr>
              <a:r>
                <a:rPr lang="en-US" sz="1588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Beneficio:</a:t>
              </a:r>
              <a:r>
                <a:rPr lang="en-US" sz="1588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Previene anomalías de actualización. Si cambia el nombre de un departamento, solo se actualiza en un lugar (tabla DEPARTMENT).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259300" cy="342900"/>
            <a:chOff x="0" y="0"/>
            <a:chExt cx="230124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30124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4NF Y 5NF - FORMAS NORMALES AVANZADAS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1500" y="1028700"/>
            <a:ext cx="17402175" cy="571500"/>
            <a:chOff x="0" y="0"/>
            <a:chExt cx="23202900" cy="76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3319" r="0" b="-5433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232029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Cuarta y Quinta Forma Normal: Niveles Avanzados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1500" y="1828800"/>
            <a:ext cx="1371600" cy="57150"/>
            <a:chOff x="0" y="0"/>
            <a:chExt cx="18288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69595" y="2169795"/>
            <a:ext cx="8427720" cy="6484620"/>
          </a:xfrm>
          <a:custGeom>
            <a:avLst/>
            <a:gdLst/>
            <a:ahLst/>
            <a:cxnLst/>
            <a:rect r="r" b="b" t="t" l="l"/>
            <a:pathLst>
              <a:path h="6484620" w="8427720">
                <a:moveTo>
                  <a:pt x="0" y="0"/>
                </a:moveTo>
                <a:lnTo>
                  <a:pt x="8427720" y="0"/>
                </a:lnTo>
                <a:lnTo>
                  <a:pt x="8427720" y="6484620"/>
                </a:lnTo>
                <a:lnTo>
                  <a:pt x="0" y="6484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68680" y="2468880"/>
            <a:ext cx="685800" cy="685800"/>
            <a:chOff x="0" y="0"/>
            <a:chExt cx="9144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69759" y="2611755"/>
            <a:ext cx="628650" cy="400050"/>
            <a:chOff x="0" y="0"/>
            <a:chExt cx="838200" cy="533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8200" cy="533400"/>
            </a:xfrm>
            <a:custGeom>
              <a:avLst/>
              <a:gdLst/>
              <a:ahLst/>
              <a:cxnLst/>
              <a:rect r="r" b="b" t="t" l="l"/>
              <a:pathLst>
                <a:path h="5334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647" t="0" r="-3164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382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4NF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25930" y="2583180"/>
            <a:ext cx="3114675" cy="457200"/>
            <a:chOff x="0" y="0"/>
            <a:chExt cx="4152900" cy="609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52900" cy="609600"/>
            </a:xfrm>
            <a:custGeom>
              <a:avLst/>
              <a:gdLst/>
              <a:ahLst/>
              <a:cxnLst/>
              <a:rect r="r" b="b" t="t" l="l"/>
              <a:pathLst>
                <a:path h="60960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741" r="0" b="-8274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41529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Cuarta Forma Normal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68680" y="3383280"/>
            <a:ext cx="7943850" cy="1114425"/>
            <a:chOff x="0" y="0"/>
            <a:chExt cx="10591800" cy="14859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918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893" r="0" b="-8889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1059180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Una tabla está en 4NF si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no tiene dependencias multivaluadas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. Los valores de dos o más columnas son independientes entre sí y solo dependen de la clave principal.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68680" y="4726305"/>
            <a:ext cx="7829550" cy="1657350"/>
            <a:chOff x="0" y="0"/>
            <a:chExt cx="10439400" cy="2209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394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0439400">
                  <a:moveTo>
                    <a:pt x="152400" y="0"/>
                  </a:moveTo>
                  <a:lnTo>
                    <a:pt x="10287000" y="0"/>
                  </a:lnTo>
                  <a:cubicBezTo>
                    <a:pt x="10371201" y="0"/>
                    <a:pt x="10439400" y="68199"/>
                    <a:pt x="10439400" y="152400"/>
                  </a:cubicBezTo>
                  <a:lnTo>
                    <a:pt x="10439400" y="2057400"/>
                  </a:lnTo>
                  <a:cubicBezTo>
                    <a:pt x="10439400" y="2141601"/>
                    <a:pt x="10371201" y="2209800"/>
                    <a:pt x="10287000" y="2209800"/>
                  </a:cubicBezTo>
                  <a:lnTo>
                    <a:pt x="152400" y="2209800"/>
                  </a:lnTo>
                  <a:cubicBezTo>
                    <a:pt x="68199" y="2209800"/>
                    <a:pt x="0" y="2141601"/>
                    <a:pt x="0" y="2057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140142" y="5012055"/>
            <a:ext cx="200025" cy="228600"/>
          </a:xfrm>
          <a:custGeom>
            <a:avLst/>
            <a:gdLst/>
            <a:ahLst/>
            <a:cxnLst/>
            <a:rect r="r" b="b" t="t" l="l"/>
            <a:pathLst>
              <a:path h="228600" w="200025">
                <a:moveTo>
                  <a:pt x="0" y="0"/>
                </a:moveTo>
                <a:lnTo>
                  <a:pt x="200026" y="0"/>
                </a:lnTo>
                <a:lnTo>
                  <a:pt x="200026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383030" y="4954905"/>
            <a:ext cx="7200900" cy="342900"/>
            <a:chOff x="0" y="0"/>
            <a:chExt cx="9601200" cy="457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01200" cy="457200"/>
            </a:xfrm>
            <a:custGeom>
              <a:avLst/>
              <a:gdLst/>
              <a:ahLst/>
              <a:cxnLst/>
              <a:rect r="r" b="b" t="t" l="l"/>
              <a:pathLst>
                <a:path h="4572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96012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Ejemplo Común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7280" y="5412105"/>
            <a:ext cx="7486650" cy="742950"/>
            <a:chOff x="0" y="0"/>
            <a:chExt cx="9982200" cy="990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822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82200">
                  <a:moveTo>
                    <a:pt x="0" y="0"/>
                  </a:moveTo>
                  <a:lnTo>
                    <a:pt x="9982200" y="0"/>
                  </a:lnTo>
                  <a:lnTo>
                    <a:pt x="99822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349" r="0" b="-14634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0"/>
              <a:ext cx="9982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Tabla de empleados que enumera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habilidades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e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idiomas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. Un empleado puede tener varias habilidades y hablar varios idiomas.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68680" y="7160895"/>
            <a:ext cx="7829550" cy="1200150"/>
            <a:chOff x="0" y="0"/>
            <a:chExt cx="10439400" cy="1600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394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10439400">
                  <a:moveTo>
                    <a:pt x="152400" y="0"/>
                  </a:moveTo>
                  <a:lnTo>
                    <a:pt x="10287000" y="0"/>
                  </a:lnTo>
                  <a:cubicBezTo>
                    <a:pt x="10371201" y="0"/>
                    <a:pt x="10439400" y="68199"/>
                    <a:pt x="10439400" y="152400"/>
                  </a:cubicBezTo>
                  <a:lnTo>
                    <a:pt x="10439400" y="1447800"/>
                  </a:lnTo>
                  <a:cubicBezTo>
                    <a:pt x="10439400" y="1532001"/>
                    <a:pt x="10371201" y="1600200"/>
                    <a:pt x="10287000" y="1600200"/>
                  </a:cubicBezTo>
                  <a:lnTo>
                    <a:pt x="152400" y="1600200"/>
                  </a:lnTo>
                  <a:cubicBezTo>
                    <a:pt x="68199" y="1600200"/>
                    <a:pt x="0" y="1532001"/>
                    <a:pt x="0" y="1447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97280" y="7389495"/>
            <a:ext cx="7486650" cy="742950"/>
            <a:chOff x="0" y="0"/>
            <a:chExt cx="9982200" cy="990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822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82200">
                  <a:moveTo>
                    <a:pt x="0" y="0"/>
                  </a:moveTo>
                  <a:lnTo>
                    <a:pt x="9982200" y="0"/>
                  </a:lnTo>
                  <a:lnTo>
                    <a:pt x="99822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349" r="0" b="-14634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0"/>
              <a:ext cx="9982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Relaciones independientes:</a:t>
              </a:r>
              <a:r>
                <a:rPr lang="en-US" sz="18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Empleados-Habilidades y Empleados-Idiomas no deben estar en la misma tabla.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9284970" y="2169795"/>
            <a:ext cx="8427720" cy="6484620"/>
          </a:xfrm>
          <a:custGeom>
            <a:avLst/>
            <a:gdLst/>
            <a:ahLst/>
            <a:cxnLst/>
            <a:rect r="r" b="b" t="t" l="l"/>
            <a:pathLst>
              <a:path h="6484620" w="8427720">
                <a:moveTo>
                  <a:pt x="0" y="0"/>
                </a:moveTo>
                <a:lnTo>
                  <a:pt x="8427720" y="0"/>
                </a:lnTo>
                <a:lnTo>
                  <a:pt x="8427720" y="6484620"/>
                </a:lnTo>
                <a:lnTo>
                  <a:pt x="0" y="64846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9584055" y="2468880"/>
            <a:ext cx="685800" cy="685800"/>
            <a:chOff x="0" y="0"/>
            <a:chExt cx="91440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680858" y="2611755"/>
            <a:ext cx="628650" cy="400050"/>
            <a:chOff x="0" y="0"/>
            <a:chExt cx="838200" cy="533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38200" cy="533400"/>
            </a:xfrm>
            <a:custGeom>
              <a:avLst/>
              <a:gdLst/>
              <a:ahLst/>
              <a:cxnLst/>
              <a:rect r="r" b="b" t="t" l="l"/>
              <a:pathLst>
                <a:path h="5334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647" t="0" r="-31647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8382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5NF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441305" y="2583180"/>
            <a:ext cx="3114675" cy="457200"/>
            <a:chOff x="0" y="0"/>
            <a:chExt cx="4152900" cy="6096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152900" cy="609600"/>
            </a:xfrm>
            <a:custGeom>
              <a:avLst/>
              <a:gdLst/>
              <a:ahLst/>
              <a:cxnLst/>
              <a:rect r="r" b="b" t="t" l="l"/>
              <a:pathLst>
                <a:path h="60960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741" r="0" b="-8274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41529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Quinta Forma Normal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584055" y="3383280"/>
            <a:ext cx="7943850" cy="1114425"/>
            <a:chOff x="0" y="0"/>
            <a:chExt cx="10591800" cy="14859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5918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893" r="0" b="-8889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0"/>
              <a:ext cx="1059180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Considerada el </a:t>
              </a: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nivel más alto de normalización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, centrada en la dependencia de unión. Después de dividir una tabla en tablas más pequeñas, es posible reconstruir la tabla original sin pérdida de datos.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84055" y="4726305"/>
            <a:ext cx="7829550" cy="1657350"/>
            <a:chOff x="0" y="0"/>
            <a:chExt cx="10439400" cy="2209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4394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10439400">
                  <a:moveTo>
                    <a:pt x="152400" y="0"/>
                  </a:moveTo>
                  <a:lnTo>
                    <a:pt x="10287000" y="0"/>
                  </a:lnTo>
                  <a:cubicBezTo>
                    <a:pt x="10371201" y="0"/>
                    <a:pt x="10439400" y="68199"/>
                    <a:pt x="10439400" y="152400"/>
                  </a:cubicBezTo>
                  <a:lnTo>
                    <a:pt x="10439400" y="2057400"/>
                  </a:lnTo>
                  <a:cubicBezTo>
                    <a:pt x="10439400" y="2141601"/>
                    <a:pt x="10371201" y="2209800"/>
                    <a:pt x="10287000" y="2209800"/>
                  </a:cubicBezTo>
                  <a:lnTo>
                    <a:pt x="152400" y="2209800"/>
                  </a:lnTo>
                  <a:cubicBezTo>
                    <a:pt x="68199" y="2209800"/>
                    <a:pt x="0" y="2141601"/>
                    <a:pt x="0" y="2057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9841230" y="5012055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0098405" y="4954905"/>
            <a:ext cx="7200900" cy="342900"/>
            <a:chOff x="0" y="0"/>
            <a:chExt cx="9601200" cy="457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601200" cy="457200"/>
            </a:xfrm>
            <a:custGeom>
              <a:avLst/>
              <a:gdLst/>
              <a:ahLst/>
              <a:cxnLst/>
              <a:rect r="r" b="b" t="t" l="l"/>
              <a:pathLst>
                <a:path h="4572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76200"/>
              <a:ext cx="960120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Analogía del Rompecabezas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812655" y="5412105"/>
            <a:ext cx="7486650" cy="742950"/>
            <a:chOff x="0" y="0"/>
            <a:chExt cx="9982200" cy="990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9822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82200">
                  <a:moveTo>
                    <a:pt x="0" y="0"/>
                  </a:moveTo>
                  <a:lnTo>
                    <a:pt x="9982200" y="0"/>
                  </a:lnTo>
                  <a:lnTo>
                    <a:pt x="99822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349" r="0" b="-14634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0"/>
              <a:ext cx="9982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Como un rompecabezas completado que, cuando se desarma, puede volver a armarse en su forma original sin piezas faltantes ni extras.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584055" y="7160895"/>
            <a:ext cx="7829550" cy="1200150"/>
            <a:chOff x="0" y="0"/>
            <a:chExt cx="10439400" cy="1600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4394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10439400">
                  <a:moveTo>
                    <a:pt x="152400" y="0"/>
                  </a:moveTo>
                  <a:lnTo>
                    <a:pt x="10287000" y="0"/>
                  </a:lnTo>
                  <a:cubicBezTo>
                    <a:pt x="10371201" y="0"/>
                    <a:pt x="10439400" y="68199"/>
                    <a:pt x="10439400" y="152400"/>
                  </a:cubicBezTo>
                  <a:lnTo>
                    <a:pt x="10439400" y="1447800"/>
                  </a:lnTo>
                  <a:cubicBezTo>
                    <a:pt x="10439400" y="1532001"/>
                    <a:pt x="10371201" y="1600200"/>
                    <a:pt x="10287000" y="1600200"/>
                  </a:cubicBezTo>
                  <a:lnTo>
                    <a:pt x="152400" y="1600200"/>
                  </a:lnTo>
                  <a:cubicBezTo>
                    <a:pt x="68199" y="1600200"/>
                    <a:pt x="0" y="1532001"/>
                    <a:pt x="0" y="14478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812655" y="7389495"/>
            <a:ext cx="7486650" cy="742950"/>
            <a:chOff x="0" y="0"/>
            <a:chExt cx="9982200" cy="990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9822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82200">
                  <a:moveTo>
                    <a:pt x="0" y="0"/>
                  </a:moveTo>
                  <a:lnTo>
                    <a:pt x="9982200" y="0"/>
                  </a:lnTo>
                  <a:lnTo>
                    <a:pt x="99822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349" r="0" b="-14634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0"/>
              <a:ext cx="9982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Condición:</a:t>
              </a:r>
              <a:r>
                <a:rPr lang="en-US" sz="18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Solo dividir cuando se puede lograr la dependencia de unión sin crear filas accidentales.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00075" y="8886825"/>
            <a:ext cx="8429625" cy="828675"/>
            <a:chOff x="0" y="0"/>
            <a:chExt cx="11239500" cy="11049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2395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1239500">
                  <a:moveTo>
                    <a:pt x="76200" y="0"/>
                  </a:moveTo>
                  <a:lnTo>
                    <a:pt x="11087100" y="0"/>
                  </a:lnTo>
                  <a:cubicBezTo>
                    <a:pt x="11171301" y="0"/>
                    <a:pt x="11239500" y="68199"/>
                    <a:pt x="11239500" y="152400"/>
                  </a:cubicBezTo>
                  <a:lnTo>
                    <a:pt x="11239500" y="952500"/>
                  </a:lnTo>
                  <a:cubicBezTo>
                    <a:pt x="11239500" y="1036701"/>
                    <a:pt x="11171301" y="1104900"/>
                    <a:pt x="11087100" y="1104900"/>
                  </a:cubicBezTo>
                  <a:lnTo>
                    <a:pt x="76200" y="1104900"/>
                  </a:lnTo>
                  <a:cubicBezTo>
                    <a:pt x="34163" y="1104900"/>
                    <a:pt x="0" y="1070737"/>
                    <a:pt x="0" y="1028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00075" y="8886825"/>
            <a:ext cx="57150" cy="828675"/>
            <a:chOff x="0" y="0"/>
            <a:chExt cx="76200" cy="11049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62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6200">
                  <a:moveTo>
                    <a:pt x="76200" y="0"/>
                  </a:moveTo>
                  <a:lnTo>
                    <a:pt x="76200" y="1104900"/>
                  </a:lnTo>
                  <a:cubicBezTo>
                    <a:pt x="34163" y="1104900"/>
                    <a:pt x="0" y="1070737"/>
                    <a:pt x="0" y="1028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85825" y="9172575"/>
            <a:ext cx="228600" cy="228600"/>
            <a:chOff x="0" y="0"/>
            <a:chExt cx="304800" cy="304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28725" y="9115425"/>
            <a:ext cx="7686675" cy="371475"/>
            <a:chOff x="0" y="0"/>
            <a:chExt cx="10248900" cy="4953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248900" cy="495300"/>
            </a:xfrm>
            <a:custGeom>
              <a:avLst/>
              <a:gdLst/>
              <a:ahLst/>
              <a:cxnLst/>
              <a:rect r="r" b="b" t="t" l="l"/>
              <a:pathLst>
                <a:path h="495300" w="10248900">
                  <a:moveTo>
                    <a:pt x="0" y="0"/>
                  </a:moveTo>
                  <a:lnTo>
                    <a:pt x="10248900" y="0"/>
                  </a:lnTo>
                  <a:lnTo>
                    <a:pt x="102489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3190" r="0" b="-35319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0"/>
              <a:ext cx="102489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4NF: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Divide en dos tablas: Empleados-Habilidades y Empleados-Idiomas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286875" y="8886825"/>
            <a:ext cx="8429625" cy="828675"/>
            <a:chOff x="0" y="0"/>
            <a:chExt cx="11239500" cy="11049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2395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1239500">
                  <a:moveTo>
                    <a:pt x="76200" y="0"/>
                  </a:moveTo>
                  <a:lnTo>
                    <a:pt x="11087100" y="0"/>
                  </a:lnTo>
                  <a:cubicBezTo>
                    <a:pt x="11171301" y="0"/>
                    <a:pt x="11239500" y="68199"/>
                    <a:pt x="11239500" y="152400"/>
                  </a:cubicBezTo>
                  <a:lnTo>
                    <a:pt x="11239500" y="952500"/>
                  </a:lnTo>
                  <a:cubicBezTo>
                    <a:pt x="11239500" y="1036701"/>
                    <a:pt x="11171301" y="1104900"/>
                    <a:pt x="11087100" y="1104900"/>
                  </a:cubicBezTo>
                  <a:lnTo>
                    <a:pt x="76200" y="1104900"/>
                  </a:lnTo>
                  <a:cubicBezTo>
                    <a:pt x="34163" y="1104900"/>
                    <a:pt x="0" y="1070737"/>
                    <a:pt x="0" y="1028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286875" y="8886825"/>
            <a:ext cx="57150" cy="828675"/>
            <a:chOff x="0" y="0"/>
            <a:chExt cx="76200" cy="11049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62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6200">
                  <a:moveTo>
                    <a:pt x="76200" y="0"/>
                  </a:moveTo>
                  <a:lnTo>
                    <a:pt x="76200" y="1104900"/>
                  </a:lnTo>
                  <a:cubicBezTo>
                    <a:pt x="34163" y="1104900"/>
                    <a:pt x="0" y="1070737"/>
                    <a:pt x="0" y="1028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572625" y="9172575"/>
            <a:ext cx="228600" cy="228600"/>
            <a:chOff x="0" y="0"/>
            <a:chExt cx="304800" cy="3048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915525" y="9115425"/>
            <a:ext cx="7686675" cy="371475"/>
            <a:chOff x="0" y="0"/>
            <a:chExt cx="10248900" cy="4953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8900" cy="495300"/>
            </a:xfrm>
            <a:custGeom>
              <a:avLst/>
              <a:gdLst/>
              <a:ahLst/>
              <a:cxnLst/>
              <a:rect r="r" b="b" t="t" l="l"/>
              <a:pathLst>
                <a:path h="495300" w="10248900">
                  <a:moveTo>
                    <a:pt x="0" y="0"/>
                  </a:moveTo>
                  <a:lnTo>
                    <a:pt x="10248900" y="0"/>
                  </a:lnTo>
                  <a:lnTo>
                    <a:pt x="102489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3190" r="0" b="-35319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0"/>
              <a:ext cx="102489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5NF:</a:t>
              </a:r>
              <a:r>
                <a:rPr lang="en-US" sz="1800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Verifica que la reconstrucción no cree datos espurios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www.datensen.com/6bb8cc8b428696c5b4aa7aa06ee2e7bdf54a2833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740" r="0" b="-67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D3436">
                    <a:alpha val="95000"/>
                  </a:srgbClr>
                </a:gs>
                <a:gs pos="50000">
                  <a:srgbClr val="2D3436">
                    <a:alpha val="85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69595" y="2672715"/>
            <a:ext cx="1984058" cy="598170"/>
          </a:xfrm>
          <a:custGeom>
            <a:avLst/>
            <a:gdLst/>
            <a:ahLst/>
            <a:cxnLst/>
            <a:rect r="r" b="b" t="t" l="l"/>
            <a:pathLst>
              <a:path h="598170" w="1984058">
                <a:moveTo>
                  <a:pt x="0" y="0"/>
                </a:moveTo>
                <a:lnTo>
                  <a:pt x="1984057" y="0"/>
                </a:lnTo>
                <a:lnTo>
                  <a:pt x="1984057" y="598170"/>
                </a:lnTo>
                <a:lnTo>
                  <a:pt x="0" y="598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11530" y="2800350"/>
            <a:ext cx="1614488" cy="342900"/>
            <a:chOff x="0" y="0"/>
            <a:chExt cx="2152650" cy="457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2650" cy="457200"/>
            </a:xfrm>
            <a:custGeom>
              <a:avLst/>
              <a:gdLst/>
              <a:ahLst/>
              <a:cxnLst/>
              <a:rect r="r" b="b" t="t" l="l"/>
              <a:pathLst>
                <a:path h="457200" w="2152650">
                  <a:moveTo>
                    <a:pt x="0" y="0"/>
                  </a:moveTo>
                  <a:lnTo>
                    <a:pt x="2152650" y="0"/>
                  </a:lnTo>
                  <a:lnTo>
                    <a:pt x="21526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742" r="0" b="-4174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152650" cy="533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b="true" sz="1800" spc="89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CAPÍTULO 05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1500" y="3611880"/>
            <a:ext cx="17573625" cy="2143125"/>
            <a:chOff x="0" y="0"/>
            <a:chExt cx="23431500" cy="285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431500" cy="2857500"/>
            </a:xfrm>
            <a:custGeom>
              <a:avLst/>
              <a:gdLst/>
              <a:ahLst/>
              <a:cxnLst/>
              <a:rect r="r" b="b" t="t" l="l"/>
              <a:pathLst>
                <a:path h="2857500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2857500"/>
                  </a:lnTo>
                  <a:lnTo>
                    <a:pt x="0" y="28575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3431500" cy="2867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6750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Desafíos y</a:t>
              </a:r>
            </a:p>
            <a:p>
              <a:pPr algn="l">
                <a:lnSpc>
                  <a:spcPts val="8100"/>
                </a:lnSpc>
              </a:pPr>
              <a:r>
                <a:rPr lang="en-US" sz="6750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Consideraciones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1500" y="6097905"/>
            <a:ext cx="1828800" cy="57150"/>
            <a:chOff x="0" y="0"/>
            <a:chExt cx="2438400" cy="76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71500" y="6497955"/>
            <a:ext cx="8401050" cy="1114425"/>
            <a:chOff x="0" y="0"/>
            <a:chExt cx="11201400" cy="1485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014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11201400">
                  <a:moveTo>
                    <a:pt x="0" y="0"/>
                  </a:moveTo>
                  <a:lnTo>
                    <a:pt x="11201400" y="0"/>
                  </a:lnTo>
                  <a:lnTo>
                    <a:pt x="1120140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887" r="0" b="-968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33350"/>
              <a:ext cx="11201400" cy="1619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36"/>
                </a:lnSpc>
              </a:pPr>
              <a:r>
                <a:rPr lang="en-US" sz="27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Limitaciones prácticas y aspectos a considerar en la implementación de la normalización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1678" y="551678"/>
            <a:ext cx="17294990" cy="331003"/>
            <a:chOff x="0" y="0"/>
            <a:chExt cx="23059987" cy="4413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59982" cy="441340"/>
            </a:xfrm>
            <a:custGeom>
              <a:avLst/>
              <a:gdLst/>
              <a:ahLst/>
              <a:cxnLst/>
              <a:rect r="r" b="b" t="t" l="l"/>
              <a:pathLst>
                <a:path h="441340" w="23059982">
                  <a:moveTo>
                    <a:pt x="0" y="0"/>
                  </a:moveTo>
                  <a:lnTo>
                    <a:pt x="23059982" y="0"/>
                  </a:lnTo>
                  <a:lnTo>
                    <a:pt x="23059982" y="441340"/>
                  </a:lnTo>
                  <a:lnTo>
                    <a:pt x="0" y="4413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8092" r="0" b="-96809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059987" cy="498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1"/>
                </a:lnSpc>
              </a:pPr>
              <a:r>
                <a:rPr lang="en-US" b="true" sz="1737" spc="87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LIMITACIONES PRÁCTICAS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1678" y="993010"/>
            <a:ext cx="17432903" cy="551678"/>
            <a:chOff x="0" y="0"/>
            <a:chExt cx="23243870" cy="7355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43874" cy="735566"/>
            </a:xfrm>
            <a:custGeom>
              <a:avLst/>
              <a:gdLst/>
              <a:ahLst/>
              <a:cxnLst/>
              <a:rect r="r" b="b" t="t" l="l"/>
              <a:pathLst>
                <a:path h="735566" w="23243874">
                  <a:moveTo>
                    <a:pt x="0" y="0"/>
                  </a:moveTo>
                  <a:lnTo>
                    <a:pt x="23243874" y="0"/>
                  </a:lnTo>
                  <a:lnTo>
                    <a:pt x="23243874" y="735566"/>
                  </a:lnTo>
                  <a:lnTo>
                    <a:pt x="0" y="7355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5726" r="0" b="-56572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3243870" cy="706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21"/>
                </a:lnSpc>
              </a:pPr>
              <a:r>
                <a:rPr lang="en-US" sz="3909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Desafíos de la Normalización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51678" y="1765354"/>
            <a:ext cx="1324023" cy="55169"/>
            <a:chOff x="0" y="0"/>
            <a:chExt cx="1765364" cy="735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65300" cy="73533"/>
            </a:xfrm>
            <a:custGeom>
              <a:avLst/>
              <a:gdLst/>
              <a:ahLst/>
              <a:cxnLst/>
              <a:rect r="r" b="b" t="t" l="l"/>
              <a:pathLst>
                <a:path h="73533" w="1765300">
                  <a:moveTo>
                    <a:pt x="0" y="0"/>
                  </a:moveTo>
                  <a:lnTo>
                    <a:pt x="1765300" y="0"/>
                  </a:lnTo>
                  <a:lnTo>
                    <a:pt x="1765300" y="73533"/>
                  </a:lnTo>
                  <a:lnTo>
                    <a:pt x="0" y="735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79253" y="2096367"/>
            <a:ext cx="10081851" cy="3254883"/>
            <a:chOff x="0" y="0"/>
            <a:chExt cx="13442467" cy="43398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42442" cy="4339844"/>
            </a:xfrm>
            <a:custGeom>
              <a:avLst/>
              <a:gdLst/>
              <a:ahLst/>
              <a:cxnLst/>
              <a:rect r="r" b="b" t="t" l="l"/>
              <a:pathLst>
                <a:path h="4339844" w="13442442">
                  <a:moveTo>
                    <a:pt x="73533" y="0"/>
                  </a:moveTo>
                  <a:lnTo>
                    <a:pt x="13295376" y="0"/>
                  </a:lnTo>
                  <a:cubicBezTo>
                    <a:pt x="13376656" y="0"/>
                    <a:pt x="13442442" y="65913"/>
                    <a:pt x="13442442" y="147066"/>
                  </a:cubicBezTo>
                  <a:lnTo>
                    <a:pt x="13442442" y="4192778"/>
                  </a:lnTo>
                  <a:cubicBezTo>
                    <a:pt x="13442442" y="4274058"/>
                    <a:pt x="13376529" y="4339844"/>
                    <a:pt x="13295376" y="4339844"/>
                  </a:cubicBezTo>
                  <a:lnTo>
                    <a:pt x="73533" y="4339844"/>
                  </a:lnTo>
                  <a:cubicBezTo>
                    <a:pt x="32893" y="4339844"/>
                    <a:pt x="0" y="4306951"/>
                    <a:pt x="0" y="4266311"/>
                  </a:cubicBezTo>
                  <a:lnTo>
                    <a:pt x="0" y="73533"/>
                  </a:lnTo>
                  <a:cubicBezTo>
                    <a:pt x="0" y="33020"/>
                    <a:pt x="33020" y="0"/>
                    <a:pt x="735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79253" y="2096367"/>
            <a:ext cx="55169" cy="3254883"/>
            <a:chOff x="0" y="0"/>
            <a:chExt cx="73558" cy="43398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533" cy="4339844"/>
            </a:xfrm>
            <a:custGeom>
              <a:avLst/>
              <a:gdLst/>
              <a:ahLst/>
              <a:cxnLst/>
              <a:rect r="r" b="b" t="t" l="l"/>
              <a:pathLst>
                <a:path h="4339844" w="73533">
                  <a:moveTo>
                    <a:pt x="73533" y="0"/>
                  </a:moveTo>
                  <a:lnTo>
                    <a:pt x="73533" y="4339844"/>
                  </a:lnTo>
                  <a:cubicBezTo>
                    <a:pt x="32893" y="4339844"/>
                    <a:pt x="0" y="4306951"/>
                    <a:pt x="0" y="4266311"/>
                  </a:cubicBezTo>
                  <a:lnTo>
                    <a:pt x="0" y="73533"/>
                  </a:lnTo>
                  <a:cubicBezTo>
                    <a:pt x="0" y="33020"/>
                    <a:pt x="33020" y="0"/>
                    <a:pt x="73533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37851" y="2427370"/>
            <a:ext cx="772344" cy="772344"/>
            <a:chOff x="0" y="0"/>
            <a:chExt cx="1029792" cy="10297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9716" cy="1029716"/>
            </a:xfrm>
            <a:custGeom>
              <a:avLst/>
              <a:gdLst/>
              <a:ahLst/>
              <a:cxnLst/>
              <a:rect r="r" b="b" t="t" l="l"/>
              <a:pathLst>
                <a:path h="1029716" w="1029716">
                  <a:moveTo>
                    <a:pt x="147066" y="0"/>
                  </a:moveTo>
                  <a:lnTo>
                    <a:pt x="882650" y="0"/>
                  </a:lnTo>
                  <a:cubicBezTo>
                    <a:pt x="963930" y="0"/>
                    <a:pt x="1029716" y="65913"/>
                    <a:pt x="1029716" y="147066"/>
                  </a:cubicBezTo>
                  <a:lnTo>
                    <a:pt x="1029716" y="882650"/>
                  </a:lnTo>
                  <a:cubicBezTo>
                    <a:pt x="1029716" y="963930"/>
                    <a:pt x="963803" y="1029716"/>
                    <a:pt x="882650" y="1029716"/>
                  </a:cubicBezTo>
                  <a:lnTo>
                    <a:pt x="147066" y="1029716"/>
                  </a:lnTo>
                  <a:cubicBezTo>
                    <a:pt x="65913" y="1029843"/>
                    <a:pt x="0" y="963930"/>
                    <a:pt x="0" y="882650"/>
                  </a:cubicBezTo>
                  <a:lnTo>
                    <a:pt x="0" y="147066"/>
                  </a:lnTo>
                  <a:cubicBezTo>
                    <a:pt x="0" y="65913"/>
                    <a:pt x="65913" y="0"/>
                    <a:pt x="147066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158516" y="2648036"/>
            <a:ext cx="331003" cy="331003"/>
          </a:xfrm>
          <a:custGeom>
            <a:avLst/>
            <a:gdLst/>
            <a:ahLst/>
            <a:cxnLst/>
            <a:rect r="r" b="b" t="t" l="l"/>
            <a:pathLst>
              <a:path h="331003" w="331003">
                <a:moveTo>
                  <a:pt x="0" y="0"/>
                </a:moveTo>
                <a:lnTo>
                  <a:pt x="331004" y="0"/>
                </a:lnTo>
                <a:lnTo>
                  <a:pt x="331004" y="331003"/>
                </a:lnTo>
                <a:lnTo>
                  <a:pt x="0" y="3310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930860" y="2427370"/>
            <a:ext cx="8537162" cy="386172"/>
            <a:chOff x="0" y="0"/>
            <a:chExt cx="11382883" cy="5148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82878" cy="514896"/>
            </a:xfrm>
            <a:custGeom>
              <a:avLst/>
              <a:gdLst/>
              <a:ahLst/>
              <a:cxnLst/>
              <a:rect r="r" b="b" t="t" l="l"/>
              <a:pathLst>
                <a:path h="514896" w="11382878">
                  <a:moveTo>
                    <a:pt x="0" y="0"/>
                  </a:moveTo>
                  <a:lnTo>
                    <a:pt x="11382878" y="0"/>
                  </a:lnTo>
                  <a:lnTo>
                    <a:pt x="11382878" y="514896"/>
                  </a:lnTo>
                  <a:lnTo>
                    <a:pt x="0" y="514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0758" r="0" b="-38075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1382883" cy="581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7"/>
                </a:lnSpc>
              </a:pPr>
              <a:r>
                <a:rPr lang="en-US" sz="2172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Consultas Más Complejas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30860" y="2979039"/>
            <a:ext cx="8509578" cy="1075763"/>
            <a:chOff x="0" y="0"/>
            <a:chExt cx="11346104" cy="14343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46100" cy="1434352"/>
            </a:xfrm>
            <a:custGeom>
              <a:avLst/>
              <a:gdLst/>
              <a:ahLst/>
              <a:cxnLst/>
              <a:rect r="r" b="b" t="t" l="l"/>
              <a:pathLst>
                <a:path h="1434352" w="11346100">
                  <a:moveTo>
                    <a:pt x="0" y="0"/>
                  </a:moveTo>
                  <a:lnTo>
                    <a:pt x="11346100" y="0"/>
                  </a:lnTo>
                  <a:lnTo>
                    <a:pt x="11346100" y="1434352"/>
                  </a:lnTo>
                  <a:lnTo>
                    <a:pt x="0" y="1434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131" r="0" b="-10413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11346104" cy="1529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8"/>
                </a:lnSpc>
              </a:pPr>
              <a:r>
                <a:rPr lang="en-US" sz="1737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Antes de la normalización, un usuario que busca datos específicos podría tener que consultar </a:t>
              </a:r>
              <a:r>
                <a:rPr lang="en-US" sz="1737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solo una tabla</a:t>
              </a:r>
              <a:r>
                <a:rPr lang="en-US" sz="1737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. Después de la normalización, puede necesitar consultar </a:t>
              </a:r>
              <a:r>
                <a:rPr lang="en-US" sz="1737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varias tablas</a:t>
              </a:r>
              <a:r>
                <a:rPr lang="en-US" sz="1737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30860" y="4220308"/>
            <a:ext cx="8399240" cy="799929"/>
            <a:chOff x="0" y="0"/>
            <a:chExt cx="11198987" cy="10665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98987" cy="1066546"/>
            </a:xfrm>
            <a:custGeom>
              <a:avLst/>
              <a:gdLst/>
              <a:ahLst/>
              <a:cxnLst/>
              <a:rect r="r" b="b" t="t" l="l"/>
              <a:pathLst>
                <a:path h="1066546" w="11198987">
                  <a:moveTo>
                    <a:pt x="147066" y="0"/>
                  </a:moveTo>
                  <a:lnTo>
                    <a:pt x="11051921" y="0"/>
                  </a:lnTo>
                  <a:cubicBezTo>
                    <a:pt x="11133201" y="0"/>
                    <a:pt x="11198987" y="65913"/>
                    <a:pt x="11198987" y="147066"/>
                  </a:cubicBezTo>
                  <a:lnTo>
                    <a:pt x="11198987" y="919480"/>
                  </a:lnTo>
                  <a:cubicBezTo>
                    <a:pt x="11198987" y="1000760"/>
                    <a:pt x="11133074" y="1066546"/>
                    <a:pt x="11051921" y="1066546"/>
                  </a:cubicBezTo>
                  <a:lnTo>
                    <a:pt x="147066" y="1066546"/>
                  </a:lnTo>
                  <a:cubicBezTo>
                    <a:pt x="65913" y="1066546"/>
                    <a:pt x="0" y="1000760"/>
                    <a:pt x="0" y="919480"/>
                  </a:cubicBezTo>
                  <a:lnTo>
                    <a:pt x="0" y="147066"/>
                  </a:lnTo>
                  <a:cubicBezTo>
                    <a:pt x="0" y="65913"/>
                    <a:pt x="65913" y="0"/>
                    <a:pt x="147066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2179110" y="4496143"/>
            <a:ext cx="220666" cy="220666"/>
          </a:xfrm>
          <a:custGeom>
            <a:avLst/>
            <a:gdLst/>
            <a:ahLst/>
            <a:cxnLst/>
            <a:rect r="r" b="b" t="t" l="l"/>
            <a:pathLst>
              <a:path h="220666" w="220666">
                <a:moveTo>
                  <a:pt x="0" y="0"/>
                </a:moveTo>
                <a:lnTo>
                  <a:pt x="220666" y="0"/>
                </a:lnTo>
                <a:lnTo>
                  <a:pt x="220666" y="220666"/>
                </a:lnTo>
                <a:lnTo>
                  <a:pt x="0" y="2206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2507247" y="4440974"/>
            <a:ext cx="7712516" cy="358588"/>
            <a:chOff x="0" y="0"/>
            <a:chExt cx="10283355" cy="47811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83358" cy="478118"/>
            </a:xfrm>
            <a:custGeom>
              <a:avLst/>
              <a:gdLst/>
              <a:ahLst/>
              <a:cxnLst/>
              <a:rect r="r" b="b" t="t" l="l"/>
              <a:pathLst>
                <a:path h="478118" w="10283358">
                  <a:moveTo>
                    <a:pt x="0" y="0"/>
                  </a:moveTo>
                  <a:lnTo>
                    <a:pt x="10283358" y="0"/>
                  </a:lnTo>
                  <a:lnTo>
                    <a:pt x="10283358" y="478118"/>
                  </a:lnTo>
                  <a:lnTo>
                    <a:pt x="0" y="4781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9084" r="0" b="-36908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10283355" cy="573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8"/>
                </a:lnSpc>
              </a:pPr>
              <a:r>
                <a:rPr lang="en-US" sz="1737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Esto puede ser un proceso </a:t>
              </a:r>
              <a:r>
                <a:rPr lang="en-US" sz="1737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más lento y más costoso</a:t>
              </a:r>
              <a:r>
                <a:rPr lang="en-US" sz="1737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en términos de recursos.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79253" y="5627075"/>
            <a:ext cx="10081851" cy="3254883"/>
            <a:chOff x="0" y="0"/>
            <a:chExt cx="13442467" cy="43398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42442" cy="4339844"/>
            </a:xfrm>
            <a:custGeom>
              <a:avLst/>
              <a:gdLst/>
              <a:ahLst/>
              <a:cxnLst/>
              <a:rect r="r" b="b" t="t" l="l"/>
              <a:pathLst>
                <a:path h="4339844" w="13442442">
                  <a:moveTo>
                    <a:pt x="73533" y="0"/>
                  </a:moveTo>
                  <a:lnTo>
                    <a:pt x="13295376" y="0"/>
                  </a:lnTo>
                  <a:cubicBezTo>
                    <a:pt x="13376656" y="0"/>
                    <a:pt x="13442442" y="65913"/>
                    <a:pt x="13442442" y="147066"/>
                  </a:cubicBezTo>
                  <a:lnTo>
                    <a:pt x="13442442" y="4192778"/>
                  </a:lnTo>
                  <a:cubicBezTo>
                    <a:pt x="13442442" y="4274058"/>
                    <a:pt x="13376529" y="4339844"/>
                    <a:pt x="13295376" y="4339844"/>
                  </a:cubicBezTo>
                  <a:lnTo>
                    <a:pt x="73533" y="4339844"/>
                  </a:lnTo>
                  <a:cubicBezTo>
                    <a:pt x="32893" y="4339844"/>
                    <a:pt x="0" y="4306951"/>
                    <a:pt x="0" y="4266311"/>
                  </a:cubicBezTo>
                  <a:lnTo>
                    <a:pt x="0" y="73533"/>
                  </a:lnTo>
                  <a:cubicBezTo>
                    <a:pt x="0" y="33020"/>
                    <a:pt x="33020" y="0"/>
                    <a:pt x="735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79253" y="5627075"/>
            <a:ext cx="55169" cy="3254883"/>
            <a:chOff x="0" y="0"/>
            <a:chExt cx="73558" cy="43398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533" cy="4339844"/>
            </a:xfrm>
            <a:custGeom>
              <a:avLst/>
              <a:gdLst/>
              <a:ahLst/>
              <a:cxnLst/>
              <a:rect r="r" b="b" t="t" l="l"/>
              <a:pathLst>
                <a:path h="4339844" w="73533">
                  <a:moveTo>
                    <a:pt x="73533" y="0"/>
                  </a:moveTo>
                  <a:lnTo>
                    <a:pt x="73533" y="4339844"/>
                  </a:lnTo>
                  <a:cubicBezTo>
                    <a:pt x="32893" y="4339844"/>
                    <a:pt x="0" y="4306951"/>
                    <a:pt x="0" y="4266311"/>
                  </a:cubicBezTo>
                  <a:lnTo>
                    <a:pt x="0" y="73533"/>
                  </a:lnTo>
                  <a:cubicBezTo>
                    <a:pt x="0" y="33020"/>
                    <a:pt x="33020" y="0"/>
                    <a:pt x="73533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37851" y="5958078"/>
            <a:ext cx="772344" cy="772344"/>
            <a:chOff x="0" y="0"/>
            <a:chExt cx="1029792" cy="10297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9716" cy="1029716"/>
            </a:xfrm>
            <a:custGeom>
              <a:avLst/>
              <a:gdLst/>
              <a:ahLst/>
              <a:cxnLst/>
              <a:rect r="r" b="b" t="t" l="l"/>
              <a:pathLst>
                <a:path h="1029716" w="1029716">
                  <a:moveTo>
                    <a:pt x="147066" y="0"/>
                  </a:moveTo>
                  <a:lnTo>
                    <a:pt x="882650" y="0"/>
                  </a:lnTo>
                  <a:cubicBezTo>
                    <a:pt x="963930" y="0"/>
                    <a:pt x="1029716" y="65913"/>
                    <a:pt x="1029716" y="147066"/>
                  </a:cubicBezTo>
                  <a:lnTo>
                    <a:pt x="1029716" y="882650"/>
                  </a:lnTo>
                  <a:cubicBezTo>
                    <a:pt x="1029716" y="963930"/>
                    <a:pt x="963803" y="1029716"/>
                    <a:pt x="882650" y="1029716"/>
                  </a:cubicBezTo>
                  <a:lnTo>
                    <a:pt x="147066" y="1029716"/>
                  </a:lnTo>
                  <a:cubicBezTo>
                    <a:pt x="65913" y="1029843"/>
                    <a:pt x="0" y="963930"/>
                    <a:pt x="0" y="882650"/>
                  </a:cubicBezTo>
                  <a:lnTo>
                    <a:pt x="0" y="147066"/>
                  </a:lnTo>
                  <a:cubicBezTo>
                    <a:pt x="0" y="65913"/>
                    <a:pt x="65913" y="0"/>
                    <a:pt x="147066" y="0"/>
                  </a:cubicBezTo>
                  <a:close/>
                </a:path>
              </a:pathLst>
            </a:custGeom>
            <a:solidFill>
              <a:srgbClr val="0984E3">
                <a:alpha val="784"/>
              </a:srgbClr>
            </a:solid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1117140" y="6178753"/>
            <a:ext cx="413756" cy="331003"/>
          </a:xfrm>
          <a:custGeom>
            <a:avLst/>
            <a:gdLst/>
            <a:ahLst/>
            <a:cxnLst/>
            <a:rect r="r" b="b" t="t" l="l"/>
            <a:pathLst>
              <a:path h="331003" w="413756">
                <a:moveTo>
                  <a:pt x="0" y="0"/>
                </a:moveTo>
                <a:lnTo>
                  <a:pt x="413756" y="0"/>
                </a:lnTo>
                <a:lnTo>
                  <a:pt x="413756" y="331003"/>
                </a:lnTo>
                <a:lnTo>
                  <a:pt x="0" y="3310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930860" y="5958078"/>
            <a:ext cx="8537162" cy="386172"/>
            <a:chOff x="0" y="0"/>
            <a:chExt cx="11382883" cy="5148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382878" cy="514896"/>
            </a:xfrm>
            <a:custGeom>
              <a:avLst/>
              <a:gdLst/>
              <a:ahLst/>
              <a:cxnLst/>
              <a:rect r="r" b="b" t="t" l="l"/>
              <a:pathLst>
                <a:path h="514896" w="11382878">
                  <a:moveTo>
                    <a:pt x="0" y="0"/>
                  </a:moveTo>
                  <a:lnTo>
                    <a:pt x="11382878" y="0"/>
                  </a:lnTo>
                  <a:lnTo>
                    <a:pt x="11382878" y="514896"/>
                  </a:lnTo>
                  <a:lnTo>
                    <a:pt x="0" y="514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0758" r="0" b="-38075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11382883" cy="581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7"/>
                </a:lnSpc>
              </a:pPr>
              <a:r>
                <a:rPr lang="en-US" sz="2172">
                  <a:solidFill>
                    <a:srgbClr val="2D3436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Mayor Complejidad General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930860" y="6509756"/>
            <a:ext cx="8509578" cy="717175"/>
            <a:chOff x="0" y="0"/>
            <a:chExt cx="11346104" cy="95623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346100" cy="956236"/>
            </a:xfrm>
            <a:custGeom>
              <a:avLst/>
              <a:gdLst/>
              <a:ahLst/>
              <a:cxnLst/>
              <a:rect r="r" b="b" t="t" l="l"/>
              <a:pathLst>
                <a:path h="956236" w="11346100">
                  <a:moveTo>
                    <a:pt x="0" y="0"/>
                  </a:moveTo>
                  <a:lnTo>
                    <a:pt x="11346100" y="0"/>
                  </a:lnTo>
                  <a:lnTo>
                    <a:pt x="11346100" y="956236"/>
                  </a:lnTo>
                  <a:lnTo>
                    <a:pt x="0" y="9562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197" r="0" b="-18119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0"/>
              <a:ext cx="11346104" cy="1051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8"/>
                </a:lnSpc>
              </a:pPr>
              <a:r>
                <a:rPr lang="en-US" sz="1737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Aunque la normalización simplifica las tablas individuales, puede </a:t>
              </a:r>
              <a:r>
                <a:rPr lang="en-US" sz="1737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aumentar la complejidad general</a:t>
              </a:r>
              <a:r>
                <a:rPr lang="en-US" sz="1737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de la base de datos.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930860" y="7392438"/>
            <a:ext cx="8399240" cy="1158516"/>
            <a:chOff x="0" y="0"/>
            <a:chExt cx="11198987" cy="15446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198987" cy="1544574"/>
            </a:xfrm>
            <a:custGeom>
              <a:avLst/>
              <a:gdLst/>
              <a:ahLst/>
              <a:cxnLst/>
              <a:rect r="r" b="b" t="t" l="l"/>
              <a:pathLst>
                <a:path h="1544574" w="11198987">
                  <a:moveTo>
                    <a:pt x="147066" y="0"/>
                  </a:moveTo>
                  <a:lnTo>
                    <a:pt x="11051921" y="0"/>
                  </a:lnTo>
                  <a:cubicBezTo>
                    <a:pt x="11133201" y="0"/>
                    <a:pt x="11198987" y="65913"/>
                    <a:pt x="11198987" y="147066"/>
                  </a:cubicBezTo>
                  <a:lnTo>
                    <a:pt x="11198987" y="1397508"/>
                  </a:lnTo>
                  <a:cubicBezTo>
                    <a:pt x="11198987" y="1478788"/>
                    <a:pt x="11133074" y="1544574"/>
                    <a:pt x="11051921" y="1544574"/>
                  </a:cubicBezTo>
                  <a:lnTo>
                    <a:pt x="147066" y="1544574"/>
                  </a:lnTo>
                  <a:cubicBezTo>
                    <a:pt x="65913" y="1544701"/>
                    <a:pt x="0" y="1478788"/>
                    <a:pt x="0" y="1397635"/>
                  </a:cubicBezTo>
                  <a:lnTo>
                    <a:pt x="0" y="147066"/>
                  </a:lnTo>
                  <a:cubicBezTo>
                    <a:pt x="0" y="65913"/>
                    <a:pt x="65913" y="0"/>
                    <a:pt x="147066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2192903" y="7668273"/>
            <a:ext cx="193081" cy="220666"/>
          </a:xfrm>
          <a:custGeom>
            <a:avLst/>
            <a:gdLst/>
            <a:ahLst/>
            <a:cxnLst/>
            <a:rect r="r" b="b" t="t" l="l"/>
            <a:pathLst>
              <a:path h="220666" w="193081">
                <a:moveTo>
                  <a:pt x="0" y="0"/>
                </a:moveTo>
                <a:lnTo>
                  <a:pt x="193081" y="0"/>
                </a:lnTo>
                <a:lnTo>
                  <a:pt x="193081" y="220665"/>
                </a:lnTo>
                <a:lnTo>
                  <a:pt x="0" y="2206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2507247" y="7613104"/>
            <a:ext cx="7712516" cy="717175"/>
            <a:chOff x="0" y="0"/>
            <a:chExt cx="10283355" cy="95623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83358" cy="956236"/>
            </a:xfrm>
            <a:custGeom>
              <a:avLst/>
              <a:gdLst/>
              <a:ahLst/>
              <a:cxnLst/>
              <a:rect r="r" b="b" t="t" l="l"/>
              <a:pathLst>
                <a:path h="956236" w="10283358">
                  <a:moveTo>
                    <a:pt x="0" y="0"/>
                  </a:moveTo>
                  <a:lnTo>
                    <a:pt x="10283358" y="0"/>
                  </a:lnTo>
                  <a:lnTo>
                    <a:pt x="10283358" y="956236"/>
                  </a:lnTo>
                  <a:lnTo>
                    <a:pt x="0" y="9562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542" r="0" b="-15954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0"/>
              <a:ext cx="10283355" cy="1051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8"/>
                </a:lnSpc>
              </a:pPr>
              <a:r>
                <a:rPr lang="en-US" sz="1737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Requiere </a:t>
              </a:r>
              <a:r>
                <a:rPr lang="en-US" sz="1737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gran experiencia</a:t>
              </a:r>
              <a:r>
                <a:rPr lang="en-US" sz="1737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por parte de diseñadores y administradores para garantizar una implementación adecuada.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996593" y="2096367"/>
            <a:ext cx="6744214" cy="6289081"/>
            <a:chOff x="0" y="0"/>
            <a:chExt cx="8992286" cy="838544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992235" cy="8385429"/>
            </a:xfrm>
            <a:custGeom>
              <a:avLst/>
              <a:gdLst/>
              <a:ahLst/>
              <a:cxnLst/>
              <a:rect r="r" b="b" t="t" l="l"/>
              <a:pathLst>
                <a:path h="8385429" w="8992235">
                  <a:moveTo>
                    <a:pt x="147066" y="0"/>
                  </a:moveTo>
                  <a:lnTo>
                    <a:pt x="8845169" y="0"/>
                  </a:lnTo>
                  <a:cubicBezTo>
                    <a:pt x="8926449" y="0"/>
                    <a:pt x="8992235" y="65913"/>
                    <a:pt x="8992235" y="147066"/>
                  </a:cubicBezTo>
                  <a:lnTo>
                    <a:pt x="8992235" y="8238363"/>
                  </a:lnTo>
                  <a:cubicBezTo>
                    <a:pt x="8992235" y="8319643"/>
                    <a:pt x="8926322" y="8385429"/>
                    <a:pt x="8845169" y="8385429"/>
                  </a:cubicBezTo>
                  <a:lnTo>
                    <a:pt x="147066" y="8385429"/>
                  </a:lnTo>
                  <a:cubicBezTo>
                    <a:pt x="65913" y="8385429"/>
                    <a:pt x="0" y="8319643"/>
                    <a:pt x="0" y="8238363"/>
                  </a:cubicBezTo>
                  <a:lnTo>
                    <a:pt x="0" y="147066"/>
                  </a:lnTo>
                  <a:cubicBezTo>
                    <a:pt x="0" y="65913"/>
                    <a:pt x="65913" y="0"/>
                    <a:pt x="147066" y="0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11327597" y="2482539"/>
            <a:ext cx="344795" cy="275834"/>
          </a:xfrm>
          <a:custGeom>
            <a:avLst/>
            <a:gdLst/>
            <a:ahLst/>
            <a:cxnLst/>
            <a:rect r="r" b="b" t="t" l="l"/>
            <a:pathLst>
              <a:path h="275834" w="344795">
                <a:moveTo>
                  <a:pt x="0" y="0"/>
                </a:moveTo>
                <a:lnTo>
                  <a:pt x="344795" y="0"/>
                </a:lnTo>
                <a:lnTo>
                  <a:pt x="344795" y="275834"/>
                </a:lnTo>
                <a:lnTo>
                  <a:pt x="0" y="2758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1672392" y="2427370"/>
            <a:ext cx="5875334" cy="386172"/>
            <a:chOff x="0" y="0"/>
            <a:chExt cx="7833779" cy="51489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833774" cy="514896"/>
            </a:xfrm>
            <a:custGeom>
              <a:avLst/>
              <a:gdLst/>
              <a:ahLst/>
              <a:cxnLst/>
              <a:rect r="r" b="b" t="t" l="l"/>
              <a:pathLst>
                <a:path h="514896" w="7833774">
                  <a:moveTo>
                    <a:pt x="0" y="0"/>
                  </a:moveTo>
                  <a:lnTo>
                    <a:pt x="7833774" y="0"/>
                  </a:lnTo>
                  <a:lnTo>
                    <a:pt x="7833774" y="514896"/>
                  </a:lnTo>
                  <a:lnTo>
                    <a:pt x="0" y="514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6451" r="0" b="-24645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7833779" cy="581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7"/>
                </a:lnSpc>
              </a:pPr>
              <a:r>
                <a:rPr lang="en-US" sz="2172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Equilibrio Necesario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327597" y="3089377"/>
            <a:ext cx="6082208" cy="2372201"/>
            <a:chOff x="0" y="0"/>
            <a:chExt cx="8109610" cy="316293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09585" cy="3162935"/>
            </a:xfrm>
            <a:custGeom>
              <a:avLst/>
              <a:gdLst/>
              <a:ahLst/>
              <a:cxnLst/>
              <a:rect r="r" b="b" t="t" l="l"/>
              <a:pathLst>
                <a:path h="3162935" w="8109585">
                  <a:moveTo>
                    <a:pt x="147066" y="0"/>
                  </a:moveTo>
                  <a:lnTo>
                    <a:pt x="7962519" y="0"/>
                  </a:lnTo>
                  <a:cubicBezTo>
                    <a:pt x="8043799" y="0"/>
                    <a:pt x="8109585" y="65913"/>
                    <a:pt x="8109585" y="147066"/>
                  </a:cubicBezTo>
                  <a:lnTo>
                    <a:pt x="8109585" y="3015869"/>
                  </a:lnTo>
                  <a:cubicBezTo>
                    <a:pt x="8109585" y="3097149"/>
                    <a:pt x="8043672" y="3162935"/>
                    <a:pt x="7962519" y="3162935"/>
                  </a:cubicBezTo>
                  <a:lnTo>
                    <a:pt x="147066" y="3162935"/>
                  </a:lnTo>
                  <a:cubicBezTo>
                    <a:pt x="65913" y="3162935"/>
                    <a:pt x="0" y="3097022"/>
                    <a:pt x="0" y="3015869"/>
                  </a:cubicBezTo>
                  <a:lnTo>
                    <a:pt x="0" y="147066"/>
                  </a:lnTo>
                  <a:cubicBezTo>
                    <a:pt x="0" y="65913"/>
                    <a:pt x="65913" y="0"/>
                    <a:pt x="147066" y="0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548262" y="3310042"/>
            <a:ext cx="5751205" cy="331003"/>
            <a:chOff x="0" y="0"/>
            <a:chExt cx="7668273" cy="44133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668272" cy="441340"/>
            </a:xfrm>
            <a:custGeom>
              <a:avLst/>
              <a:gdLst/>
              <a:ahLst/>
              <a:cxnLst/>
              <a:rect r="r" b="b" t="t" l="l"/>
              <a:pathLst>
                <a:path h="441340" w="7668272">
                  <a:moveTo>
                    <a:pt x="0" y="0"/>
                  </a:moveTo>
                  <a:lnTo>
                    <a:pt x="7668272" y="0"/>
                  </a:lnTo>
                  <a:lnTo>
                    <a:pt x="7668272" y="441340"/>
                  </a:lnTo>
                  <a:lnTo>
                    <a:pt x="0" y="4413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552" r="0" b="-28855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7668273" cy="498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1"/>
                </a:lnSpc>
              </a:pPr>
              <a:r>
                <a:rPr lang="en-US" sz="1737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Beneficios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548262" y="3751383"/>
            <a:ext cx="5751205" cy="331003"/>
            <a:chOff x="0" y="0"/>
            <a:chExt cx="7668273" cy="44133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668272" cy="441340"/>
            </a:xfrm>
            <a:custGeom>
              <a:avLst/>
              <a:gdLst/>
              <a:ahLst/>
              <a:cxnLst/>
              <a:rect r="r" b="b" t="t" l="l"/>
              <a:pathLst>
                <a:path h="441340" w="7668272">
                  <a:moveTo>
                    <a:pt x="0" y="0"/>
                  </a:moveTo>
                  <a:lnTo>
                    <a:pt x="7668272" y="0"/>
                  </a:lnTo>
                  <a:lnTo>
                    <a:pt x="7668272" y="441340"/>
                  </a:lnTo>
                  <a:lnTo>
                    <a:pt x="0" y="4413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552" r="0" b="-28855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7668273" cy="498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1"/>
                </a:lnSpc>
              </a:pPr>
              <a:r>
                <a:rPr lang="en-US" sz="173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• Integridad de datos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548262" y="4137555"/>
            <a:ext cx="5751205" cy="331003"/>
            <a:chOff x="0" y="0"/>
            <a:chExt cx="7668273" cy="44133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668272" cy="441340"/>
            </a:xfrm>
            <a:custGeom>
              <a:avLst/>
              <a:gdLst/>
              <a:ahLst/>
              <a:cxnLst/>
              <a:rect r="r" b="b" t="t" l="l"/>
              <a:pathLst>
                <a:path h="441340" w="7668272">
                  <a:moveTo>
                    <a:pt x="0" y="0"/>
                  </a:moveTo>
                  <a:lnTo>
                    <a:pt x="7668272" y="0"/>
                  </a:lnTo>
                  <a:lnTo>
                    <a:pt x="7668272" y="441340"/>
                  </a:lnTo>
                  <a:lnTo>
                    <a:pt x="0" y="4413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552" r="0" b="-28855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7668273" cy="498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1"/>
                </a:lnSpc>
              </a:pPr>
              <a:r>
                <a:rPr lang="en-US" sz="173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• Prevención de anomalías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548262" y="4523727"/>
            <a:ext cx="5751205" cy="331003"/>
            <a:chOff x="0" y="0"/>
            <a:chExt cx="7668273" cy="44133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668272" cy="441340"/>
            </a:xfrm>
            <a:custGeom>
              <a:avLst/>
              <a:gdLst/>
              <a:ahLst/>
              <a:cxnLst/>
              <a:rect r="r" b="b" t="t" l="l"/>
              <a:pathLst>
                <a:path h="441340" w="7668272">
                  <a:moveTo>
                    <a:pt x="0" y="0"/>
                  </a:moveTo>
                  <a:lnTo>
                    <a:pt x="7668272" y="0"/>
                  </a:lnTo>
                  <a:lnTo>
                    <a:pt x="7668272" y="441340"/>
                  </a:lnTo>
                  <a:lnTo>
                    <a:pt x="0" y="4413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552" r="0" b="-28855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7668273" cy="498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1"/>
                </a:lnSpc>
              </a:pPr>
              <a:r>
                <a:rPr lang="en-US" sz="173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• Reducción de redundancia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548262" y="4909899"/>
            <a:ext cx="5751205" cy="331003"/>
            <a:chOff x="0" y="0"/>
            <a:chExt cx="7668273" cy="44133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668272" cy="441340"/>
            </a:xfrm>
            <a:custGeom>
              <a:avLst/>
              <a:gdLst/>
              <a:ahLst/>
              <a:cxnLst/>
              <a:rect r="r" b="b" t="t" l="l"/>
              <a:pathLst>
                <a:path h="441340" w="7668272">
                  <a:moveTo>
                    <a:pt x="0" y="0"/>
                  </a:moveTo>
                  <a:lnTo>
                    <a:pt x="7668272" y="0"/>
                  </a:lnTo>
                  <a:lnTo>
                    <a:pt x="7668272" y="441340"/>
                  </a:lnTo>
                  <a:lnTo>
                    <a:pt x="0" y="4413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552" r="0" b="-28855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7668273" cy="498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1"/>
                </a:lnSpc>
              </a:pPr>
              <a:r>
                <a:rPr lang="en-US" sz="173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• Ahorro de costos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327597" y="5682244"/>
            <a:ext cx="6082208" cy="2372201"/>
            <a:chOff x="0" y="0"/>
            <a:chExt cx="8109610" cy="316293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09585" cy="3162935"/>
            </a:xfrm>
            <a:custGeom>
              <a:avLst/>
              <a:gdLst/>
              <a:ahLst/>
              <a:cxnLst/>
              <a:rect r="r" b="b" t="t" l="l"/>
              <a:pathLst>
                <a:path h="3162935" w="8109585">
                  <a:moveTo>
                    <a:pt x="147066" y="0"/>
                  </a:moveTo>
                  <a:lnTo>
                    <a:pt x="7962519" y="0"/>
                  </a:lnTo>
                  <a:cubicBezTo>
                    <a:pt x="8043799" y="0"/>
                    <a:pt x="8109585" y="65913"/>
                    <a:pt x="8109585" y="147066"/>
                  </a:cubicBezTo>
                  <a:lnTo>
                    <a:pt x="8109585" y="3015869"/>
                  </a:lnTo>
                  <a:cubicBezTo>
                    <a:pt x="8109585" y="3097149"/>
                    <a:pt x="8043672" y="3162935"/>
                    <a:pt x="7962519" y="3162935"/>
                  </a:cubicBezTo>
                  <a:lnTo>
                    <a:pt x="147066" y="3162935"/>
                  </a:lnTo>
                  <a:cubicBezTo>
                    <a:pt x="65913" y="3162935"/>
                    <a:pt x="0" y="3097022"/>
                    <a:pt x="0" y="3015869"/>
                  </a:cubicBezTo>
                  <a:lnTo>
                    <a:pt x="0" y="147066"/>
                  </a:lnTo>
                  <a:cubicBezTo>
                    <a:pt x="0" y="65913"/>
                    <a:pt x="65913" y="0"/>
                    <a:pt x="147066" y="0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548262" y="5902919"/>
            <a:ext cx="5751205" cy="331003"/>
            <a:chOff x="0" y="0"/>
            <a:chExt cx="7668273" cy="44133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668272" cy="441340"/>
            </a:xfrm>
            <a:custGeom>
              <a:avLst/>
              <a:gdLst/>
              <a:ahLst/>
              <a:cxnLst/>
              <a:rect r="r" b="b" t="t" l="l"/>
              <a:pathLst>
                <a:path h="441340" w="7668272">
                  <a:moveTo>
                    <a:pt x="0" y="0"/>
                  </a:moveTo>
                  <a:lnTo>
                    <a:pt x="7668272" y="0"/>
                  </a:lnTo>
                  <a:lnTo>
                    <a:pt x="7668272" y="441340"/>
                  </a:lnTo>
                  <a:lnTo>
                    <a:pt x="0" y="4413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552" r="0" b="-28855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57150"/>
              <a:ext cx="7668273" cy="498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1"/>
                </a:lnSpc>
              </a:pPr>
              <a:r>
                <a:rPr lang="en-US" sz="1737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Desafíos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548262" y="6344250"/>
            <a:ext cx="5751205" cy="331003"/>
            <a:chOff x="0" y="0"/>
            <a:chExt cx="7668273" cy="44133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668272" cy="441340"/>
            </a:xfrm>
            <a:custGeom>
              <a:avLst/>
              <a:gdLst/>
              <a:ahLst/>
              <a:cxnLst/>
              <a:rect r="r" b="b" t="t" l="l"/>
              <a:pathLst>
                <a:path h="441340" w="7668272">
                  <a:moveTo>
                    <a:pt x="0" y="0"/>
                  </a:moveTo>
                  <a:lnTo>
                    <a:pt x="7668272" y="0"/>
                  </a:lnTo>
                  <a:lnTo>
                    <a:pt x="7668272" y="441340"/>
                  </a:lnTo>
                  <a:lnTo>
                    <a:pt x="0" y="4413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552" r="0" b="-28855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7668273" cy="498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1"/>
                </a:lnSpc>
              </a:pPr>
              <a:r>
                <a:rPr lang="en-US" sz="173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• Consultas más complejas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548262" y="6730422"/>
            <a:ext cx="5751205" cy="331003"/>
            <a:chOff x="0" y="0"/>
            <a:chExt cx="7668273" cy="44133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668272" cy="441340"/>
            </a:xfrm>
            <a:custGeom>
              <a:avLst/>
              <a:gdLst/>
              <a:ahLst/>
              <a:cxnLst/>
              <a:rect r="r" b="b" t="t" l="l"/>
              <a:pathLst>
                <a:path h="441340" w="7668272">
                  <a:moveTo>
                    <a:pt x="0" y="0"/>
                  </a:moveTo>
                  <a:lnTo>
                    <a:pt x="7668272" y="0"/>
                  </a:lnTo>
                  <a:lnTo>
                    <a:pt x="7668272" y="441340"/>
                  </a:lnTo>
                  <a:lnTo>
                    <a:pt x="0" y="4413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552" r="0" b="-28855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57150"/>
              <a:ext cx="7668273" cy="498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1"/>
                </a:lnSpc>
              </a:pPr>
              <a:r>
                <a:rPr lang="en-US" sz="173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• Mayor complejidad general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548262" y="7116594"/>
            <a:ext cx="5751205" cy="331003"/>
            <a:chOff x="0" y="0"/>
            <a:chExt cx="7668273" cy="44133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668272" cy="441340"/>
            </a:xfrm>
            <a:custGeom>
              <a:avLst/>
              <a:gdLst/>
              <a:ahLst/>
              <a:cxnLst/>
              <a:rect r="r" b="b" t="t" l="l"/>
              <a:pathLst>
                <a:path h="441340" w="7668272">
                  <a:moveTo>
                    <a:pt x="0" y="0"/>
                  </a:moveTo>
                  <a:lnTo>
                    <a:pt x="7668272" y="0"/>
                  </a:lnTo>
                  <a:lnTo>
                    <a:pt x="7668272" y="441340"/>
                  </a:lnTo>
                  <a:lnTo>
                    <a:pt x="0" y="4413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552" r="0" b="-28855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7668273" cy="498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1"/>
                </a:lnSpc>
              </a:pPr>
              <a:r>
                <a:rPr lang="en-US" sz="173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• Requiere experiencia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548262" y="7502766"/>
            <a:ext cx="5751205" cy="331003"/>
            <a:chOff x="0" y="0"/>
            <a:chExt cx="7668273" cy="44133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668272" cy="441340"/>
            </a:xfrm>
            <a:custGeom>
              <a:avLst/>
              <a:gdLst/>
              <a:ahLst/>
              <a:cxnLst/>
              <a:rect r="r" b="b" t="t" l="l"/>
              <a:pathLst>
                <a:path h="441340" w="7668272">
                  <a:moveTo>
                    <a:pt x="0" y="0"/>
                  </a:moveTo>
                  <a:lnTo>
                    <a:pt x="7668272" y="0"/>
                  </a:lnTo>
                  <a:lnTo>
                    <a:pt x="7668272" y="441340"/>
                  </a:lnTo>
                  <a:lnTo>
                    <a:pt x="0" y="4413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8552" r="0" b="-28855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7668273" cy="498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1"/>
                </a:lnSpc>
              </a:pPr>
              <a:r>
                <a:rPr lang="en-US" sz="1737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• Posible impacto en rendimiento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024178" y="8661283"/>
            <a:ext cx="6716630" cy="1627442"/>
            <a:chOff x="0" y="0"/>
            <a:chExt cx="8955507" cy="216992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955405" cy="2169922"/>
            </a:xfrm>
            <a:custGeom>
              <a:avLst/>
              <a:gdLst/>
              <a:ahLst/>
              <a:cxnLst/>
              <a:rect r="r" b="b" t="t" l="l"/>
              <a:pathLst>
                <a:path h="2169922" w="8955405">
                  <a:moveTo>
                    <a:pt x="73533" y="0"/>
                  </a:moveTo>
                  <a:lnTo>
                    <a:pt x="8808339" y="0"/>
                  </a:lnTo>
                  <a:cubicBezTo>
                    <a:pt x="8889619" y="0"/>
                    <a:pt x="8955405" y="65913"/>
                    <a:pt x="8955405" y="147066"/>
                  </a:cubicBezTo>
                  <a:lnTo>
                    <a:pt x="8955405" y="2022856"/>
                  </a:lnTo>
                  <a:cubicBezTo>
                    <a:pt x="8955405" y="2104136"/>
                    <a:pt x="8889492" y="2169922"/>
                    <a:pt x="8808339" y="2169922"/>
                  </a:cubicBezTo>
                  <a:lnTo>
                    <a:pt x="73533" y="2169922"/>
                  </a:lnTo>
                  <a:cubicBezTo>
                    <a:pt x="32893" y="2169922"/>
                    <a:pt x="0" y="2137029"/>
                    <a:pt x="0" y="2096389"/>
                  </a:cubicBezTo>
                  <a:lnTo>
                    <a:pt x="0" y="73533"/>
                  </a:lnTo>
                  <a:cubicBezTo>
                    <a:pt x="0" y="33020"/>
                    <a:pt x="33020" y="0"/>
                    <a:pt x="73533" y="0"/>
                  </a:cubicBezTo>
                  <a:close/>
                </a:path>
              </a:pathLst>
            </a:custGeom>
            <a:solidFill>
              <a:srgbClr val="0984E3">
                <a:alpha val="0"/>
              </a:srgbClr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1024178" y="8661283"/>
            <a:ext cx="55169" cy="1627442"/>
            <a:chOff x="0" y="0"/>
            <a:chExt cx="73558" cy="216992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3533" cy="2169922"/>
            </a:xfrm>
            <a:custGeom>
              <a:avLst/>
              <a:gdLst/>
              <a:ahLst/>
              <a:cxnLst/>
              <a:rect r="r" b="b" t="t" l="l"/>
              <a:pathLst>
                <a:path h="2169922" w="73533">
                  <a:moveTo>
                    <a:pt x="73533" y="0"/>
                  </a:moveTo>
                  <a:lnTo>
                    <a:pt x="73533" y="2169922"/>
                  </a:lnTo>
                  <a:cubicBezTo>
                    <a:pt x="32893" y="2169922"/>
                    <a:pt x="0" y="2137029"/>
                    <a:pt x="0" y="2096389"/>
                  </a:cubicBezTo>
                  <a:lnTo>
                    <a:pt x="0" y="73533"/>
                  </a:lnTo>
                  <a:cubicBezTo>
                    <a:pt x="0" y="33020"/>
                    <a:pt x="33020" y="0"/>
                    <a:pt x="73533" y="0"/>
                  </a:cubicBezTo>
                  <a:close/>
                </a:path>
              </a:pathLst>
            </a:custGeom>
            <a:solidFill>
              <a:srgbClr val="0984E3"/>
            </a:solidFill>
          </p:spPr>
        </p:sp>
      </p:grpSp>
      <p:sp>
        <p:nvSpPr>
          <p:cNvPr name="Freeform 92" id="92"/>
          <p:cNvSpPr/>
          <p:nvPr/>
        </p:nvSpPr>
        <p:spPr>
          <a:xfrm flipH="false" flipV="false" rot="0">
            <a:off x="11382766" y="8992286"/>
            <a:ext cx="165506" cy="220666"/>
          </a:xfrm>
          <a:custGeom>
            <a:avLst/>
            <a:gdLst/>
            <a:ahLst/>
            <a:cxnLst/>
            <a:rect r="r" b="b" t="t" l="l"/>
            <a:pathLst>
              <a:path h="220666" w="165506">
                <a:moveTo>
                  <a:pt x="0" y="0"/>
                </a:moveTo>
                <a:lnTo>
                  <a:pt x="165506" y="0"/>
                </a:lnTo>
                <a:lnTo>
                  <a:pt x="165506" y="220665"/>
                </a:lnTo>
                <a:lnTo>
                  <a:pt x="0" y="22066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11683308" y="8937117"/>
            <a:ext cx="5891994" cy="1075763"/>
            <a:chOff x="0" y="0"/>
            <a:chExt cx="7855991" cy="143435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855990" cy="1434352"/>
            </a:xfrm>
            <a:custGeom>
              <a:avLst/>
              <a:gdLst/>
              <a:ahLst/>
              <a:cxnLst/>
              <a:rect r="r" b="b" t="t" l="l"/>
              <a:pathLst>
                <a:path h="1434352" w="7855990">
                  <a:moveTo>
                    <a:pt x="0" y="0"/>
                  </a:moveTo>
                  <a:lnTo>
                    <a:pt x="7855990" y="0"/>
                  </a:lnTo>
                  <a:lnTo>
                    <a:pt x="7855990" y="1434352"/>
                  </a:lnTo>
                  <a:lnTo>
                    <a:pt x="0" y="1434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20" r="0" b="-5672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0"/>
              <a:ext cx="7855991" cy="15296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8"/>
                </a:lnSpc>
              </a:pPr>
              <a:r>
                <a:rPr lang="en-US" sz="1737" b="true">
                  <a:solidFill>
                    <a:srgbClr val="2D343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Consideración:</a:t>
              </a:r>
              <a:r>
                <a:rPr lang="en-US" sz="1737">
                  <a:solidFill>
                    <a:srgbClr val="636E72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Estos desafíos deben sopesarse cuidadosamente contra los beneficios antes de implementar la normalización.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9667"/>
            <a:chOff x="0" y="0"/>
            <a:chExt cx="24384000" cy="13719556"/>
          </a:xfrm>
        </p:grpSpPr>
        <p:sp>
          <p:nvSpPr>
            <p:cNvPr name="Freeform 3" id="3" descr="https://kimi-web-img.moonshot.cn/img/snb.thesagenext.com/76526157e9be83cd93d924e2161401364f9f5bb4.webp"/>
            <p:cNvSpPr/>
            <p:nvPr/>
          </p:nvSpPr>
          <p:spPr>
            <a:xfrm flipH="false" flipV="false" rot="0">
              <a:off x="0" y="0"/>
              <a:ext cx="24384000" cy="13719556"/>
            </a:xfrm>
            <a:custGeom>
              <a:avLst/>
              <a:gdLst/>
              <a:ahLst/>
              <a:cxnLst/>
              <a:rect r="r" b="b" t="t" l="l"/>
              <a:pathLst>
                <a:path h="1371955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9556"/>
                  </a:lnTo>
                  <a:lnTo>
                    <a:pt x="0" y="13719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264" t="0" r="-6264" b="-9999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9667"/>
            <a:chOff x="0" y="0"/>
            <a:chExt cx="24384000" cy="137195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9556"/>
            </a:xfrm>
            <a:custGeom>
              <a:avLst/>
              <a:gdLst/>
              <a:ahLst/>
              <a:cxnLst/>
              <a:rect r="r" b="b" t="t" l="l"/>
              <a:pathLst>
                <a:path h="1371955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9556"/>
                  </a:lnTo>
                  <a:lnTo>
                    <a:pt x="0" y="13719556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2D3436">
                    <a:alpha val="95000"/>
                  </a:srgbClr>
                </a:gs>
                <a:gs pos="50000">
                  <a:srgbClr val="2D3436">
                    <a:alpha val="90000"/>
                  </a:srgbClr>
                </a:gs>
                <a:gs pos="100000">
                  <a:srgbClr val="0984E3">
                    <a:alpha val="80000"/>
                  </a:srgbClr>
                </a:gs>
              </a:gsLst>
              <a:lin ang="3638154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73957" y="540782"/>
            <a:ext cx="2275265" cy="595903"/>
          </a:xfrm>
          <a:custGeom>
            <a:avLst/>
            <a:gdLst/>
            <a:ahLst/>
            <a:cxnLst/>
            <a:rect r="r" b="b" t="t" l="l"/>
            <a:pathLst>
              <a:path h="595903" w="2275265">
                <a:moveTo>
                  <a:pt x="0" y="0"/>
                </a:moveTo>
                <a:lnTo>
                  <a:pt x="2275266" y="0"/>
                </a:lnTo>
                <a:lnTo>
                  <a:pt x="2275266" y="595903"/>
                </a:lnTo>
                <a:lnTo>
                  <a:pt x="0" y="595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14988" y="667960"/>
            <a:ext cx="1907076" cy="341566"/>
            <a:chOff x="0" y="0"/>
            <a:chExt cx="2542769" cy="4554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2768" cy="455422"/>
            </a:xfrm>
            <a:custGeom>
              <a:avLst/>
              <a:gdLst/>
              <a:ahLst/>
              <a:cxnLst/>
              <a:rect r="r" b="b" t="t" l="l"/>
              <a:pathLst>
                <a:path h="455422" w="2542768">
                  <a:moveTo>
                    <a:pt x="0" y="0"/>
                  </a:moveTo>
                  <a:lnTo>
                    <a:pt x="2542768" y="0"/>
                  </a:lnTo>
                  <a:lnTo>
                    <a:pt x="2542768" y="455422"/>
                  </a:lnTo>
                  <a:lnTo>
                    <a:pt x="0" y="45542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542769" cy="522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6"/>
                </a:lnSpc>
              </a:pPr>
              <a:r>
                <a:rPr lang="en-US" b="true" sz="1792" spc="89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CONCLUSIONES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69281" y="1250985"/>
            <a:ext cx="17491015" cy="1707833"/>
            <a:chOff x="0" y="0"/>
            <a:chExt cx="23321353" cy="22771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321350" cy="2277106"/>
            </a:xfrm>
            <a:custGeom>
              <a:avLst/>
              <a:gdLst/>
              <a:ahLst/>
              <a:cxnLst/>
              <a:rect r="r" b="b" t="t" l="l"/>
              <a:pathLst>
                <a:path h="2277106" w="23321350">
                  <a:moveTo>
                    <a:pt x="0" y="0"/>
                  </a:moveTo>
                  <a:lnTo>
                    <a:pt x="23321350" y="0"/>
                  </a:lnTo>
                  <a:lnTo>
                    <a:pt x="23321350" y="2277106"/>
                  </a:lnTo>
                  <a:lnTo>
                    <a:pt x="0" y="22771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559" r="0" b="-14955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3321353" cy="2286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54"/>
                </a:lnSpc>
              </a:pPr>
              <a:r>
                <a:rPr lang="en-US" sz="5379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Conclusiones y</a:t>
              </a:r>
            </a:p>
            <a:p>
              <a:pPr algn="l">
                <a:lnSpc>
                  <a:spcPts val="6454"/>
                </a:lnSpc>
              </a:pPr>
              <a:r>
                <a:rPr lang="en-US" sz="5379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Mejores Prácticas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69281" y="3073117"/>
            <a:ext cx="12749946" cy="1848307"/>
          </a:xfrm>
          <a:custGeom>
            <a:avLst/>
            <a:gdLst/>
            <a:ahLst/>
            <a:cxnLst/>
            <a:rect r="r" b="b" t="t" l="l"/>
            <a:pathLst>
              <a:path h="1848307" w="12749946">
                <a:moveTo>
                  <a:pt x="0" y="0"/>
                </a:moveTo>
                <a:lnTo>
                  <a:pt x="12749946" y="0"/>
                </a:lnTo>
                <a:lnTo>
                  <a:pt x="12749946" y="1848308"/>
                </a:lnTo>
                <a:lnTo>
                  <a:pt x="0" y="18483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67232" y="3371059"/>
            <a:ext cx="683133" cy="683133"/>
            <a:chOff x="0" y="0"/>
            <a:chExt cx="910844" cy="9108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0844" cy="910844"/>
            </a:xfrm>
            <a:custGeom>
              <a:avLst/>
              <a:gdLst/>
              <a:ahLst/>
              <a:cxnLst/>
              <a:rect r="r" b="b" t="t" l="l"/>
              <a:pathLst>
                <a:path h="910844" w="910844">
                  <a:moveTo>
                    <a:pt x="455422" y="0"/>
                  </a:moveTo>
                  <a:cubicBezTo>
                    <a:pt x="706755" y="0"/>
                    <a:pt x="910844" y="204089"/>
                    <a:pt x="910844" y="455422"/>
                  </a:cubicBezTo>
                  <a:cubicBezTo>
                    <a:pt x="910844" y="706755"/>
                    <a:pt x="706755" y="910844"/>
                    <a:pt x="455422" y="910844"/>
                  </a:cubicBezTo>
                  <a:cubicBezTo>
                    <a:pt x="204089" y="910844"/>
                    <a:pt x="0" y="706755"/>
                    <a:pt x="0" y="455422"/>
                  </a:cubicBezTo>
                  <a:cubicBezTo>
                    <a:pt x="0" y="204089"/>
                    <a:pt x="204089" y="0"/>
                    <a:pt x="455422" y="0"/>
                  </a:cubicBezTo>
                  <a:close/>
                </a:path>
              </a:pathLst>
            </a:custGeom>
            <a:solidFill>
              <a:srgbClr val="0984E3">
                <a:alpha val="3922"/>
              </a:srgbClr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048693" y="3570313"/>
            <a:ext cx="320221" cy="284636"/>
          </a:xfrm>
          <a:custGeom>
            <a:avLst/>
            <a:gdLst/>
            <a:ahLst/>
            <a:cxnLst/>
            <a:rect r="r" b="b" t="t" l="l"/>
            <a:pathLst>
              <a:path h="284636" w="320221">
                <a:moveTo>
                  <a:pt x="0" y="0"/>
                </a:moveTo>
                <a:lnTo>
                  <a:pt x="320221" y="0"/>
                </a:lnTo>
                <a:lnTo>
                  <a:pt x="320221" y="284635"/>
                </a:lnTo>
                <a:lnTo>
                  <a:pt x="0" y="2846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778079" y="3371059"/>
            <a:ext cx="11385528" cy="398497"/>
            <a:chOff x="0" y="0"/>
            <a:chExt cx="15180704" cy="5313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180700" cy="531324"/>
            </a:xfrm>
            <a:custGeom>
              <a:avLst/>
              <a:gdLst/>
              <a:ahLst/>
              <a:cxnLst/>
              <a:rect r="r" b="b" t="t" l="l"/>
              <a:pathLst>
                <a:path h="531324" w="15180700">
                  <a:moveTo>
                    <a:pt x="0" y="0"/>
                  </a:moveTo>
                  <a:lnTo>
                    <a:pt x="15180700" y="0"/>
                  </a:lnTo>
                  <a:lnTo>
                    <a:pt x="15180700" y="531324"/>
                  </a:lnTo>
                  <a:lnTo>
                    <a:pt x="0" y="5313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06715" r="0" b="-50671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5180704" cy="588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7"/>
                </a:lnSpc>
              </a:pPr>
              <a:r>
                <a:rPr lang="en-US" sz="2241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La normalización es esencial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78079" y="3883409"/>
            <a:ext cx="11357058" cy="740064"/>
            <a:chOff x="0" y="0"/>
            <a:chExt cx="15142743" cy="986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142749" cy="986746"/>
            </a:xfrm>
            <a:custGeom>
              <a:avLst/>
              <a:gdLst/>
              <a:ahLst/>
              <a:cxnLst/>
              <a:rect r="r" b="b" t="t" l="l"/>
              <a:pathLst>
                <a:path h="986746" w="15142749">
                  <a:moveTo>
                    <a:pt x="0" y="0"/>
                  </a:moveTo>
                  <a:lnTo>
                    <a:pt x="15142749" y="0"/>
                  </a:lnTo>
                  <a:lnTo>
                    <a:pt x="15142749" y="986746"/>
                  </a:lnTo>
                  <a:lnTo>
                    <a:pt x="0" y="98674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9019" r="0" b="-24902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15142743" cy="1082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11"/>
                </a:lnSpc>
              </a:pPr>
              <a:r>
                <a:rPr lang="en-US" sz="1792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Para diseñar bases de datos eficientes, pero debe aplicarse con criterio y considerando los requisitos específicos del proyecto.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569281" y="5145272"/>
            <a:ext cx="6260201" cy="1848307"/>
          </a:xfrm>
          <a:custGeom>
            <a:avLst/>
            <a:gdLst/>
            <a:ahLst/>
            <a:cxnLst/>
            <a:rect r="r" b="b" t="t" l="l"/>
            <a:pathLst>
              <a:path h="1848307" w="6260201">
                <a:moveTo>
                  <a:pt x="0" y="0"/>
                </a:moveTo>
                <a:lnTo>
                  <a:pt x="6260201" y="0"/>
                </a:lnTo>
                <a:lnTo>
                  <a:pt x="6260201" y="1848307"/>
                </a:lnTo>
                <a:lnTo>
                  <a:pt x="0" y="18483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867232" y="5443223"/>
            <a:ext cx="569281" cy="569281"/>
            <a:chOff x="0" y="0"/>
            <a:chExt cx="759041" cy="75904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9079" cy="759079"/>
            </a:xfrm>
            <a:custGeom>
              <a:avLst/>
              <a:gdLst/>
              <a:ahLst/>
              <a:cxnLst/>
              <a:rect r="r" b="b" t="t" l="l"/>
              <a:pathLst>
                <a:path h="759079" w="759079">
                  <a:moveTo>
                    <a:pt x="379476" y="0"/>
                  </a:moveTo>
                  <a:cubicBezTo>
                    <a:pt x="589026" y="0"/>
                    <a:pt x="759079" y="170053"/>
                    <a:pt x="759079" y="379476"/>
                  </a:cubicBezTo>
                  <a:cubicBezTo>
                    <a:pt x="759079" y="588899"/>
                    <a:pt x="589026" y="759079"/>
                    <a:pt x="379476" y="759079"/>
                  </a:cubicBezTo>
                  <a:cubicBezTo>
                    <a:pt x="169926" y="759079"/>
                    <a:pt x="0" y="589026"/>
                    <a:pt x="0" y="379476"/>
                  </a:cubicBezTo>
                  <a:cubicBezTo>
                    <a:pt x="0" y="169926"/>
                    <a:pt x="170053" y="0"/>
                    <a:pt x="379476" y="0"/>
                  </a:cubicBezTo>
                  <a:close/>
                </a:path>
              </a:pathLst>
            </a:custGeom>
            <a:solidFill>
              <a:srgbClr val="0984E3">
                <a:alpha val="392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11129" y="5528615"/>
            <a:ext cx="213474" cy="398497"/>
            <a:chOff x="0" y="0"/>
            <a:chExt cx="284632" cy="5313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4638" cy="531324"/>
            </a:xfrm>
            <a:custGeom>
              <a:avLst/>
              <a:gdLst/>
              <a:ahLst/>
              <a:cxnLst/>
              <a:rect r="r" b="b" t="t" l="l"/>
              <a:pathLst>
                <a:path h="531324" w="284638">
                  <a:moveTo>
                    <a:pt x="0" y="0"/>
                  </a:moveTo>
                  <a:lnTo>
                    <a:pt x="284638" y="0"/>
                  </a:lnTo>
                  <a:lnTo>
                    <a:pt x="284638" y="531324"/>
                  </a:lnTo>
                  <a:lnTo>
                    <a:pt x="0" y="5313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89503" t="0" r="-189501" b="-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284632" cy="607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7"/>
                </a:lnSpc>
              </a:pPr>
              <a:r>
                <a:rPr lang="en-US" sz="2017" b="true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07296" y="5443223"/>
            <a:ext cx="5052327" cy="398497"/>
            <a:chOff x="0" y="0"/>
            <a:chExt cx="6736436" cy="53133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36436" cy="531324"/>
            </a:xfrm>
            <a:custGeom>
              <a:avLst/>
              <a:gdLst/>
              <a:ahLst/>
              <a:cxnLst/>
              <a:rect r="r" b="b" t="t" l="l"/>
              <a:pathLst>
                <a:path h="531324" w="6736436">
                  <a:moveTo>
                    <a:pt x="0" y="0"/>
                  </a:moveTo>
                  <a:lnTo>
                    <a:pt x="6736436" y="0"/>
                  </a:lnTo>
                  <a:lnTo>
                    <a:pt x="6736436" y="531324"/>
                  </a:lnTo>
                  <a:lnTo>
                    <a:pt x="0" y="5313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7042" r="0" b="-19704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6736436" cy="607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7"/>
                </a:lnSpc>
              </a:pPr>
              <a:r>
                <a:rPr lang="en-US" sz="2017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No siempre 5NF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95909" y="5841721"/>
            <a:ext cx="5038096" cy="1059453"/>
            <a:chOff x="0" y="0"/>
            <a:chExt cx="6717462" cy="14126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17460" cy="1412596"/>
            </a:xfrm>
            <a:custGeom>
              <a:avLst/>
              <a:gdLst/>
              <a:ahLst/>
              <a:cxnLst/>
              <a:rect r="r" b="b" t="t" l="l"/>
              <a:pathLst>
                <a:path h="1412596" w="6717460">
                  <a:moveTo>
                    <a:pt x="0" y="0"/>
                  </a:moveTo>
                  <a:lnTo>
                    <a:pt x="6717460" y="0"/>
                  </a:lnTo>
                  <a:lnTo>
                    <a:pt x="6717460" y="1412596"/>
                  </a:lnTo>
                  <a:lnTo>
                    <a:pt x="0" y="14125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732" r="0" b="-2758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0"/>
              <a:ext cx="6717462" cy="150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11"/>
                </a:lnSpc>
              </a:pPr>
              <a:r>
                <a:rPr lang="en-US" sz="1792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No siempre es necesario alcanzar 5NF. Para la mayoría de aplicaciones, 3NF suele ser suficiente.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7059035" y="5145272"/>
            <a:ext cx="6260201" cy="1848307"/>
          </a:xfrm>
          <a:custGeom>
            <a:avLst/>
            <a:gdLst/>
            <a:ahLst/>
            <a:cxnLst/>
            <a:rect r="r" b="b" t="t" l="l"/>
            <a:pathLst>
              <a:path h="1848307" w="6260201">
                <a:moveTo>
                  <a:pt x="0" y="0"/>
                </a:moveTo>
                <a:lnTo>
                  <a:pt x="6260201" y="0"/>
                </a:lnTo>
                <a:lnTo>
                  <a:pt x="6260201" y="1848307"/>
                </a:lnTo>
                <a:lnTo>
                  <a:pt x="0" y="18483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7356986" y="5443223"/>
            <a:ext cx="569281" cy="569281"/>
            <a:chOff x="0" y="0"/>
            <a:chExt cx="759041" cy="75904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59079" cy="759079"/>
            </a:xfrm>
            <a:custGeom>
              <a:avLst/>
              <a:gdLst/>
              <a:ahLst/>
              <a:cxnLst/>
              <a:rect r="r" b="b" t="t" l="l"/>
              <a:pathLst>
                <a:path h="759079" w="759079">
                  <a:moveTo>
                    <a:pt x="379476" y="0"/>
                  </a:moveTo>
                  <a:cubicBezTo>
                    <a:pt x="589026" y="0"/>
                    <a:pt x="759079" y="170053"/>
                    <a:pt x="759079" y="379476"/>
                  </a:cubicBezTo>
                  <a:cubicBezTo>
                    <a:pt x="759079" y="588899"/>
                    <a:pt x="589026" y="759079"/>
                    <a:pt x="379476" y="759079"/>
                  </a:cubicBezTo>
                  <a:cubicBezTo>
                    <a:pt x="169926" y="759079"/>
                    <a:pt x="0" y="589026"/>
                    <a:pt x="0" y="379476"/>
                  </a:cubicBezTo>
                  <a:cubicBezTo>
                    <a:pt x="0" y="169926"/>
                    <a:pt x="170053" y="0"/>
                    <a:pt x="379476" y="0"/>
                  </a:cubicBezTo>
                  <a:close/>
                </a:path>
              </a:pathLst>
            </a:custGeom>
            <a:solidFill>
              <a:srgbClr val="0984E3">
                <a:alpha val="3922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576328" y="5528615"/>
            <a:ext cx="256175" cy="398497"/>
            <a:chOff x="0" y="0"/>
            <a:chExt cx="341566" cy="53133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1566" cy="531324"/>
            </a:xfrm>
            <a:custGeom>
              <a:avLst/>
              <a:gdLst/>
              <a:ahLst/>
              <a:cxnLst/>
              <a:rect r="r" b="b" t="t" l="l"/>
              <a:pathLst>
                <a:path h="531324" w="341566">
                  <a:moveTo>
                    <a:pt x="0" y="0"/>
                  </a:moveTo>
                  <a:lnTo>
                    <a:pt x="341566" y="0"/>
                  </a:lnTo>
                  <a:lnTo>
                    <a:pt x="341566" y="531324"/>
                  </a:lnTo>
                  <a:lnTo>
                    <a:pt x="0" y="5313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9585" t="0" r="-149585" b="-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341566" cy="607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7"/>
                </a:lnSpc>
              </a:pPr>
              <a:r>
                <a:rPr lang="en-US" sz="2017" b="true">
                  <a:solidFill>
                    <a:srgbClr val="0984E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097041" y="5443223"/>
            <a:ext cx="5052327" cy="398497"/>
            <a:chOff x="0" y="0"/>
            <a:chExt cx="6736436" cy="5313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736436" cy="531324"/>
            </a:xfrm>
            <a:custGeom>
              <a:avLst/>
              <a:gdLst/>
              <a:ahLst/>
              <a:cxnLst/>
              <a:rect r="r" b="b" t="t" l="l"/>
              <a:pathLst>
                <a:path h="531324" w="6736436">
                  <a:moveTo>
                    <a:pt x="0" y="0"/>
                  </a:moveTo>
                  <a:lnTo>
                    <a:pt x="6736436" y="0"/>
                  </a:lnTo>
                  <a:lnTo>
                    <a:pt x="6736436" y="531324"/>
                  </a:lnTo>
                  <a:lnTo>
                    <a:pt x="0" y="5313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7042" r="0" b="-19704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6736436" cy="607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7"/>
                </a:lnSpc>
              </a:pPr>
              <a:r>
                <a:rPr lang="en-US" sz="2017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Equilibrio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097041" y="5955573"/>
            <a:ext cx="5038096" cy="740064"/>
            <a:chOff x="0" y="0"/>
            <a:chExt cx="6717462" cy="986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17460" cy="986746"/>
            </a:xfrm>
            <a:custGeom>
              <a:avLst/>
              <a:gdLst/>
              <a:ahLst/>
              <a:cxnLst/>
              <a:rect r="r" b="b" t="t" l="l"/>
              <a:pathLst>
                <a:path h="986746" w="6717460">
                  <a:moveTo>
                    <a:pt x="0" y="0"/>
                  </a:moveTo>
                  <a:lnTo>
                    <a:pt x="6717460" y="0"/>
                  </a:lnTo>
                  <a:lnTo>
                    <a:pt x="6717460" y="986746"/>
                  </a:lnTo>
                  <a:lnTo>
                    <a:pt x="0" y="98674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647" r="0" b="-8264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0"/>
              <a:ext cx="6717462" cy="1082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11"/>
                </a:lnSpc>
              </a:pPr>
              <a:r>
                <a:rPr lang="en-US" sz="1792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Equilibrar beneficios de integridad y rendimiento con la complejidad de consultas.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569281" y="7217445"/>
            <a:ext cx="12749946" cy="1848307"/>
          </a:xfrm>
          <a:custGeom>
            <a:avLst/>
            <a:gdLst/>
            <a:ahLst/>
            <a:cxnLst/>
            <a:rect r="r" b="b" t="t" l="l"/>
            <a:pathLst>
              <a:path h="1848307" w="12749946">
                <a:moveTo>
                  <a:pt x="0" y="0"/>
                </a:moveTo>
                <a:lnTo>
                  <a:pt x="12749946" y="0"/>
                </a:lnTo>
                <a:lnTo>
                  <a:pt x="12749946" y="1848307"/>
                </a:lnTo>
                <a:lnTo>
                  <a:pt x="0" y="18483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867232" y="7515396"/>
            <a:ext cx="683133" cy="683133"/>
            <a:chOff x="0" y="0"/>
            <a:chExt cx="910844" cy="9108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0844" cy="910844"/>
            </a:xfrm>
            <a:custGeom>
              <a:avLst/>
              <a:gdLst/>
              <a:ahLst/>
              <a:cxnLst/>
              <a:rect r="r" b="b" t="t" l="l"/>
              <a:pathLst>
                <a:path h="910844" w="910844">
                  <a:moveTo>
                    <a:pt x="455422" y="0"/>
                  </a:moveTo>
                  <a:cubicBezTo>
                    <a:pt x="706755" y="0"/>
                    <a:pt x="910844" y="204089"/>
                    <a:pt x="910844" y="455422"/>
                  </a:cubicBezTo>
                  <a:cubicBezTo>
                    <a:pt x="910844" y="706755"/>
                    <a:pt x="706755" y="910844"/>
                    <a:pt x="455422" y="910844"/>
                  </a:cubicBezTo>
                  <a:cubicBezTo>
                    <a:pt x="204089" y="910844"/>
                    <a:pt x="0" y="706755"/>
                    <a:pt x="0" y="455422"/>
                  </a:cubicBezTo>
                  <a:cubicBezTo>
                    <a:pt x="0" y="204089"/>
                    <a:pt x="204089" y="0"/>
                    <a:pt x="455422" y="0"/>
                  </a:cubicBezTo>
                  <a:close/>
                </a:path>
              </a:pathLst>
            </a:custGeom>
            <a:solidFill>
              <a:srgbClr val="0984E3">
                <a:alpha val="3922"/>
              </a:srgbClr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1066476" y="7714640"/>
            <a:ext cx="284636" cy="284636"/>
          </a:xfrm>
          <a:custGeom>
            <a:avLst/>
            <a:gdLst/>
            <a:ahLst/>
            <a:cxnLst/>
            <a:rect r="r" b="b" t="t" l="l"/>
            <a:pathLst>
              <a:path h="284636" w="284636">
                <a:moveTo>
                  <a:pt x="0" y="0"/>
                </a:moveTo>
                <a:lnTo>
                  <a:pt x="284636" y="0"/>
                </a:lnTo>
                <a:lnTo>
                  <a:pt x="284636" y="284636"/>
                </a:lnTo>
                <a:lnTo>
                  <a:pt x="0" y="2846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778079" y="7515396"/>
            <a:ext cx="11385528" cy="398497"/>
            <a:chOff x="0" y="0"/>
            <a:chExt cx="15180704" cy="53133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5180700" cy="531324"/>
            </a:xfrm>
            <a:custGeom>
              <a:avLst/>
              <a:gdLst/>
              <a:ahLst/>
              <a:cxnLst/>
              <a:rect r="r" b="b" t="t" l="l"/>
              <a:pathLst>
                <a:path h="531324" w="15180700">
                  <a:moveTo>
                    <a:pt x="0" y="0"/>
                  </a:moveTo>
                  <a:lnTo>
                    <a:pt x="15180700" y="0"/>
                  </a:lnTo>
                  <a:lnTo>
                    <a:pt x="15180700" y="531324"/>
                  </a:lnTo>
                  <a:lnTo>
                    <a:pt x="0" y="5313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06715" r="0" b="-50671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15180704" cy="588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7"/>
                </a:lnSpc>
              </a:pPr>
              <a:r>
                <a:rPr lang="en-US" sz="2241">
                  <a:solidFill>
                    <a:srgbClr val="FFFFFF"/>
                  </a:solidFill>
                  <a:latin typeface="Oranienbaum"/>
                  <a:ea typeface="Oranienbaum"/>
                  <a:cs typeface="Oranienbaum"/>
                  <a:sym typeface="Oranienbaum"/>
                </a:rPr>
                <a:t>Considerar requisitos específicos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778079" y="8027746"/>
            <a:ext cx="11357058" cy="740064"/>
            <a:chOff x="0" y="0"/>
            <a:chExt cx="15142743" cy="98675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142749" cy="986746"/>
            </a:xfrm>
            <a:custGeom>
              <a:avLst/>
              <a:gdLst/>
              <a:ahLst/>
              <a:cxnLst/>
              <a:rect r="r" b="b" t="t" l="l"/>
              <a:pathLst>
                <a:path h="986746" w="15142749">
                  <a:moveTo>
                    <a:pt x="0" y="0"/>
                  </a:moveTo>
                  <a:lnTo>
                    <a:pt x="15142749" y="0"/>
                  </a:lnTo>
                  <a:lnTo>
                    <a:pt x="15142749" y="986746"/>
                  </a:lnTo>
                  <a:lnTo>
                    <a:pt x="0" y="98674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9019" r="0" b="-24902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0"/>
              <a:ext cx="15142743" cy="1082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11"/>
                </a:lnSpc>
              </a:pPr>
              <a:r>
                <a:rPr lang="en-US" sz="1792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Volumen de datos, patrones de consulta, necesidades de rendimiento y recursos disponibles deben guiar el nivel de normalización.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573957" y="9503788"/>
            <a:ext cx="249060" cy="284636"/>
          </a:xfrm>
          <a:custGeom>
            <a:avLst/>
            <a:gdLst/>
            <a:ahLst/>
            <a:cxnLst/>
            <a:rect r="r" b="b" t="t" l="l"/>
            <a:pathLst>
              <a:path h="284636" w="249060">
                <a:moveTo>
                  <a:pt x="0" y="0"/>
                </a:moveTo>
                <a:lnTo>
                  <a:pt x="249060" y="0"/>
                </a:lnTo>
                <a:lnTo>
                  <a:pt x="249060" y="284635"/>
                </a:lnTo>
                <a:lnTo>
                  <a:pt x="0" y="28463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990238" y="9475327"/>
            <a:ext cx="1110091" cy="341566"/>
            <a:chOff x="0" y="0"/>
            <a:chExt cx="1480122" cy="45542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80118" cy="455422"/>
            </a:xfrm>
            <a:custGeom>
              <a:avLst/>
              <a:gdLst/>
              <a:ahLst/>
              <a:cxnLst/>
              <a:rect r="r" b="b" t="t" l="l"/>
              <a:pathLst>
                <a:path h="455422" w="1480118">
                  <a:moveTo>
                    <a:pt x="0" y="0"/>
                  </a:moveTo>
                  <a:lnTo>
                    <a:pt x="1480118" y="0"/>
                  </a:lnTo>
                  <a:lnTo>
                    <a:pt x="1480118" y="455422"/>
                  </a:lnTo>
                  <a:lnTo>
                    <a:pt x="0" y="45542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1480122" cy="522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6"/>
                </a:lnSpc>
              </a:pPr>
              <a:r>
                <a:rPr lang="en-US" sz="1792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Integridad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2366467" y="9503788"/>
            <a:ext cx="284636" cy="284636"/>
          </a:xfrm>
          <a:custGeom>
            <a:avLst/>
            <a:gdLst/>
            <a:ahLst/>
            <a:cxnLst/>
            <a:rect r="r" b="b" t="t" l="l"/>
            <a:pathLst>
              <a:path h="284636" w="284636">
                <a:moveTo>
                  <a:pt x="0" y="0"/>
                </a:moveTo>
                <a:lnTo>
                  <a:pt x="284636" y="0"/>
                </a:lnTo>
                <a:lnTo>
                  <a:pt x="284636" y="284635"/>
                </a:lnTo>
                <a:lnTo>
                  <a:pt x="0" y="28463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2800531" y="9475327"/>
            <a:ext cx="1366266" cy="341566"/>
            <a:chOff x="0" y="0"/>
            <a:chExt cx="1821688" cy="45542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821684" cy="455422"/>
            </a:xfrm>
            <a:custGeom>
              <a:avLst/>
              <a:gdLst/>
              <a:ahLst/>
              <a:cxnLst/>
              <a:rect r="r" b="b" t="t" l="l"/>
              <a:pathLst>
                <a:path h="455422" w="1821684">
                  <a:moveTo>
                    <a:pt x="0" y="0"/>
                  </a:moveTo>
                  <a:lnTo>
                    <a:pt x="1821684" y="0"/>
                  </a:lnTo>
                  <a:lnTo>
                    <a:pt x="1821684" y="455422"/>
                  </a:lnTo>
                  <a:lnTo>
                    <a:pt x="0" y="45542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1821688" cy="522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6"/>
                </a:lnSpc>
              </a:pPr>
              <a:r>
                <a:rPr lang="en-US" sz="1792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Rendimiento</a:t>
              </a: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4389882" y="9503788"/>
            <a:ext cx="355797" cy="284636"/>
          </a:xfrm>
          <a:custGeom>
            <a:avLst/>
            <a:gdLst/>
            <a:ahLst/>
            <a:cxnLst/>
            <a:rect r="r" b="b" t="t" l="l"/>
            <a:pathLst>
              <a:path h="284636" w="355797">
                <a:moveTo>
                  <a:pt x="0" y="0"/>
                </a:moveTo>
                <a:lnTo>
                  <a:pt x="355797" y="0"/>
                </a:lnTo>
                <a:lnTo>
                  <a:pt x="355797" y="284635"/>
                </a:lnTo>
                <a:lnTo>
                  <a:pt x="0" y="28463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4859541" y="9475327"/>
            <a:ext cx="1038930" cy="341566"/>
            <a:chOff x="0" y="0"/>
            <a:chExt cx="1385240" cy="45542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85238" cy="455422"/>
            </a:xfrm>
            <a:custGeom>
              <a:avLst/>
              <a:gdLst/>
              <a:ahLst/>
              <a:cxnLst/>
              <a:rect r="r" b="b" t="t" l="l"/>
              <a:pathLst>
                <a:path h="455422" w="1385238">
                  <a:moveTo>
                    <a:pt x="0" y="0"/>
                  </a:moveTo>
                  <a:lnTo>
                    <a:pt x="1385238" y="0"/>
                  </a:lnTo>
                  <a:lnTo>
                    <a:pt x="1385238" y="455422"/>
                  </a:lnTo>
                  <a:lnTo>
                    <a:pt x="0" y="45542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66" r="0" b="-926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66675"/>
              <a:ext cx="1385240" cy="522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6"/>
                </a:lnSpc>
              </a:pPr>
              <a:r>
                <a:rPr lang="en-US" sz="1792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Equilibrio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DAHHC9Swba8</dc:identifier>
  <dcterms:modified xsi:type="dcterms:W3CDTF">2011-08-01T06:04:30Z</dcterms:modified>
  <cp:revision>1</cp:revision>
  <dc:title>La Normalizacion en la Base de Datos</dc:title>
</cp:coreProperties>
</file>