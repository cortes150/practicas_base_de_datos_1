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1315700"/>
  <p:notesSz cx="11430000" cy="11315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49" y="0"/>
            <a:ext cx="4286249" cy="64389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6880" y="1839912"/>
            <a:ext cx="5670550" cy="1563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47164" y="3713575"/>
            <a:ext cx="3876675" cy="76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6880" y="487362"/>
            <a:ext cx="9309735" cy="591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650" y="2857499"/>
            <a:ext cx="10172700" cy="273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-635">
              <a:lnSpc>
                <a:spcPts val="4650"/>
              </a:lnSpc>
              <a:spcBef>
                <a:spcPts val="90"/>
              </a:spcBef>
            </a:pPr>
            <a:r>
              <a:rPr dirty="0" spc="170"/>
              <a:t>Arquitectura</a:t>
            </a:r>
            <a:r>
              <a:rPr dirty="0" spc="90"/>
              <a:t> </a:t>
            </a:r>
            <a:r>
              <a:rPr dirty="0" spc="170"/>
              <a:t>de</a:t>
            </a:r>
            <a:r>
              <a:rPr dirty="0" spc="95"/>
              <a:t> </a:t>
            </a:r>
            <a:r>
              <a:rPr dirty="0" spc="225"/>
              <a:t>Sistemas </a:t>
            </a:r>
            <a:r>
              <a:rPr dirty="0" spc="170"/>
              <a:t>de</a:t>
            </a:r>
            <a:r>
              <a:rPr dirty="0" spc="70"/>
              <a:t> </a:t>
            </a:r>
            <a:r>
              <a:rPr dirty="0" spc="215"/>
              <a:t>Bases</a:t>
            </a:r>
            <a:r>
              <a:rPr dirty="0" spc="70"/>
              <a:t> </a:t>
            </a:r>
            <a:r>
              <a:rPr dirty="0" spc="170"/>
              <a:t>de</a:t>
            </a:r>
            <a:r>
              <a:rPr dirty="0" spc="70"/>
              <a:t> </a:t>
            </a:r>
            <a:r>
              <a:rPr dirty="0" spc="185"/>
              <a:t>Datos</a:t>
            </a: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850" spc="105"/>
              <a:t>Bases</a:t>
            </a:r>
            <a:r>
              <a:rPr dirty="0" sz="1850" spc="35"/>
              <a:t> </a:t>
            </a:r>
            <a:r>
              <a:rPr dirty="0" sz="1850" spc="85"/>
              <a:t>de</a:t>
            </a:r>
            <a:r>
              <a:rPr dirty="0" sz="1850" spc="40"/>
              <a:t> </a:t>
            </a:r>
            <a:r>
              <a:rPr dirty="0" sz="1850" spc="95"/>
              <a:t>Datos</a:t>
            </a:r>
            <a:r>
              <a:rPr dirty="0" sz="1850" spc="40"/>
              <a:t> I</a:t>
            </a:r>
            <a:endParaRPr sz="1850"/>
          </a:p>
        </p:txBody>
      </p:sp>
      <p:sp>
        <p:nvSpPr>
          <p:cNvPr id="3" name="object 3" descr=""/>
          <p:cNvSpPr/>
          <p:nvPr/>
        </p:nvSpPr>
        <p:spPr>
          <a:xfrm>
            <a:off x="657225" y="4219575"/>
            <a:ext cx="1733550" cy="352425"/>
          </a:xfrm>
          <a:custGeom>
            <a:avLst/>
            <a:gdLst/>
            <a:ahLst/>
            <a:cxnLst/>
            <a:rect l="l" t="t" r="r" b="b"/>
            <a:pathLst>
              <a:path w="1733550" h="352425">
                <a:moveTo>
                  <a:pt x="1684210" y="0"/>
                </a:moveTo>
                <a:lnTo>
                  <a:pt x="49342" y="0"/>
                </a:lnTo>
                <a:lnTo>
                  <a:pt x="45904" y="342"/>
                </a:lnTo>
                <a:lnTo>
                  <a:pt x="10824" y="20586"/>
                </a:lnTo>
                <a:lnTo>
                  <a:pt x="0" y="49339"/>
                </a:lnTo>
                <a:lnTo>
                  <a:pt x="0" y="299618"/>
                </a:lnTo>
                <a:lnTo>
                  <a:pt x="0" y="303085"/>
                </a:lnTo>
                <a:lnTo>
                  <a:pt x="17918" y="339407"/>
                </a:lnTo>
                <a:lnTo>
                  <a:pt x="49342" y="352425"/>
                </a:lnTo>
                <a:lnTo>
                  <a:pt x="1684210" y="352425"/>
                </a:lnTo>
                <a:lnTo>
                  <a:pt x="1720532" y="334505"/>
                </a:lnTo>
                <a:lnTo>
                  <a:pt x="1733550" y="303085"/>
                </a:lnTo>
                <a:lnTo>
                  <a:pt x="1733550" y="49339"/>
                </a:lnTo>
                <a:lnTo>
                  <a:pt x="1715630" y="13017"/>
                </a:lnTo>
                <a:lnTo>
                  <a:pt x="1687652" y="342"/>
                </a:lnTo>
                <a:lnTo>
                  <a:pt x="1684210" y="0"/>
                </a:lnTo>
                <a:close/>
              </a:path>
            </a:pathLst>
          </a:custGeom>
          <a:solidFill>
            <a:srgbClr val="001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 b="1">
                <a:solidFill>
                  <a:srgbClr val="E2E6E9"/>
                </a:solidFill>
                <a:latin typeface="Cambria"/>
                <a:cs typeface="Cambria"/>
              </a:rPr>
              <a:t>Apaza</a:t>
            </a:r>
            <a:r>
              <a:rPr dirty="0" sz="1450" spc="40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 b="1">
                <a:solidFill>
                  <a:srgbClr val="E2E6E9"/>
                </a:solidFill>
                <a:latin typeface="Cambria"/>
                <a:cs typeface="Cambria"/>
              </a:rPr>
              <a:t>Nyls</a:t>
            </a:r>
            <a:r>
              <a:rPr dirty="0" sz="1450" spc="4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-165" b="1">
                <a:solidFill>
                  <a:srgbClr val="E2E6E9"/>
                </a:solidFill>
                <a:latin typeface="Cambria"/>
                <a:cs typeface="Cambria"/>
              </a:rPr>
              <a:t>·</a:t>
            </a:r>
            <a:r>
              <a:rPr dirty="0" sz="1450" spc="4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 b="1">
                <a:solidFill>
                  <a:srgbClr val="E2E6E9"/>
                </a:solidFill>
                <a:latin typeface="Cambria"/>
                <a:cs typeface="Cambria"/>
              </a:rPr>
              <a:t>Salces</a:t>
            </a:r>
            <a:r>
              <a:rPr dirty="0" sz="1450" spc="4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 b="1">
                <a:solidFill>
                  <a:srgbClr val="E2E6E9"/>
                </a:solidFill>
                <a:latin typeface="Cambria"/>
                <a:cs typeface="Cambria"/>
              </a:rPr>
              <a:t>Mauricio</a:t>
            </a:r>
            <a:r>
              <a:rPr dirty="0" sz="1450" spc="4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60">
                <a:solidFill>
                  <a:srgbClr val="E2E6E9"/>
                </a:solidFill>
                <a:latin typeface="Cambria"/>
                <a:cs typeface="Cambria"/>
              </a:rPr>
              <a:t>|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Marzo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2026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450">
              <a:latin typeface="Cambria"/>
              <a:cs typeface="Cambria"/>
            </a:endParaR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 sz="1150" spc="100">
                <a:solidFill>
                  <a:srgbClr val="E2E6E9"/>
                </a:solidFill>
                <a:latin typeface="Cambria"/>
                <a:cs typeface="Cambria"/>
              </a:rPr>
              <a:t>UNIVERSIDAD</a:t>
            </a:r>
            <a:r>
              <a:rPr dirty="0" sz="11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150" spc="-200">
                <a:solidFill>
                  <a:srgbClr val="E2E6E9"/>
                </a:solidFill>
                <a:latin typeface="Cambria"/>
                <a:cs typeface="Cambria"/>
              </a:rPr>
              <a:t>·</a:t>
            </a:r>
            <a:r>
              <a:rPr dirty="0" sz="11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150" spc="35">
                <a:solidFill>
                  <a:srgbClr val="E2E6E9"/>
                </a:solidFill>
                <a:latin typeface="Cambria"/>
                <a:cs typeface="Cambria"/>
              </a:rPr>
              <a:t>2026</a:t>
            </a:r>
            <a:endParaRPr sz="1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6915150"/>
          </a:xfrm>
          <a:custGeom>
            <a:avLst/>
            <a:gdLst/>
            <a:ahLst/>
            <a:cxnLst/>
            <a:rect l="l" t="t" r="r" b="b"/>
            <a:pathLst>
              <a:path w="11430000" h="6915150">
                <a:moveTo>
                  <a:pt x="11430000" y="0"/>
                </a:moveTo>
                <a:lnTo>
                  <a:pt x="0" y="0"/>
                </a:lnTo>
                <a:lnTo>
                  <a:pt x="0" y="6915150"/>
                </a:lnTo>
                <a:lnTo>
                  <a:pt x="11430000" y="6915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1347351"/>
            <a:ext cx="4286249" cy="4279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7353" y="496887"/>
            <a:ext cx="4401185" cy="117221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dirty="0" spc="140"/>
              <a:t>¿Por</a:t>
            </a:r>
            <a:r>
              <a:rPr dirty="0" spc="75"/>
              <a:t> </a:t>
            </a:r>
            <a:r>
              <a:rPr dirty="0" spc="180"/>
              <a:t>qué</a:t>
            </a:r>
            <a:r>
              <a:rPr dirty="0" spc="75"/>
              <a:t> </a:t>
            </a:r>
            <a:r>
              <a:rPr dirty="0" spc="235"/>
              <a:t>importa</a:t>
            </a:r>
            <a:r>
              <a:rPr dirty="0" spc="80"/>
              <a:t> </a:t>
            </a:r>
            <a:r>
              <a:rPr dirty="0" spc="120"/>
              <a:t>la </a:t>
            </a:r>
            <a:r>
              <a:rPr dirty="0" spc="140"/>
              <a:t>arquitectura?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47353" y="1910949"/>
            <a:ext cx="5848350" cy="1235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14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Las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bases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son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corazón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sistemas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información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modernos.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modelo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 b="1">
                <a:solidFill>
                  <a:srgbClr val="E2E6E9"/>
                </a:solidFill>
                <a:latin typeface="Cambria"/>
                <a:cs typeface="Cambria"/>
              </a:rPr>
              <a:t>ANSI/SPARC</a:t>
            </a:r>
            <a:r>
              <a:rPr dirty="0" sz="1450" spc="40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-55" b="1">
                <a:solidFill>
                  <a:srgbClr val="E2E6E9"/>
                </a:solidFill>
                <a:latin typeface="Cambria"/>
                <a:cs typeface="Cambria"/>
              </a:rPr>
              <a:t>(1975)</a:t>
            </a:r>
            <a:r>
              <a:rPr dirty="0" sz="1450" spc="3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establece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tres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niveles 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abstracción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para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garantizar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eficiencia,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seguridad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y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escalabilidad,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implementados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través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un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SGBD.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57225" y="3400424"/>
            <a:ext cx="2819400" cy="1704975"/>
            <a:chOff x="657225" y="3400424"/>
            <a:chExt cx="2819400" cy="1704975"/>
          </a:xfrm>
        </p:grpSpPr>
        <p:sp>
          <p:nvSpPr>
            <p:cNvPr id="7" name="object 7" descr=""/>
            <p:cNvSpPr/>
            <p:nvPr/>
          </p:nvSpPr>
          <p:spPr>
            <a:xfrm>
              <a:off x="661987" y="3405187"/>
              <a:ext cx="2809875" cy="1695450"/>
            </a:xfrm>
            <a:custGeom>
              <a:avLst/>
              <a:gdLst/>
              <a:ahLst/>
              <a:cxnLst/>
              <a:rect l="l" t="t" r="r" b="b"/>
              <a:pathLst>
                <a:path w="2809875" h="1695450">
                  <a:moveTo>
                    <a:pt x="2752648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1634197"/>
                  </a:lnTo>
                  <a:lnTo>
                    <a:pt x="0" y="1638223"/>
                  </a:lnTo>
                  <a:lnTo>
                    <a:pt x="15096" y="1674660"/>
                  </a:lnTo>
                  <a:lnTo>
                    <a:pt x="53240" y="1695056"/>
                  </a:lnTo>
                  <a:lnTo>
                    <a:pt x="57224" y="1695450"/>
                  </a:lnTo>
                  <a:lnTo>
                    <a:pt x="2752648" y="1695450"/>
                  </a:lnTo>
                  <a:lnTo>
                    <a:pt x="2789097" y="1680349"/>
                  </a:lnTo>
                  <a:lnTo>
                    <a:pt x="2809481" y="1642211"/>
                  </a:lnTo>
                  <a:lnTo>
                    <a:pt x="2809875" y="1638223"/>
                  </a:lnTo>
                  <a:lnTo>
                    <a:pt x="2809875" y="57226"/>
                  </a:lnTo>
                  <a:lnTo>
                    <a:pt x="2794774" y="20777"/>
                  </a:lnTo>
                  <a:lnTo>
                    <a:pt x="2756636" y="393"/>
                  </a:lnTo>
                  <a:lnTo>
                    <a:pt x="27526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1987" y="3405187"/>
              <a:ext cx="2809875" cy="1695450"/>
            </a:xfrm>
            <a:custGeom>
              <a:avLst/>
              <a:gdLst/>
              <a:ahLst/>
              <a:cxnLst/>
              <a:rect l="l" t="t" r="r" b="b"/>
              <a:pathLst>
                <a:path w="2809875" h="1695450">
                  <a:moveTo>
                    <a:pt x="0" y="1634197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99"/>
                  </a:lnTo>
                  <a:lnTo>
                    <a:pt x="8086" y="30556"/>
                  </a:lnTo>
                  <a:lnTo>
                    <a:pt x="10323" y="27216"/>
                  </a:lnTo>
                  <a:lnTo>
                    <a:pt x="12556" y="23876"/>
                  </a:lnTo>
                  <a:lnTo>
                    <a:pt x="15096" y="20777"/>
                  </a:lnTo>
                  <a:lnTo>
                    <a:pt x="17938" y="17932"/>
                  </a:lnTo>
                  <a:lnTo>
                    <a:pt x="20781" y="15087"/>
                  </a:lnTo>
                  <a:lnTo>
                    <a:pt x="23877" y="12560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81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2748622" y="0"/>
                  </a:lnTo>
                  <a:lnTo>
                    <a:pt x="2752648" y="0"/>
                  </a:lnTo>
                  <a:lnTo>
                    <a:pt x="2756636" y="393"/>
                  </a:lnTo>
                  <a:lnTo>
                    <a:pt x="2760573" y="1181"/>
                  </a:lnTo>
                  <a:lnTo>
                    <a:pt x="2764523" y="1955"/>
                  </a:lnTo>
                  <a:lnTo>
                    <a:pt x="2768346" y="3124"/>
                  </a:lnTo>
                  <a:lnTo>
                    <a:pt x="2772067" y="4660"/>
                  </a:lnTo>
                  <a:lnTo>
                    <a:pt x="2775788" y="6197"/>
                  </a:lnTo>
                  <a:lnTo>
                    <a:pt x="2779306" y="8089"/>
                  </a:lnTo>
                  <a:lnTo>
                    <a:pt x="2782658" y="10325"/>
                  </a:lnTo>
                  <a:lnTo>
                    <a:pt x="2785999" y="12547"/>
                  </a:lnTo>
                  <a:lnTo>
                    <a:pt x="2805214" y="37807"/>
                  </a:lnTo>
                  <a:lnTo>
                    <a:pt x="2806750" y="41516"/>
                  </a:lnTo>
                  <a:lnTo>
                    <a:pt x="2807919" y="45351"/>
                  </a:lnTo>
                  <a:lnTo>
                    <a:pt x="2808693" y="49301"/>
                  </a:lnTo>
                  <a:lnTo>
                    <a:pt x="2809481" y="53238"/>
                  </a:lnTo>
                  <a:lnTo>
                    <a:pt x="2809875" y="57226"/>
                  </a:lnTo>
                  <a:lnTo>
                    <a:pt x="2809875" y="61239"/>
                  </a:lnTo>
                  <a:lnTo>
                    <a:pt x="2809875" y="1634197"/>
                  </a:lnTo>
                  <a:lnTo>
                    <a:pt x="2809875" y="1638223"/>
                  </a:lnTo>
                  <a:lnTo>
                    <a:pt x="2809481" y="1642211"/>
                  </a:lnTo>
                  <a:lnTo>
                    <a:pt x="2808693" y="1646148"/>
                  </a:lnTo>
                  <a:lnTo>
                    <a:pt x="2807919" y="1650098"/>
                  </a:lnTo>
                  <a:lnTo>
                    <a:pt x="2785999" y="1682889"/>
                  </a:lnTo>
                  <a:lnTo>
                    <a:pt x="2760573" y="1694268"/>
                  </a:lnTo>
                  <a:lnTo>
                    <a:pt x="2756636" y="1695056"/>
                  </a:lnTo>
                  <a:lnTo>
                    <a:pt x="2752648" y="1695450"/>
                  </a:lnTo>
                  <a:lnTo>
                    <a:pt x="2748622" y="1695450"/>
                  </a:lnTo>
                  <a:lnTo>
                    <a:pt x="61248" y="1695450"/>
                  </a:lnTo>
                  <a:lnTo>
                    <a:pt x="57224" y="1695450"/>
                  </a:lnTo>
                  <a:lnTo>
                    <a:pt x="53240" y="1695056"/>
                  </a:lnTo>
                  <a:lnTo>
                    <a:pt x="27221" y="1685124"/>
                  </a:lnTo>
                  <a:lnTo>
                    <a:pt x="23877" y="1682889"/>
                  </a:lnTo>
                  <a:lnTo>
                    <a:pt x="20781" y="1680349"/>
                  </a:lnTo>
                  <a:lnTo>
                    <a:pt x="17938" y="1677504"/>
                  </a:lnTo>
                  <a:lnTo>
                    <a:pt x="15096" y="1674660"/>
                  </a:lnTo>
                  <a:lnTo>
                    <a:pt x="12556" y="1671574"/>
                  </a:lnTo>
                  <a:lnTo>
                    <a:pt x="10323" y="1668233"/>
                  </a:lnTo>
                  <a:lnTo>
                    <a:pt x="8086" y="1664893"/>
                  </a:lnTo>
                  <a:lnTo>
                    <a:pt x="1176" y="1646148"/>
                  </a:lnTo>
                  <a:lnTo>
                    <a:pt x="392" y="1642211"/>
                  </a:lnTo>
                  <a:lnTo>
                    <a:pt x="0" y="1638223"/>
                  </a:lnTo>
                  <a:lnTo>
                    <a:pt x="0" y="1634197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45207" y="3571081"/>
            <a:ext cx="2336165" cy="1289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-635">
              <a:lnSpc>
                <a:spcPct val="104700"/>
              </a:lnSpc>
            </a:pP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Arquitectura</a:t>
            </a:r>
            <a:r>
              <a:rPr dirty="0" sz="18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70">
                <a:solidFill>
                  <a:srgbClr val="E2E6E9"/>
                </a:solidFill>
                <a:latin typeface="Cambria"/>
                <a:cs typeface="Cambria"/>
              </a:rPr>
              <a:t>Tres Niveles</a:t>
            </a:r>
            <a:endParaRPr sz="1850">
              <a:latin typeface="Cambria"/>
              <a:cs typeface="Cambria"/>
            </a:endParaRPr>
          </a:p>
          <a:p>
            <a:pPr marL="12700" marR="346075">
              <a:lnSpc>
                <a:spcPct val="137900"/>
              </a:lnSpc>
              <a:spcBef>
                <a:spcPts val="595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Externo,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Conceptual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">
                <a:solidFill>
                  <a:srgbClr val="E2E6E9"/>
                </a:solidFill>
                <a:latin typeface="Cambria"/>
                <a:cs typeface="Cambria"/>
              </a:rPr>
              <a:t>e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Interno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667125" y="3400424"/>
            <a:ext cx="2819400" cy="1704975"/>
            <a:chOff x="3667125" y="3400424"/>
            <a:chExt cx="2819400" cy="1704975"/>
          </a:xfrm>
        </p:grpSpPr>
        <p:sp>
          <p:nvSpPr>
            <p:cNvPr id="11" name="object 11" descr=""/>
            <p:cNvSpPr/>
            <p:nvPr/>
          </p:nvSpPr>
          <p:spPr>
            <a:xfrm>
              <a:off x="3671887" y="3405187"/>
              <a:ext cx="2809875" cy="1695450"/>
            </a:xfrm>
            <a:custGeom>
              <a:avLst/>
              <a:gdLst/>
              <a:ahLst/>
              <a:cxnLst/>
              <a:rect l="l" t="t" r="r" b="b"/>
              <a:pathLst>
                <a:path w="2809875" h="1695450">
                  <a:moveTo>
                    <a:pt x="275264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1634197"/>
                  </a:lnTo>
                  <a:lnTo>
                    <a:pt x="0" y="1638223"/>
                  </a:lnTo>
                  <a:lnTo>
                    <a:pt x="15100" y="1674660"/>
                  </a:lnTo>
                  <a:lnTo>
                    <a:pt x="53238" y="1695056"/>
                  </a:lnTo>
                  <a:lnTo>
                    <a:pt x="57226" y="1695450"/>
                  </a:lnTo>
                  <a:lnTo>
                    <a:pt x="2752648" y="1695450"/>
                  </a:lnTo>
                  <a:lnTo>
                    <a:pt x="2789097" y="1680349"/>
                  </a:lnTo>
                  <a:lnTo>
                    <a:pt x="2809481" y="1642211"/>
                  </a:lnTo>
                  <a:lnTo>
                    <a:pt x="2809875" y="1638223"/>
                  </a:lnTo>
                  <a:lnTo>
                    <a:pt x="2809875" y="57226"/>
                  </a:lnTo>
                  <a:lnTo>
                    <a:pt x="2794774" y="20777"/>
                  </a:lnTo>
                  <a:lnTo>
                    <a:pt x="2756636" y="393"/>
                  </a:lnTo>
                  <a:lnTo>
                    <a:pt x="27526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71887" y="3405187"/>
              <a:ext cx="2809875" cy="1695450"/>
            </a:xfrm>
            <a:custGeom>
              <a:avLst/>
              <a:gdLst/>
              <a:ahLst/>
              <a:cxnLst/>
              <a:rect l="l" t="t" r="r" b="b"/>
              <a:pathLst>
                <a:path w="2809875" h="1695450">
                  <a:moveTo>
                    <a:pt x="0" y="1634197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16"/>
                  </a:lnTo>
                  <a:lnTo>
                    <a:pt x="4660" y="37807"/>
                  </a:lnTo>
                  <a:lnTo>
                    <a:pt x="6197" y="34099"/>
                  </a:lnTo>
                  <a:lnTo>
                    <a:pt x="8089" y="30556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32"/>
                  </a:lnTo>
                  <a:lnTo>
                    <a:pt x="20777" y="15087"/>
                  </a:lnTo>
                  <a:lnTo>
                    <a:pt x="37807" y="4660"/>
                  </a:lnTo>
                  <a:lnTo>
                    <a:pt x="41529" y="3124"/>
                  </a:lnTo>
                  <a:lnTo>
                    <a:pt x="45351" y="1955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2748622" y="0"/>
                  </a:lnTo>
                  <a:lnTo>
                    <a:pt x="2752648" y="0"/>
                  </a:lnTo>
                  <a:lnTo>
                    <a:pt x="2756636" y="393"/>
                  </a:lnTo>
                  <a:lnTo>
                    <a:pt x="2760573" y="1181"/>
                  </a:lnTo>
                  <a:lnTo>
                    <a:pt x="2764523" y="1955"/>
                  </a:lnTo>
                  <a:lnTo>
                    <a:pt x="2768346" y="3124"/>
                  </a:lnTo>
                  <a:lnTo>
                    <a:pt x="2772067" y="4660"/>
                  </a:lnTo>
                  <a:lnTo>
                    <a:pt x="2775788" y="6197"/>
                  </a:lnTo>
                  <a:lnTo>
                    <a:pt x="2779306" y="8089"/>
                  </a:lnTo>
                  <a:lnTo>
                    <a:pt x="2782658" y="10325"/>
                  </a:lnTo>
                  <a:lnTo>
                    <a:pt x="2785999" y="12547"/>
                  </a:lnTo>
                  <a:lnTo>
                    <a:pt x="2805214" y="37807"/>
                  </a:lnTo>
                  <a:lnTo>
                    <a:pt x="2806750" y="41516"/>
                  </a:lnTo>
                  <a:lnTo>
                    <a:pt x="2807906" y="45351"/>
                  </a:lnTo>
                  <a:lnTo>
                    <a:pt x="2808693" y="49301"/>
                  </a:lnTo>
                  <a:lnTo>
                    <a:pt x="2809481" y="53238"/>
                  </a:lnTo>
                  <a:lnTo>
                    <a:pt x="2809875" y="57226"/>
                  </a:lnTo>
                  <a:lnTo>
                    <a:pt x="2809875" y="61239"/>
                  </a:lnTo>
                  <a:lnTo>
                    <a:pt x="2809875" y="1634197"/>
                  </a:lnTo>
                  <a:lnTo>
                    <a:pt x="2809875" y="1638223"/>
                  </a:lnTo>
                  <a:lnTo>
                    <a:pt x="2809481" y="1642211"/>
                  </a:lnTo>
                  <a:lnTo>
                    <a:pt x="2808693" y="1646148"/>
                  </a:lnTo>
                  <a:lnTo>
                    <a:pt x="2807906" y="1650098"/>
                  </a:lnTo>
                  <a:lnTo>
                    <a:pt x="2785999" y="1682889"/>
                  </a:lnTo>
                  <a:lnTo>
                    <a:pt x="2760573" y="1694268"/>
                  </a:lnTo>
                  <a:lnTo>
                    <a:pt x="2756636" y="1695056"/>
                  </a:lnTo>
                  <a:lnTo>
                    <a:pt x="2752648" y="1695450"/>
                  </a:lnTo>
                  <a:lnTo>
                    <a:pt x="2748622" y="1695450"/>
                  </a:lnTo>
                  <a:lnTo>
                    <a:pt x="61252" y="1695450"/>
                  </a:lnTo>
                  <a:lnTo>
                    <a:pt x="57226" y="1695450"/>
                  </a:lnTo>
                  <a:lnTo>
                    <a:pt x="53238" y="1695056"/>
                  </a:lnTo>
                  <a:lnTo>
                    <a:pt x="49301" y="1694268"/>
                  </a:lnTo>
                  <a:lnTo>
                    <a:pt x="45351" y="1693481"/>
                  </a:lnTo>
                  <a:lnTo>
                    <a:pt x="17945" y="1677504"/>
                  </a:lnTo>
                  <a:lnTo>
                    <a:pt x="15100" y="1674660"/>
                  </a:lnTo>
                  <a:lnTo>
                    <a:pt x="1181" y="1646148"/>
                  </a:lnTo>
                  <a:lnTo>
                    <a:pt x="393" y="1642211"/>
                  </a:lnTo>
                  <a:lnTo>
                    <a:pt x="0" y="1638223"/>
                  </a:lnTo>
                  <a:lnTo>
                    <a:pt x="0" y="1634197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851478" y="3571081"/>
            <a:ext cx="2373630" cy="994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Funciones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75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40">
                <a:solidFill>
                  <a:srgbClr val="E2E6E9"/>
                </a:solidFill>
                <a:latin typeface="Cambria"/>
                <a:cs typeface="Cambria"/>
              </a:rPr>
              <a:t>SGBD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745"/>
              </a:spcBef>
            </a:pP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Definición,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manipulación,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control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recuperación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57225" y="5286374"/>
            <a:ext cx="5829300" cy="1104900"/>
            <a:chOff x="657225" y="5286374"/>
            <a:chExt cx="5829300" cy="1104900"/>
          </a:xfrm>
        </p:grpSpPr>
        <p:sp>
          <p:nvSpPr>
            <p:cNvPr id="15" name="object 15" descr=""/>
            <p:cNvSpPr/>
            <p:nvPr/>
          </p:nvSpPr>
          <p:spPr>
            <a:xfrm>
              <a:off x="661987" y="529113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5762548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1034129"/>
                  </a:lnTo>
                  <a:lnTo>
                    <a:pt x="0" y="1038147"/>
                  </a:lnTo>
                  <a:lnTo>
                    <a:pt x="15096" y="1074590"/>
                  </a:lnTo>
                  <a:lnTo>
                    <a:pt x="53240" y="1094980"/>
                  </a:lnTo>
                  <a:lnTo>
                    <a:pt x="57224" y="1095372"/>
                  </a:lnTo>
                  <a:lnTo>
                    <a:pt x="5762548" y="1095372"/>
                  </a:lnTo>
                  <a:lnTo>
                    <a:pt x="5798997" y="1080281"/>
                  </a:lnTo>
                  <a:lnTo>
                    <a:pt x="5819381" y="1042131"/>
                  </a:lnTo>
                  <a:lnTo>
                    <a:pt x="5819775" y="1038147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36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61987" y="529113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0" y="1034129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56"/>
                  </a:lnTo>
                  <a:lnTo>
                    <a:pt x="10323" y="27216"/>
                  </a:lnTo>
                  <a:lnTo>
                    <a:pt x="12556" y="23876"/>
                  </a:lnTo>
                  <a:lnTo>
                    <a:pt x="15096" y="20777"/>
                  </a:lnTo>
                  <a:lnTo>
                    <a:pt x="17938" y="17932"/>
                  </a:lnTo>
                  <a:lnTo>
                    <a:pt x="20781" y="15087"/>
                  </a:lnTo>
                  <a:lnTo>
                    <a:pt x="23877" y="12547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81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36" y="393"/>
                  </a:lnTo>
                  <a:lnTo>
                    <a:pt x="5770473" y="1181"/>
                  </a:lnTo>
                  <a:lnTo>
                    <a:pt x="5774423" y="1955"/>
                  </a:lnTo>
                  <a:lnTo>
                    <a:pt x="5778246" y="3124"/>
                  </a:lnTo>
                  <a:lnTo>
                    <a:pt x="5781967" y="4660"/>
                  </a:lnTo>
                  <a:lnTo>
                    <a:pt x="5785688" y="6197"/>
                  </a:lnTo>
                  <a:lnTo>
                    <a:pt x="5789206" y="8089"/>
                  </a:lnTo>
                  <a:lnTo>
                    <a:pt x="5792558" y="10325"/>
                  </a:lnTo>
                  <a:lnTo>
                    <a:pt x="5795899" y="12547"/>
                  </a:lnTo>
                  <a:lnTo>
                    <a:pt x="5815114" y="37807"/>
                  </a:lnTo>
                  <a:lnTo>
                    <a:pt x="5816650" y="41516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39"/>
                  </a:lnTo>
                  <a:lnTo>
                    <a:pt x="5819775" y="1034129"/>
                  </a:lnTo>
                  <a:lnTo>
                    <a:pt x="5819775" y="1038147"/>
                  </a:lnTo>
                  <a:lnTo>
                    <a:pt x="5819381" y="1042131"/>
                  </a:lnTo>
                  <a:lnTo>
                    <a:pt x="5818593" y="1046074"/>
                  </a:lnTo>
                  <a:lnTo>
                    <a:pt x="5817806" y="1050019"/>
                  </a:lnTo>
                  <a:lnTo>
                    <a:pt x="5816650" y="1053848"/>
                  </a:lnTo>
                  <a:lnTo>
                    <a:pt x="5815114" y="1057564"/>
                  </a:lnTo>
                  <a:lnTo>
                    <a:pt x="5813577" y="1061280"/>
                  </a:lnTo>
                  <a:lnTo>
                    <a:pt x="5785688" y="1089171"/>
                  </a:lnTo>
                  <a:lnTo>
                    <a:pt x="5770473" y="1094196"/>
                  </a:lnTo>
                  <a:lnTo>
                    <a:pt x="5766536" y="1094980"/>
                  </a:lnTo>
                  <a:lnTo>
                    <a:pt x="5762548" y="1095372"/>
                  </a:lnTo>
                  <a:lnTo>
                    <a:pt x="5758522" y="1095372"/>
                  </a:lnTo>
                  <a:lnTo>
                    <a:pt x="61248" y="1095372"/>
                  </a:lnTo>
                  <a:lnTo>
                    <a:pt x="57224" y="1095372"/>
                  </a:lnTo>
                  <a:lnTo>
                    <a:pt x="53240" y="1094980"/>
                  </a:lnTo>
                  <a:lnTo>
                    <a:pt x="17938" y="1077438"/>
                  </a:lnTo>
                  <a:lnTo>
                    <a:pt x="10323" y="1068156"/>
                  </a:lnTo>
                  <a:lnTo>
                    <a:pt x="8086" y="1064807"/>
                  </a:lnTo>
                  <a:lnTo>
                    <a:pt x="1176" y="1046074"/>
                  </a:lnTo>
                  <a:lnTo>
                    <a:pt x="392" y="1042131"/>
                  </a:lnTo>
                  <a:lnTo>
                    <a:pt x="0" y="1038147"/>
                  </a:lnTo>
                  <a:lnTo>
                    <a:pt x="0" y="1034129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45442" y="5457033"/>
            <a:ext cx="455803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Componentes</a:t>
            </a:r>
            <a:r>
              <a:rPr dirty="0" sz="1850" spc="80">
                <a:solidFill>
                  <a:srgbClr val="E2E6E9"/>
                </a:solidFill>
                <a:latin typeface="Cambria"/>
                <a:cs typeface="Cambria"/>
              </a:rPr>
              <a:t> Clave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Motor,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Interfaz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Herramientas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Administración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18" name="object 18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4076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6867525"/>
          </a:xfrm>
          <a:custGeom>
            <a:avLst/>
            <a:gdLst/>
            <a:ahLst/>
            <a:cxnLst/>
            <a:rect l="l" t="t" r="r" b="b"/>
            <a:pathLst>
              <a:path w="11430000" h="6867525">
                <a:moveTo>
                  <a:pt x="11430000" y="0"/>
                </a:moveTo>
                <a:lnTo>
                  <a:pt x="0" y="0"/>
                </a:lnTo>
                <a:lnTo>
                  <a:pt x="0" y="6867525"/>
                </a:lnTo>
                <a:lnTo>
                  <a:pt x="11430000" y="68675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AñquiteCtuñ6</a:t>
            </a:r>
            <a:r>
              <a:rPr dirty="0" spc="160"/>
              <a:t> </a:t>
            </a:r>
            <a:r>
              <a:rPr dirty="0" spc="170"/>
              <a:t>de</a:t>
            </a:r>
            <a:r>
              <a:rPr dirty="0" spc="160"/>
              <a:t> </a:t>
            </a:r>
            <a:r>
              <a:rPr dirty="0"/>
              <a:t>TñeS</a:t>
            </a:r>
            <a:r>
              <a:rPr dirty="0" spc="160"/>
              <a:t> </a:t>
            </a:r>
            <a:r>
              <a:rPr dirty="0" spc="145"/>
              <a:t>NiveleS</a:t>
            </a:r>
            <a:r>
              <a:rPr dirty="0" spc="155"/>
              <a:t> </a:t>
            </a:r>
            <a:r>
              <a:rPr dirty="0" spc="150"/>
              <a:t>ANSI/SPARC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7353" y="1415650"/>
            <a:ext cx="9938385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5">
                <a:solidFill>
                  <a:srgbClr val="E2E6E9"/>
                </a:solidFill>
                <a:latin typeface="Cambria"/>
                <a:cs typeface="Cambria"/>
              </a:rPr>
              <a:t>Nodelo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Sep6ñ6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l6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ñe6lid6d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d6toS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tñeS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C6p6S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 independienteS.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L6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vent6j6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Cl6ve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eS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l6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 b="1">
                <a:solidFill>
                  <a:srgbClr val="E2E6E9"/>
                </a:solidFill>
                <a:latin typeface="Cambria"/>
                <a:cs typeface="Cambria"/>
              </a:rPr>
              <a:t>independencia</a:t>
            </a:r>
            <a:r>
              <a:rPr dirty="0" sz="1450" spc="8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-25" b="1">
                <a:solidFill>
                  <a:srgbClr val="E2E6E9"/>
                </a:solidFill>
                <a:latin typeface="Cambria"/>
                <a:cs typeface="Cambria"/>
              </a:rPr>
              <a:t>de </a:t>
            </a:r>
            <a:r>
              <a:rPr dirty="0" sz="1450" b="1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: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un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C6Nbio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un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no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6feCt6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6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deNáS.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343150" y="2305050"/>
            <a:ext cx="1685925" cy="1085850"/>
            <a:chOff x="2343150" y="2305050"/>
            <a:chExt cx="1685925" cy="1085850"/>
          </a:xfrm>
        </p:grpSpPr>
        <p:sp>
          <p:nvSpPr>
            <p:cNvPr id="6" name="object 6" descr=""/>
            <p:cNvSpPr/>
            <p:nvPr/>
          </p:nvSpPr>
          <p:spPr>
            <a:xfrm>
              <a:off x="2347912" y="2309812"/>
              <a:ext cx="1676400" cy="1076325"/>
            </a:xfrm>
            <a:custGeom>
              <a:avLst/>
              <a:gdLst/>
              <a:ahLst/>
              <a:cxnLst/>
              <a:rect l="l" t="t" r="r" b="b"/>
              <a:pathLst>
                <a:path w="1676400" h="1076325">
                  <a:moveTo>
                    <a:pt x="1619173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89"/>
                  </a:lnTo>
                  <a:lnTo>
                    <a:pt x="0" y="57226"/>
                  </a:lnTo>
                  <a:lnTo>
                    <a:pt x="0" y="1015085"/>
                  </a:lnTo>
                  <a:lnTo>
                    <a:pt x="0" y="1019098"/>
                  </a:lnTo>
                  <a:lnTo>
                    <a:pt x="15100" y="1055547"/>
                  </a:lnTo>
                  <a:lnTo>
                    <a:pt x="17945" y="1058379"/>
                  </a:lnTo>
                  <a:lnTo>
                    <a:pt x="20777" y="1061237"/>
                  </a:lnTo>
                  <a:lnTo>
                    <a:pt x="57226" y="1076325"/>
                  </a:lnTo>
                  <a:lnTo>
                    <a:pt x="1619173" y="1076325"/>
                  </a:lnTo>
                  <a:lnTo>
                    <a:pt x="1655622" y="1061237"/>
                  </a:lnTo>
                  <a:lnTo>
                    <a:pt x="1676006" y="1023086"/>
                  </a:lnTo>
                  <a:lnTo>
                    <a:pt x="1676400" y="1019098"/>
                  </a:lnTo>
                  <a:lnTo>
                    <a:pt x="1676400" y="57226"/>
                  </a:lnTo>
                  <a:lnTo>
                    <a:pt x="1661299" y="20789"/>
                  </a:lnTo>
                  <a:lnTo>
                    <a:pt x="1623161" y="393"/>
                  </a:lnTo>
                  <a:lnTo>
                    <a:pt x="161917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47912" y="2309812"/>
              <a:ext cx="1676400" cy="1076325"/>
            </a:xfrm>
            <a:custGeom>
              <a:avLst/>
              <a:gdLst/>
              <a:ahLst/>
              <a:cxnLst/>
              <a:rect l="l" t="t" r="r" b="b"/>
              <a:pathLst>
                <a:path w="1676400" h="1076325">
                  <a:moveTo>
                    <a:pt x="0" y="1015085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288"/>
                  </a:lnTo>
                  <a:lnTo>
                    <a:pt x="1955" y="45351"/>
                  </a:lnTo>
                  <a:lnTo>
                    <a:pt x="3124" y="41516"/>
                  </a:lnTo>
                  <a:lnTo>
                    <a:pt x="27216" y="10325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1615147" y="0"/>
                  </a:lnTo>
                  <a:lnTo>
                    <a:pt x="1619173" y="0"/>
                  </a:lnTo>
                  <a:lnTo>
                    <a:pt x="1623161" y="393"/>
                  </a:lnTo>
                  <a:lnTo>
                    <a:pt x="1627098" y="1181"/>
                  </a:lnTo>
                  <a:lnTo>
                    <a:pt x="1631048" y="1968"/>
                  </a:lnTo>
                  <a:lnTo>
                    <a:pt x="1634871" y="3124"/>
                  </a:lnTo>
                  <a:lnTo>
                    <a:pt x="1638592" y="4660"/>
                  </a:lnTo>
                  <a:lnTo>
                    <a:pt x="1642313" y="6197"/>
                  </a:lnTo>
                  <a:lnTo>
                    <a:pt x="1670202" y="34099"/>
                  </a:lnTo>
                  <a:lnTo>
                    <a:pt x="1671739" y="37807"/>
                  </a:lnTo>
                  <a:lnTo>
                    <a:pt x="1673275" y="41516"/>
                  </a:lnTo>
                  <a:lnTo>
                    <a:pt x="1674444" y="45351"/>
                  </a:lnTo>
                  <a:lnTo>
                    <a:pt x="1675218" y="49288"/>
                  </a:lnTo>
                  <a:lnTo>
                    <a:pt x="1676006" y="53238"/>
                  </a:lnTo>
                  <a:lnTo>
                    <a:pt x="1676400" y="57226"/>
                  </a:lnTo>
                  <a:lnTo>
                    <a:pt x="1676400" y="61239"/>
                  </a:lnTo>
                  <a:lnTo>
                    <a:pt x="1676400" y="1015085"/>
                  </a:lnTo>
                  <a:lnTo>
                    <a:pt x="1676400" y="1019098"/>
                  </a:lnTo>
                  <a:lnTo>
                    <a:pt x="1676006" y="1023086"/>
                  </a:lnTo>
                  <a:lnTo>
                    <a:pt x="1675218" y="1027023"/>
                  </a:lnTo>
                  <a:lnTo>
                    <a:pt x="1674444" y="1030973"/>
                  </a:lnTo>
                  <a:lnTo>
                    <a:pt x="1658467" y="1058379"/>
                  </a:lnTo>
                  <a:lnTo>
                    <a:pt x="1655622" y="1061237"/>
                  </a:lnTo>
                  <a:lnTo>
                    <a:pt x="1638592" y="1071664"/>
                  </a:lnTo>
                  <a:lnTo>
                    <a:pt x="1634871" y="1073200"/>
                  </a:lnTo>
                  <a:lnTo>
                    <a:pt x="1631048" y="1074369"/>
                  </a:lnTo>
                  <a:lnTo>
                    <a:pt x="1627098" y="1075143"/>
                  </a:lnTo>
                  <a:lnTo>
                    <a:pt x="1623161" y="1075931"/>
                  </a:lnTo>
                  <a:lnTo>
                    <a:pt x="1619173" y="1076325"/>
                  </a:lnTo>
                  <a:lnTo>
                    <a:pt x="1615147" y="1076325"/>
                  </a:lnTo>
                  <a:lnTo>
                    <a:pt x="61252" y="1076325"/>
                  </a:lnTo>
                  <a:lnTo>
                    <a:pt x="57226" y="1076325"/>
                  </a:lnTo>
                  <a:lnTo>
                    <a:pt x="53238" y="1075931"/>
                  </a:lnTo>
                  <a:lnTo>
                    <a:pt x="49301" y="1075143"/>
                  </a:lnTo>
                  <a:lnTo>
                    <a:pt x="45351" y="1074369"/>
                  </a:lnTo>
                  <a:lnTo>
                    <a:pt x="17945" y="1058379"/>
                  </a:lnTo>
                  <a:lnTo>
                    <a:pt x="15100" y="1055547"/>
                  </a:lnTo>
                  <a:lnTo>
                    <a:pt x="12560" y="1052449"/>
                  </a:lnTo>
                  <a:lnTo>
                    <a:pt x="10325" y="1049108"/>
                  </a:lnTo>
                  <a:lnTo>
                    <a:pt x="8089" y="1045768"/>
                  </a:lnTo>
                  <a:lnTo>
                    <a:pt x="1181" y="1027023"/>
                  </a:lnTo>
                  <a:lnTo>
                    <a:pt x="393" y="1023086"/>
                  </a:lnTo>
                  <a:lnTo>
                    <a:pt x="0" y="1019098"/>
                  </a:lnTo>
                  <a:lnTo>
                    <a:pt x="0" y="1015085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114471" y="2646299"/>
            <a:ext cx="146050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-145">
                <a:solidFill>
                  <a:srgbClr val="E2E6E9"/>
                </a:solidFill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05491" y="2456656"/>
            <a:ext cx="454787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80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60">
                <a:solidFill>
                  <a:srgbClr val="E2E6E9"/>
                </a:solidFill>
                <a:latin typeface="Cambria"/>
                <a:cs typeface="Cambria"/>
              </a:rPr>
              <a:t>Exteñno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ViSt6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peñSon6liz6d6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p6ñ6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C6d6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uSu6ñio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o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E2E6E9"/>
                </a:solidFill>
                <a:latin typeface="Cambria"/>
                <a:cs typeface="Cambria"/>
              </a:rPr>
              <a:t>6pliC6Ción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124325" y="3386137"/>
            <a:ext cx="6553200" cy="9525"/>
          </a:xfrm>
          <a:custGeom>
            <a:avLst/>
            <a:gdLst/>
            <a:ahLst/>
            <a:cxnLst/>
            <a:rect l="l" t="t" r="r" b="b"/>
            <a:pathLst>
              <a:path w="6553200" h="9525">
                <a:moveTo>
                  <a:pt x="6546303" y="0"/>
                </a:moveTo>
                <a:lnTo>
                  <a:pt x="6896" y="0"/>
                </a:lnTo>
                <a:lnTo>
                  <a:pt x="4648" y="469"/>
                </a:lnTo>
                <a:lnTo>
                  <a:pt x="927" y="2324"/>
                </a:lnTo>
                <a:lnTo>
                  <a:pt x="0" y="3441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67"/>
                </a:lnTo>
                <a:lnTo>
                  <a:pt x="6896" y="9525"/>
                </a:lnTo>
                <a:lnTo>
                  <a:pt x="6546303" y="9525"/>
                </a:lnTo>
                <a:lnTo>
                  <a:pt x="6548551" y="9067"/>
                </a:lnTo>
                <a:lnTo>
                  <a:pt x="6552272" y="7200"/>
                </a:lnTo>
                <a:lnTo>
                  <a:pt x="6553200" y="6083"/>
                </a:lnTo>
                <a:lnTo>
                  <a:pt x="6553200" y="3441"/>
                </a:lnTo>
                <a:lnTo>
                  <a:pt x="6552272" y="2324"/>
                </a:lnTo>
                <a:lnTo>
                  <a:pt x="6548551" y="469"/>
                </a:lnTo>
                <a:lnTo>
                  <a:pt x="6546303" y="0"/>
                </a:lnTo>
                <a:close/>
              </a:path>
            </a:pathLst>
          </a:custGeom>
          <a:solidFill>
            <a:srgbClr val="184A9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504950" y="3476625"/>
            <a:ext cx="3371850" cy="1390650"/>
            <a:chOff x="1504950" y="3476625"/>
            <a:chExt cx="3371850" cy="1390650"/>
          </a:xfrm>
        </p:grpSpPr>
        <p:sp>
          <p:nvSpPr>
            <p:cNvPr id="12" name="object 12" descr=""/>
            <p:cNvSpPr/>
            <p:nvPr/>
          </p:nvSpPr>
          <p:spPr>
            <a:xfrm>
              <a:off x="1509712" y="3481387"/>
              <a:ext cx="3362325" cy="1381125"/>
            </a:xfrm>
            <a:custGeom>
              <a:avLst/>
              <a:gdLst/>
              <a:ahLst/>
              <a:cxnLst/>
              <a:rect l="l" t="t" r="r" b="b"/>
              <a:pathLst>
                <a:path w="3362325" h="1381125">
                  <a:moveTo>
                    <a:pt x="330509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1319885"/>
                  </a:lnTo>
                  <a:lnTo>
                    <a:pt x="0" y="1323898"/>
                  </a:lnTo>
                  <a:lnTo>
                    <a:pt x="15100" y="1360347"/>
                  </a:lnTo>
                  <a:lnTo>
                    <a:pt x="17945" y="1363179"/>
                  </a:lnTo>
                  <a:lnTo>
                    <a:pt x="20777" y="1366037"/>
                  </a:lnTo>
                  <a:lnTo>
                    <a:pt x="57226" y="1381125"/>
                  </a:lnTo>
                  <a:lnTo>
                    <a:pt x="3305098" y="1381125"/>
                  </a:lnTo>
                  <a:lnTo>
                    <a:pt x="3341547" y="1366037"/>
                  </a:lnTo>
                  <a:lnTo>
                    <a:pt x="3361931" y="1327886"/>
                  </a:lnTo>
                  <a:lnTo>
                    <a:pt x="3362325" y="1323898"/>
                  </a:lnTo>
                  <a:lnTo>
                    <a:pt x="3362325" y="57226"/>
                  </a:lnTo>
                  <a:lnTo>
                    <a:pt x="3347224" y="20777"/>
                  </a:lnTo>
                  <a:lnTo>
                    <a:pt x="3309086" y="393"/>
                  </a:lnTo>
                  <a:lnTo>
                    <a:pt x="330509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09712" y="3481387"/>
              <a:ext cx="3362325" cy="1381125"/>
            </a:xfrm>
            <a:custGeom>
              <a:avLst/>
              <a:gdLst/>
              <a:ahLst/>
              <a:cxnLst/>
              <a:rect l="l" t="t" r="r" b="b"/>
              <a:pathLst>
                <a:path w="3362325" h="1381125">
                  <a:moveTo>
                    <a:pt x="0" y="1319885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288"/>
                  </a:lnTo>
                  <a:lnTo>
                    <a:pt x="1955" y="45351"/>
                  </a:lnTo>
                  <a:lnTo>
                    <a:pt x="3124" y="41516"/>
                  </a:lnTo>
                  <a:lnTo>
                    <a:pt x="4660" y="37807"/>
                  </a:lnTo>
                  <a:lnTo>
                    <a:pt x="6197" y="34099"/>
                  </a:lnTo>
                  <a:lnTo>
                    <a:pt x="8089" y="30556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32"/>
                  </a:lnTo>
                  <a:lnTo>
                    <a:pt x="20777" y="15100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3301072" y="0"/>
                  </a:lnTo>
                  <a:lnTo>
                    <a:pt x="3305098" y="0"/>
                  </a:lnTo>
                  <a:lnTo>
                    <a:pt x="3309086" y="393"/>
                  </a:lnTo>
                  <a:lnTo>
                    <a:pt x="3313023" y="1181"/>
                  </a:lnTo>
                  <a:lnTo>
                    <a:pt x="3316973" y="1968"/>
                  </a:lnTo>
                  <a:lnTo>
                    <a:pt x="3320796" y="3124"/>
                  </a:lnTo>
                  <a:lnTo>
                    <a:pt x="3324517" y="4660"/>
                  </a:lnTo>
                  <a:lnTo>
                    <a:pt x="3328238" y="6197"/>
                  </a:lnTo>
                  <a:lnTo>
                    <a:pt x="3356127" y="34099"/>
                  </a:lnTo>
                  <a:lnTo>
                    <a:pt x="3357664" y="37807"/>
                  </a:lnTo>
                  <a:lnTo>
                    <a:pt x="3359200" y="41516"/>
                  </a:lnTo>
                  <a:lnTo>
                    <a:pt x="3360369" y="45351"/>
                  </a:lnTo>
                  <a:lnTo>
                    <a:pt x="3361143" y="49288"/>
                  </a:lnTo>
                  <a:lnTo>
                    <a:pt x="3361931" y="53238"/>
                  </a:lnTo>
                  <a:lnTo>
                    <a:pt x="3362325" y="57226"/>
                  </a:lnTo>
                  <a:lnTo>
                    <a:pt x="3362325" y="61239"/>
                  </a:lnTo>
                  <a:lnTo>
                    <a:pt x="3362325" y="1319885"/>
                  </a:lnTo>
                  <a:lnTo>
                    <a:pt x="3362325" y="1323898"/>
                  </a:lnTo>
                  <a:lnTo>
                    <a:pt x="3361931" y="1327886"/>
                  </a:lnTo>
                  <a:lnTo>
                    <a:pt x="3361143" y="1331823"/>
                  </a:lnTo>
                  <a:lnTo>
                    <a:pt x="3360369" y="1335773"/>
                  </a:lnTo>
                  <a:lnTo>
                    <a:pt x="3344392" y="1363179"/>
                  </a:lnTo>
                  <a:lnTo>
                    <a:pt x="3341547" y="1366037"/>
                  </a:lnTo>
                  <a:lnTo>
                    <a:pt x="3313023" y="1379943"/>
                  </a:lnTo>
                  <a:lnTo>
                    <a:pt x="3309086" y="1380731"/>
                  </a:lnTo>
                  <a:lnTo>
                    <a:pt x="3305098" y="1381125"/>
                  </a:lnTo>
                  <a:lnTo>
                    <a:pt x="3301072" y="1381125"/>
                  </a:lnTo>
                  <a:lnTo>
                    <a:pt x="61252" y="1381125"/>
                  </a:lnTo>
                  <a:lnTo>
                    <a:pt x="57226" y="1381125"/>
                  </a:lnTo>
                  <a:lnTo>
                    <a:pt x="53238" y="1380731"/>
                  </a:lnTo>
                  <a:lnTo>
                    <a:pt x="49301" y="1379943"/>
                  </a:lnTo>
                  <a:lnTo>
                    <a:pt x="45351" y="1379169"/>
                  </a:lnTo>
                  <a:lnTo>
                    <a:pt x="17945" y="1363179"/>
                  </a:lnTo>
                  <a:lnTo>
                    <a:pt x="15100" y="1360347"/>
                  </a:lnTo>
                  <a:lnTo>
                    <a:pt x="12560" y="1357249"/>
                  </a:lnTo>
                  <a:lnTo>
                    <a:pt x="10325" y="1353908"/>
                  </a:lnTo>
                  <a:lnTo>
                    <a:pt x="8089" y="1350568"/>
                  </a:lnTo>
                  <a:lnTo>
                    <a:pt x="1181" y="1331823"/>
                  </a:lnTo>
                  <a:lnTo>
                    <a:pt x="393" y="1327886"/>
                  </a:lnTo>
                  <a:lnTo>
                    <a:pt x="0" y="1323898"/>
                  </a:lnTo>
                  <a:lnTo>
                    <a:pt x="0" y="1319885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095726" y="3979799"/>
            <a:ext cx="183515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50">
                <a:solidFill>
                  <a:srgbClr val="E2E6E9"/>
                </a:solidFill>
                <a:latin typeface="Cambria"/>
                <a:cs typeface="Cambria"/>
              </a:rPr>
              <a:t>2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48199" y="3637756"/>
            <a:ext cx="5099685" cy="1003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80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60">
                <a:solidFill>
                  <a:srgbClr val="E2E6E9"/>
                </a:solidFill>
                <a:latin typeface="Cambria"/>
                <a:cs typeface="Cambria"/>
              </a:rPr>
              <a:t>ConCeptu6l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670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ESqueN6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lógiCo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glob6l: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entid6deS,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">
                <a:solidFill>
                  <a:srgbClr val="E2E6E9"/>
                </a:solidFill>
                <a:latin typeface="Cambria"/>
                <a:cs typeface="Cambria"/>
              </a:rPr>
              <a:t>6tñibutoS,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">
                <a:solidFill>
                  <a:srgbClr val="E2E6E9"/>
                </a:solidFill>
                <a:latin typeface="Cambria"/>
                <a:cs typeface="Cambria"/>
              </a:rPr>
              <a:t>ñel6CioneS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y </a:t>
            </a:r>
            <a:r>
              <a:rPr dirty="0" sz="1450" spc="-10">
                <a:solidFill>
                  <a:srgbClr val="E2E6E9"/>
                </a:solidFill>
                <a:latin typeface="Cambria"/>
                <a:cs typeface="Cambria"/>
              </a:rPr>
              <a:t>ñeStñiCCioneS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962525" y="4862512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5708103" y="0"/>
                </a:moveTo>
                <a:lnTo>
                  <a:pt x="6896" y="0"/>
                </a:lnTo>
                <a:lnTo>
                  <a:pt x="4648" y="469"/>
                </a:lnTo>
                <a:lnTo>
                  <a:pt x="927" y="2324"/>
                </a:lnTo>
                <a:lnTo>
                  <a:pt x="0" y="3441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67"/>
                </a:lnTo>
                <a:lnTo>
                  <a:pt x="6896" y="9525"/>
                </a:lnTo>
                <a:lnTo>
                  <a:pt x="5708103" y="9525"/>
                </a:lnTo>
                <a:lnTo>
                  <a:pt x="5710351" y="9067"/>
                </a:lnTo>
                <a:lnTo>
                  <a:pt x="5714072" y="7200"/>
                </a:lnTo>
                <a:lnTo>
                  <a:pt x="5715000" y="6083"/>
                </a:lnTo>
                <a:lnTo>
                  <a:pt x="5715000" y="3441"/>
                </a:lnTo>
                <a:lnTo>
                  <a:pt x="5714072" y="2324"/>
                </a:lnTo>
                <a:lnTo>
                  <a:pt x="5710351" y="469"/>
                </a:lnTo>
                <a:lnTo>
                  <a:pt x="5708103" y="0"/>
                </a:lnTo>
                <a:close/>
              </a:path>
            </a:pathLst>
          </a:custGeom>
          <a:solidFill>
            <a:srgbClr val="184A9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657225" y="4962525"/>
            <a:ext cx="5057775" cy="1390650"/>
            <a:chOff x="657225" y="4962525"/>
            <a:chExt cx="5057775" cy="1390650"/>
          </a:xfrm>
        </p:grpSpPr>
        <p:sp>
          <p:nvSpPr>
            <p:cNvPr id="18" name="object 18" descr=""/>
            <p:cNvSpPr/>
            <p:nvPr/>
          </p:nvSpPr>
          <p:spPr>
            <a:xfrm>
              <a:off x="661987" y="4967287"/>
              <a:ext cx="5048250" cy="1381125"/>
            </a:xfrm>
            <a:custGeom>
              <a:avLst/>
              <a:gdLst/>
              <a:ahLst/>
              <a:cxnLst/>
              <a:rect l="l" t="t" r="r" b="b"/>
              <a:pathLst>
                <a:path w="5048250" h="1381125">
                  <a:moveTo>
                    <a:pt x="4991023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89"/>
                  </a:lnTo>
                  <a:lnTo>
                    <a:pt x="0" y="57226"/>
                  </a:lnTo>
                  <a:lnTo>
                    <a:pt x="0" y="1319880"/>
                  </a:lnTo>
                  <a:lnTo>
                    <a:pt x="0" y="1323898"/>
                  </a:lnTo>
                  <a:lnTo>
                    <a:pt x="15096" y="1360341"/>
                  </a:lnTo>
                  <a:lnTo>
                    <a:pt x="53240" y="1380731"/>
                  </a:lnTo>
                  <a:lnTo>
                    <a:pt x="57224" y="1381122"/>
                  </a:lnTo>
                  <a:lnTo>
                    <a:pt x="4991023" y="1381122"/>
                  </a:lnTo>
                  <a:lnTo>
                    <a:pt x="5027472" y="1366027"/>
                  </a:lnTo>
                  <a:lnTo>
                    <a:pt x="5047856" y="1327882"/>
                  </a:lnTo>
                  <a:lnTo>
                    <a:pt x="5048250" y="1323898"/>
                  </a:lnTo>
                  <a:lnTo>
                    <a:pt x="5048250" y="57226"/>
                  </a:lnTo>
                  <a:lnTo>
                    <a:pt x="5033149" y="20789"/>
                  </a:lnTo>
                  <a:lnTo>
                    <a:pt x="4995011" y="393"/>
                  </a:lnTo>
                  <a:lnTo>
                    <a:pt x="499102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61987" y="4967287"/>
              <a:ext cx="5048250" cy="1381125"/>
            </a:xfrm>
            <a:custGeom>
              <a:avLst/>
              <a:gdLst/>
              <a:ahLst/>
              <a:cxnLst/>
              <a:rect l="l" t="t" r="r" b="b"/>
              <a:pathLst>
                <a:path w="5048250" h="1381125">
                  <a:moveTo>
                    <a:pt x="0" y="1319880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0323" y="27216"/>
                  </a:lnTo>
                  <a:lnTo>
                    <a:pt x="12556" y="23876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68"/>
                  </a:lnTo>
                  <a:lnTo>
                    <a:pt x="49296" y="1181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4986997" y="0"/>
                  </a:lnTo>
                  <a:lnTo>
                    <a:pt x="4991023" y="0"/>
                  </a:lnTo>
                  <a:lnTo>
                    <a:pt x="4995011" y="393"/>
                  </a:lnTo>
                  <a:lnTo>
                    <a:pt x="4998948" y="1181"/>
                  </a:lnTo>
                  <a:lnTo>
                    <a:pt x="5002898" y="1968"/>
                  </a:lnTo>
                  <a:lnTo>
                    <a:pt x="5006721" y="3124"/>
                  </a:lnTo>
                  <a:lnTo>
                    <a:pt x="5010442" y="4660"/>
                  </a:lnTo>
                  <a:lnTo>
                    <a:pt x="5014163" y="6197"/>
                  </a:lnTo>
                  <a:lnTo>
                    <a:pt x="5042052" y="34099"/>
                  </a:lnTo>
                  <a:lnTo>
                    <a:pt x="5043589" y="37807"/>
                  </a:lnTo>
                  <a:lnTo>
                    <a:pt x="5045125" y="41516"/>
                  </a:lnTo>
                  <a:lnTo>
                    <a:pt x="5046281" y="45351"/>
                  </a:lnTo>
                  <a:lnTo>
                    <a:pt x="5047068" y="49288"/>
                  </a:lnTo>
                  <a:lnTo>
                    <a:pt x="5047856" y="53238"/>
                  </a:lnTo>
                  <a:lnTo>
                    <a:pt x="5048250" y="57226"/>
                  </a:lnTo>
                  <a:lnTo>
                    <a:pt x="5048250" y="61239"/>
                  </a:lnTo>
                  <a:lnTo>
                    <a:pt x="5048250" y="1319880"/>
                  </a:lnTo>
                  <a:lnTo>
                    <a:pt x="5048250" y="1323898"/>
                  </a:lnTo>
                  <a:lnTo>
                    <a:pt x="5047856" y="1327882"/>
                  </a:lnTo>
                  <a:lnTo>
                    <a:pt x="5047068" y="1331826"/>
                  </a:lnTo>
                  <a:lnTo>
                    <a:pt x="5046281" y="1335769"/>
                  </a:lnTo>
                  <a:lnTo>
                    <a:pt x="5045125" y="1339599"/>
                  </a:lnTo>
                  <a:lnTo>
                    <a:pt x="5043589" y="1343315"/>
                  </a:lnTo>
                  <a:lnTo>
                    <a:pt x="5042052" y="1347031"/>
                  </a:lnTo>
                  <a:lnTo>
                    <a:pt x="5014163" y="1374922"/>
                  </a:lnTo>
                  <a:lnTo>
                    <a:pt x="5010442" y="1376460"/>
                  </a:lnTo>
                  <a:lnTo>
                    <a:pt x="5006721" y="1378002"/>
                  </a:lnTo>
                  <a:lnTo>
                    <a:pt x="5002898" y="1379162"/>
                  </a:lnTo>
                  <a:lnTo>
                    <a:pt x="4998948" y="1379947"/>
                  </a:lnTo>
                  <a:lnTo>
                    <a:pt x="4995011" y="1380731"/>
                  </a:lnTo>
                  <a:lnTo>
                    <a:pt x="4991023" y="1381122"/>
                  </a:lnTo>
                  <a:lnTo>
                    <a:pt x="4986997" y="1381122"/>
                  </a:lnTo>
                  <a:lnTo>
                    <a:pt x="61248" y="1381122"/>
                  </a:lnTo>
                  <a:lnTo>
                    <a:pt x="57224" y="1381122"/>
                  </a:lnTo>
                  <a:lnTo>
                    <a:pt x="53240" y="1380731"/>
                  </a:lnTo>
                  <a:lnTo>
                    <a:pt x="49296" y="1379947"/>
                  </a:lnTo>
                  <a:lnTo>
                    <a:pt x="45352" y="1379162"/>
                  </a:lnTo>
                  <a:lnTo>
                    <a:pt x="41522" y="1378002"/>
                  </a:lnTo>
                  <a:lnTo>
                    <a:pt x="37807" y="1376460"/>
                  </a:lnTo>
                  <a:lnTo>
                    <a:pt x="34091" y="1374922"/>
                  </a:lnTo>
                  <a:lnTo>
                    <a:pt x="17938" y="1363183"/>
                  </a:lnTo>
                  <a:lnTo>
                    <a:pt x="15096" y="1360341"/>
                  </a:lnTo>
                  <a:lnTo>
                    <a:pt x="12556" y="1357246"/>
                  </a:lnTo>
                  <a:lnTo>
                    <a:pt x="10323" y="1353902"/>
                  </a:lnTo>
                  <a:lnTo>
                    <a:pt x="8086" y="1350558"/>
                  </a:lnTo>
                  <a:lnTo>
                    <a:pt x="1176" y="1331826"/>
                  </a:lnTo>
                  <a:lnTo>
                    <a:pt x="392" y="1327882"/>
                  </a:lnTo>
                  <a:lnTo>
                    <a:pt x="0" y="1323898"/>
                  </a:lnTo>
                  <a:lnTo>
                    <a:pt x="0" y="1319880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098850" y="5465696"/>
            <a:ext cx="177800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5">
                <a:solidFill>
                  <a:srgbClr val="E2E6E9"/>
                </a:solidFill>
                <a:latin typeface="Cambria"/>
                <a:cs typeface="Cambria"/>
              </a:rPr>
              <a:t>2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890681" y="5123653"/>
            <a:ext cx="4403090" cy="994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80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Inteñno</a:t>
            </a:r>
            <a:endParaRPr sz="1850">
              <a:latin typeface="Cambria"/>
              <a:cs typeface="Cambria"/>
            </a:endParaRPr>
          </a:p>
          <a:p>
            <a:pPr marL="12700" marR="5080" indent="-635">
              <a:lnSpc>
                <a:spcPct val="133600"/>
              </a:lnSpc>
              <a:spcBef>
                <a:spcPts val="745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AlN6Cen6Niento</a:t>
            </a:r>
            <a:r>
              <a:rPr dirty="0" sz="1450" spc="1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fíSiCo:</a:t>
            </a:r>
            <a:r>
              <a:rPr dirty="0" sz="1450" spc="1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E2E6E9"/>
                </a:solidFill>
                <a:latin typeface="Cambria"/>
                <a:cs typeface="Cambria"/>
              </a:rPr>
              <a:t>6ñChivoS,</a:t>
            </a:r>
            <a:r>
              <a:rPr dirty="0" sz="1450" spc="1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índiCeS</a:t>
            </a:r>
            <a:r>
              <a:rPr dirty="0" sz="1450" spc="1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B-</a:t>
            </a:r>
            <a:r>
              <a:rPr dirty="0" sz="1450" spc="-10">
                <a:solidFill>
                  <a:srgbClr val="E2E6E9"/>
                </a:solidFill>
                <a:latin typeface="Cambria"/>
                <a:cs typeface="Cambria"/>
              </a:rPr>
              <a:t>Tñee,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págin6S,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bloqueS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CoNpñeSión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22" name="object 2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3558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524625"/>
          </a:xfrm>
          <a:custGeom>
            <a:avLst/>
            <a:gdLst/>
            <a:ahLst/>
            <a:cxnLst/>
            <a:rect l="l" t="t" r="r" b="b"/>
            <a:pathLst>
              <a:path w="11430000" h="6524625">
                <a:moveTo>
                  <a:pt x="11430000" y="0"/>
                </a:moveTo>
                <a:lnTo>
                  <a:pt x="0" y="0"/>
                </a:lnTo>
                <a:lnTo>
                  <a:pt x="0" y="6524625"/>
                </a:lnTo>
                <a:lnTo>
                  <a:pt x="11430000" y="6524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75"/>
              <a:t>Nivel</a:t>
            </a:r>
            <a:r>
              <a:rPr dirty="0" spc="80"/>
              <a:t> </a:t>
            </a:r>
            <a:r>
              <a:rPr dirty="0" spc="190"/>
              <a:t>Externo:</a:t>
            </a:r>
            <a:r>
              <a:rPr dirty="0" spc="80"/>
              <a:t> </a:t>
            </a:r>
            <a:r>
              <a:rPr dirty="0" spc="295"/>
              <a:t>La</a:t>
            </a:r>
            <a:r>
              <a:rPr dirty="0" spc="75"/>
              <a:t> </a:t>
            </a:r>
            <a:r>
              <a:rPr dirty="0" spc="200"/>
              <a:t>vista</a:t>
            </a:r>
            <a:r>
              <a:rPr dirty="0" spc="80"/>
              <a:t> </a:t>
            </a:r>
            <a:r>
              <a:rPr dirty="0" spc="155"/>
              <a:t>del</a:t>
            </a:r>
            <a:r>
              <a:rPr dirty="0" spc="80"/>
              <a:t> </a:t>
            </a:r>
            <a:r>
              <a:rPr dirty="0" spc="185"/>
              <a:t>usuario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7353" y="1415650"/>
            <a:ext cx="923798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Cada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rol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accede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únicamente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al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subconjunto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que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le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corresponde: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consultas,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formularios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datos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calculados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su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medida.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23875" y="2305050"/>
            <a:ext cx="5095875" cy="3705225"/>
          </a:xfrm>
          <a:custGeom>
            <a:avLst/>
            <a:gdLst/>
            <a:ahLst/>
            <a:cxnLst/>
            <a:rect l="l" t="t" r="r" b="b"/>
            <a:pathLst>
              <a:path w="5095875" h="3705225">
                <a:moveTo>
                  <a:pt x="4990147" y="0"/>
                </a:moveTo>
                <a:lnTo>
                  <a:pt x="105727" y="0"/>
                </a:lnTo>
                <a:lnTo>
                  <a:pt x="98370" y="723"/>
                </a:lnTo>
                <a:lnTo>
                  <a:pt x="56470" y="14935"/>
                </a:lnTo>
                <a:lnTo>
                  <a:pt x="23197" y="44107"/>
                </a:lnTo>
                <a:lnTo>
                  <a:pt x="3622" y="83794"/>
                </a:lnTo>
                <a:lnTo>
                  <a:pt x="0" y="105727"/>
                </a:lnTo>
                <a:lnTo>
                  <a:pt x="0" y="3592065"/>
                </a:lnTo>
                <a:lnTo>
                  <a:pt x="0" y="3599496"/>
                </a:lnTo>
                <a:lnTo>
                  <a:pt x="11455" y="3642235"/>
                </a:lnTo>
                <a:lnTo>
                  <a:pt x="38397" y="3677333"/>
                </a:lnTo>
                <a:lnTo>
                  <a:pt x="76715" y="3699454"/>
                </a:lnTo>
                <a:lnTo>
                  <a:pt x="105727" y="3705223"/>
                </a:lnTo>
                <a:lnTo>
                  <a:pt x="4990147" y="3705223"/>
                </a:lnTo>
                <a:lnTo>
                  <a:pt x="5032883" y="3693764"/>
                </a:lnTo>
                <a:lnTo>
                  <a:pt x="5067985" y="3666826"/>
                </a:lnTo>
                <a:lnTo>
                  <a:pt x="5090109" y="3628503"/>
                </a:lnTo>
                <a:lnTo>
                  <a:pt x="5095875" y="3599496"/>
                </a:lnTo>
                <a:lnTo>
                  <a:pt x="5095875" y="105727"/>
                </a:lnTo>
                <a:lnTo>
                  <a:pt x="5084419" y="62992"/>
                </a:lnTo>
                <a:lnTo>
                  <a:pt x="5057482" y="27889"/>
                </a:lnTo>
                <a:lnTo>
                  <a:pt x="5019154" y="5765"/>
                </a:lnTo>
                <a:lnTo>
                  <a:pt x="4997500" y="723"/>
                </a:lnTo>
                <a:lnTo>
                  <a:pt x="4990147" y="0"/>
                </a:lnTo>
                <a:close/>
              </a:path>
            </a:pathLst>
          </a:custGeom>
          <a:solidFill>
            <a:srgbClr val="5F9CFF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99998" y="2430181"/>
            <a:ext cx="4370705" cy="80200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361950" algn="l"/>
              </a:tabLst>
            </a:pP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1850" spc="75">
                <a:latin typeface="Cambria"/>
                <a:cs typeface="Cambria"/>
              </a:rPr>
              <a:t>MédiCo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1450">
                <a:latin typeface="Cambria"/>
                <a:cs typeface="Cambria"/>
              </a:rPr>
              <a:t>ACCede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>
                <a:latin typeface="Cambria"/>
                <a:cs typeface="Cambria"/>
              </a:rPr>
              <a:t>6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 spc="-185">
                <a:latin typeface="Cambria"/>
                <a:cs typeface="Cambria"/>
              </a:rPr>
              <a:t>16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 spc="55">
                <a:latin typeface="Cambria"/>
                <a:cs typeface="Cambria"/>
              </a:rPr>
              <a:t>viSt6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 spc="-20">
                <a:latin typeface="Cambria"/>
                <a:cs typeface="Cambria"/>
              </a:rPr>
              <a:t>C1íniC6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 spc="-45">
                <a:latin typeface="Cambria"/>
                <a:cs typeface="Cambria"/>
              </a:rPr>
              <a:t>de1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 spc="90">
                <a:latin typeface="Cambria"/>
                <a:cs typeface="Cambria"/>
              </a:rPr>
              <a:t>SiSteN6</a:t>
            </a:r>
            <a:r>
              <a:rPr dirty="0" sz="1450" spc="45">
                <a:latin typeface="Cambria"/>
                <a:cs typeface="Cambria"/>
              </a:rPr>
              <a:t> </a:t>
            </a:r>
            <a:r>
              <a:rPr dirty="0" sz="1450" spc="-10">
                <a:latin typeface="Cambria"/>
                <a:cs typeface="Cambria"/>
              </a:rPr>
              <a:t>hoSpit616ñio: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2000" y="3571875"/>
            <a:ext cx="57150" cy="790575"/>
          </a:xfrm>
          <a:custGeom>
            <a:avLst/>
            <a:gdLst/>
            <a:ahLst/>
            <a:cxnLst/>
            <a:rect l="l" t="t" r="r" b="b"/>
            <a:pathLst>
              <a:path w="57150" h="790575">
                <a:moveTo>
                  <a:pt x="57150" y="758202"/>
                </a:moveTo>
                <a:lnTo>
                  <a:pt x="32359" y="733425"/>
                </a:lnTo>
                <a:lnTo>
                  <a:pt x="24777" y="733425"/>
                </a:lnTo>
                <a:lnTo>
                  <a:pt x="0" y="758202"/>
                </a:lnTo>
                <a:lnTo>
                  <a:pt x="0" y="765784"/>
                </a:lnTo>
                <a:lnTo>
                  <a:pt x="24777" y="790575"/>
                </a:lnTo>
                <a:lnTo>
                  <a:pt x="32359" y="790575"/>
                </a:lnTo>
                <a:lnTo>
                  <a:pt x="57150" y="765784"/>
                </a:lnTo>
                <a:lnTo>
                  <a:pt x="57150" y="762000"/>
                </a:lnTo>
                <a:lnTo>
                  <a:pt x="57150" y="758202"/>
                </a:lnTo>
                <a:close/>
              </a:path>
              <a:path w="57150" h="790575">
                <a:moveTo>
                  <a:pt x="57150" y="386727"/>
                </a:moveTo>
                <a:lnTo>
                  <a:pt x="32359" y="361950"/>
                </a:lnTo>
                <a:lnTo>
                  <a:pt x="24777" y="361950"/>
                </a:lnTo>
                <a:lnTo>
                  <a:pt x="0" y="386727"/>
                </a:lnTo>
                <a:lnTo>
                  <a:pt x="0" y="394309"/>
                </a:lnTo>
                <a:lnTo>
                  <a:pt x="24777" y="419100"/>
                </a:lnTo>
                <a:lnTo>
                  <a:pt x="32359" y="419100"/>
                </a:lnTo>
                <a:lnTo>
                  <a:pt x="57150" y="394309"/>
                </a:lnTo>
                <a:lnTo>
                  <a:pt x="57150" y="390525"/>
                </a:lnTo>
                <a:lnTo>
                  <a:pt x="57150" y="386727"/>
                </a:lnTo>
                <a:close/>
              </a:path>
              <a:path w="57150" h="790575">
                <a:moveTo>
                  <a:pt x="57150" y="24777"/>
                </a:moveTo>
                <a:lnTo>
                  <a:pt x="32359" y="0"/>
                </a:lnTo>
                <a:lnTo>
                  <a:pt x="24777" y="0"/>
                </a:lnTo>
                <a:lnTo>
                  <a:pt x="0" y="24777"/>
                </a:lnTo>
                <a:lnTo>
                  <a:pt x="0" y="32359"/>
                </a:lnTo>
                <a:lnTo>
                  <a:pt x="24777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001712" y="3456400"/>
            <a:ext cx="2584450" cy="9855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Cambria"/>
                <a:cs typeface="Cambria"/>
              </a:rPr>
              <a:t>HiStoñi61</a:t>
            </a:r>
            <a:r>
              <a:rPr dirty="0" sz="1450" spc="-20">
                <a:latin typeface="Cambria"/>
                <a:cs typeface="Cambria"/>
              </a:rPr>
              <a:t> </a:t>
            </a:r>
            <a:r>
              <a:rPr dirty="0" sz="1450" spc="-10">
                <a:latin typeface="Cambria"/>
                <a:cs typeface="Cambria"/>
              </a:rPr>
              <a:t>C1íniCo</a:t>
            </a:r>
            <a:r>
              <a:rPr dirty="0" sz="1450" spc="-15">
                <a:latin typeface="Cambria"/>
                <a:cs typeface="Cambria"/>
              </a:rPr>
              <a:t> </a:t>
            </a:r>
            <a:r>
              <a:rPr dirty="0" sz="1450" spc="-45">
                <a:latin typeface="Cambria"/>
                <a:cs typeface="Cambria"/>
              </a:rPr>
              <a:t>de1</a:t>
            </a:r>
            <a:r>
              <a:rPr dirty="0" sz="1450" spc="-15">
                <a:latin typeface="Cambria"/>
                <a:cs typeface="Cambria"/>
              </a:rPr>
              <a:t> </a:t>
            </a:r>
            <a:r>
              <a:rPr dirty="0" sz="1450" spc="40">
                <a:latin typeface="Cambria"/>
                <a:cs typeface="Cambria"/>
              </a:rPr>
              <a:t>p6Ciente</a:t>
            </a:r>
            <a:endParaRPr sz="1450">
              <a:latin typeface="Cambria"/>
              <a:cs typeface="Cambria"/>
            </a:endParaRPr>
          </a:p>
          <a:p>
            <a:pPr marL="12700" marR="285750">
              <a:lnSpc>
                <a:spcPts val="2930"/>
              </a:lnSpc>
              <a:spcBef>
                <a:spcPts val="20"/>
              </a:spcBef>
            </a:pPr>
            <a:r>
              <a:rPr dirty="0" sz="1450" spc="65">
                <a:latin typeface="Cambria"/>
                <a:cs typeface="Cambria"/>
              </a:rPr>
              <a:t>Di6gnóStiCoS</a:t>
            </a:r>
            <a:r>
              <a:rPr dirty="0" sz="1450" spc="70">
                <a:latin typeface="Cambria"/>
                <a:cs typeface="Cambria"/>
              </a:rPr>
              <a:t> </a:t>
            </a:r>
            <a:r>
              <a:rPr dirty="0" sz="1450" spc="-10">
                <a:latin typeface="Cambria"/>
                <a:cs typeface="Cambria"/>
              </a:rPr>
              <a:t>ñegiStñ6doS </a:t>
            </a:r>
            <a:r>
              <a:rPr dirty="0" sz="1450" spc="100">
                <a:latin typeface="Cambria"/>
                <a:cs typeface="Cambria"/>
              </a:rPr>
              <a:t>MediC6NentoS</a:t>
            </a:r>
            <a:r>
              <a:rPr dirty="0" sz="1450" spc="60">
                <a:latin typeface="Cambria"/>
                <a:cs typeface="Cambria"/>
              </a:rPr>
              <a:t> </a:t>
            </a:r>
            <a:r>
              <a:rPr dirty="0" sz="1450" spc="-10">
                <a:latin typeface="Cambria"/>
                <a:cs typeface="Cambria"/>
              </a:rPr>
              <a:t>pñeSCñitoS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1567" y="2430181"/>
            <a:ext cx="4246245" cy="80200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361950" algn="l"/>
              </a:tabLst>
            </a:pP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1850" spc="90">
                <a:solidFill>
                  <a:srgbClr val="F5F0F0"/>
                </a:solidFill>
                <a:latin typeface="Cambria"/>
                <a:cs typeface="Cambria"/>
              </a:rPr>
              <a:t>Contador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Accede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la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vista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financiera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5">
                <a:solidFill>
                  <a:srgbClr val="E2E6E9"/>
                </a:solidFill>
                <a:latin typeface="Cambria"/>
                <a:cs typeface="Cambria"/>
              </a:rPr>
              <a:t>mismo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sistema: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000750" y="3571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000750" y="3933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000750" y="43053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243294" y="3456400"/>
            <a:ext cx="1973580" cy="9855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Facturación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generada</a:t>
            </a:r>
            <a:endParaRPr sz="1450">
              <a:latin typeface="Cambria"/>
              <a:cs typeface="Cambria"/>
            </a:endParaRPr>
          </a:p>
          <a:p>
            <a:pPr marL="12700" marR="201295">
              <a:lnSpc>
                <a:spcPts val="2930"/>
              </a:lnSpc>
              <a:spcBef>
                <a:spcPts val="20"/>
              </a:spcBef>
            </a:pP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Servicios</a:t>
            </a:r>
            <a:r>
              <a:rPr dirty="0" sz="1450" spc="2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prestados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Pagos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cobros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953125" y="4695825"/>
            <a:ext cx="4829175" cy="1095375"/>
            <a:chOff x="5953125" y="4695825"/>
            <a:chExt cx="4829175" cy="1095375"/>
          </a:xfrm>
        </p:grpSpPr>
        <p:sp>
          <p:nvSpPr>
            <p:cNvPr id="15" name="object 15" descr=""/>
            <p:cNvSpPr/>
            <p:nvPr/>
          </p:nvSpPr>
          <p:spPr>
            <a:xfrm>
              <a:off x="5953125" y="4695825"/>
              <a:ext cx="4829175" cy="1095375"/>
            </a:xfrm>
            <a:custGeom>
              <a:avLst/>
              <a:gdLst/>
              <a:ahLst/>
              <a:cxnLst/>
              <a:rect l="l" t="t" r="r" b="b"/>
              <a:pathLst>
                <a:path w="4829175" h="1095375">
                  <a:moveTo>
                    <a:pt x="4767503" y="0"/>
                  </a:moveTo>
                  <a:lnTo>
                    <a:pt x="61671" y="0"/>
                  </a:lnTo>
                  <a:lnTo>
                    <a:pt x="57378" y="419"/>
                  </a:lnTo>
                  <a:lnTo>
                    <a:pt x="22402" y="16268"/>
                  </a:lnTo>
                  <a:lnTo>
                    <a:pt x="2108" y="48882"/>
                  </a:lnTo>
                  <a:lnTo>
                    <a:pt x="0" y="61671"/>
                  </a:lnTo>
                  <a:lnTo>
                    <a:pt x="0" y="1029364"/>
                  </a:lnTo>
                  <a:lnTo>
                    <a:pt x="0" y="1033700"/>
                  </a:lnTo>
                  <a:lnTo>
                    <a:pt x="13538" y="1069641"/>
                  </a:lnTo>
                  <a:lnTo>
                    <a:pt x="44754" y="1092005"/>
                  </a:lnTo>
                  <a:lnTo>
                    <a:pt x="61671" y="1095373"/>
                  </a:lnTo>
                  <a:lnTo>
                    <a:pt x="4767503" y="1095373"/>
                  </a:lnTo>
                  <a:lnTo>
                    <a:pt x="4803444" y="1081840"/>
                  </a:lnTo>
                  <a:lnTo>
                    <a:pt x="4825809" y="1050621"/>
                  </a:lnTo>
                  <a:lnTo>
                    <a:pt x="4829175" y="1033700"/>
                  </a:lnTo>
                  <a:lnTo>
                    <a:pt x="4829175" y="61671"/>
                  </a:lnTo>
                  <a:lnTo>
                    <a:pt x="4815636" y="25730"/>
                  </a:lnTo>
                  <a:lnTo>
                    <a:pt x="4784420" y="3365"/>
                  </a:lnTo>
                  <a:lnTo>
                    <a:pt x="4771796" y="419"/>
                  </a:lnTo>
                  <a:lnTo>
                    <a:pt x="4767503" y="0"/>
                  </a:lnTo>
                  <a:close/>
                </a:path>
              </a:pathLst>
            </a:custGeom>
            <a:solidFill>
              <a:srgbClr val="001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9007" y="4983835"/>
              <a:ext cx="164985" cy="16498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6554444" y="4854175"/>
            <a:ext cx="3752215" cy="63500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50" spc="135">
                <a:solidFill>
                  <a:srgbClr val="FFFFFF"/>
                </a:solidFill>
                <a:latin typeface="Cambria"/>
                <a:cs typeface="Cambria"/>
              </a:rPr>
              <a:t>Ambos</a:t>
            </a:r>
            <a:r>
              <a:rPr dirty="0" sz="145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FFFFFF"/>
                </a:solidFill>
                <a:latin typeface="Cambria"/>
                <a:cs typeface="Cambria"/>
              </a:rPr>
              <a:t>acceden</a:t>
            </a:r>
            <a:r>
              <a:rPr dirty="0" sz="145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45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FFFFFF"/>
                </a:solidFill>
                <a:latin typeface="Cambria"/>
                <a:cs typeface="Cambria"/>
              </a:rPr>
              <a:t>la</a:t>
            </a:r>
            <a:r>
              <a:rPr dirty="0" sz="145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10" b="1">
                <a:solidFill>
                  <a:srgbClr val="FFFFFF"/>
                </a:solidFill>
                <a:latin typeface="Cambria"/>
                <a:cs typeface="Cambria"/>
              </a:rPr>
              <a:t>misma</a:t>
            </a:r>
            <a:r>
              <a:rPr dirty="0" sz="145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55" b="1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r>
              <a:rPr dirty="0" sz="145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dirty="0" sz="145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45" b="1">
                <a:solidFill>
                  <a:srgbClr val="FFFFFF"/>
                </a:solidFill>
                <a:latin typeface="Cambria"/>
                <a:cs typeface="Cambria"/>
              </a:rPr>
              <a:t>datos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450" spc="110">
                <a:solidFill>
                  <a:srgbClr val="FFFFFF"/>
                </a:solidFill>
                <a:latin typeface="Cambria"/>
                <a:cs typeface="Cambria"/>
              </a:rPr>
              <a:t>con</a:t>
            </a:r>
            <a:r>
              <a:rPr dirty="0" sz="145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FFFFFF"/>
                </a:solidFill>
                <a:latin typeface="Cambria"/>
                <a:cs typeface="Cambria"/>
              </a:rPr>
              <a:t>vistas</a:t>
            </a:r>
            <a:r>
              <a:rPr dirty="0" sz="145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FFFFFF"/>
                </a:solidFill>
                <a:latin typeface="Cambria"/>
                <a:cs typeface="Cambria"/>
              </a:rPr>
              <a:t>completamente</a:t>
            </a:r>
            <a:r>
              <a:rPr dirty="0" sz="145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FFFFFF"/>
                </a:solidFill>
                <a:latin typeface="Cambria"/>
                <a:cs typeface="Cambria"/>
              </a:rPr>
              <a:t>distintas.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18" name="object 18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0144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6943725"/>
          </a:xfrm>
          <a:custGeom>
            <a:avLst/>
            <a:gdLst/>
            <a:ahLst/>
            <a:cxnLst/>
            <a:rect l="l" t="t" r="r" b="b"/>
            <a:pathLst>
              <a:path w="11430000" h="6943725">
                <a:moveTo>
                  <a:pt x="11430000" y="0"/>
                </a:moveTo>
                <a:lnTo>
                  <a:pt x="0" y="0"/>
                </a:lnTo>
                <a:lnTo>
                  <a:pt x="0" y="6943725"/>
                </a:lnTo>
                <a:lnTo>
                  <a:pt x="11430000" y="69437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75"/>
              <a:t>Nivel</a:t>
            </a:r>
            <a:r>
              <a:rPr dirty="0" spc="75"/>
              <a:t> </a:t>
            </a:r>
            <a:r>
              <a:rPr dirty="0" spc="130"/>
              <a:t>ConCeptu6l:</a:t>
            </a:r>
            <a:r>
              <a:rPr dirty="0" spc="80"/>
              <a:t> </a:t>
            </a:r>
            <a:r>
              <a:rPr dirty="0" spc="215"/>
              <a:t>¿QUÉ</a:t>
            </a:r>
            <a:r>
              <a:rPr dirty="0" spc="80"/>
              <a:t> </a:t>
            </a:r>
            <a:r>
              <a:rPr dirty="0" spc="75"/>
              <a:t>d6toS</a:t>
            </a:r>
            <a:r>
              <a:rPr dirty="0" spc="80"/>
              <a:t> </a:t>
            </a:r>
            <a:r>
              <a:rPr dirty="0" spc="155"/>
              <a:t>exiSten?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7353" y="1494250"/>
            <a:ext cx="7141845" cy="9759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Define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entid6deS,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">
                <a:solidFill>
                  <a:srgbClr val="E2E6E9"/>
                </a:solidFill>
                <a:latin typeface="Cambria"/>
                <a:cs typeface="Cambria"/>
              </a:rPr>
              <a:t>6tñibutoS,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">
                <a:solidFill>
                  <a:srgbClr val="E2E6E9"/>
                </a:solidFill>
                <a:latin typeface="Cambria"/>
                <a:cs typeface="Cambria"/>
              </a:rPr>
              <a:t>ñel6CioneS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e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integñid6d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 SiSteN6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infoñN6Ción.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50" spc="140">
                <a:solidFill>
                  <a:srgbClr val="F5F0F0"/>
                </a:solidFill>
                <a:latin typeface="Cambria"/>
                <a:cs typeface="Cambria"/>
              </a:rPr>
              <a:t>EjeNplo</a:t>
            </a:r>
            <a:r>
              <a:rPr dirty="0" sz="1850" spc="40">
                <a:solidFill>
                  <a:srgbClr val="F5F0F0"/>
                </a:solidFill>
                <a:latin typeface="Cambria"/>
                <a:cs typeface="Cambria"/>
              </a:rPr>
              <a:t> </a:t>
            </a:r>
            <a:r>
              <a:rPr dirty="0" sz="1850" spc="254">
                <a:solidFill>
                  <a:srgbClr val="F5F0F0"/>
                </a:solidFill>
                <a:latin typeface="Cambria"/>
                <a:cs typeface="Cambria"/>
              </a:rPr>
              <a:t>—</a:t>
            </a:r>
            <a:r>
              <a:rPr dirty="0" sz="1850" spc="45">
                <a:solidFill>
                  <a:srgbClr val="F5F0F0"/>
                </a:solidFill>
                <a:latin typeface="Cambria"/>
                <a:cs typeface="Cambria"/>
              </a:rPr>
              <a:t> </a:t>
            </a:r>
            <a:r>
              <a:rPr dirty="0" sz="1850" spc="125">
                <a:solidFill>
                  <a:srgbClr val="F5F0F0"/>
                </a:solidFill>
                <a:latin typeface="Cambria"/>
                <a:cs typeface="Cambria"/>
              </a:rPr>
              <a:t>SiSteN6</a:t>
            </a:r>
            <a:r>
              <a:rPr dirty="0" sz="1850" spc="45">
                <a:solidFill>
                  <a:srgbClr val="F5F0F0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F5F0F0"/>
                </a:solidFill>
                <a:latin typeface="Cambria"/>
                <a:cs typeface="Cambria"/>
              </a:rPr>
              <a:t>de</a:t>
            </a:r>
            <a:r>
              <a:rPr dirty="0" sz="1850" spc="45">
                <a:solidFill>
                  <a:srgbClr val="F5F0F0"/>
                </a:solidFill>
                <a:latin typeface="Cambria"/>
                <a:cs typeface="Cambria"/>
              </a:rPr>
              <a:t> </a:t>
            </a:r>
            <a:r>
              <a:rPr dirty="0" sz="1850" spc="-10">
                <a:solidFill>
                  <a:srgbClr val="F5F0F0"/>
                </a:solidFill>
                <a:latin typeface="Cambria"/>
                <a:cs typeface="Cambria"/>
              </a:rPr>
              <a:t>Vent6S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57225" y="2695575"/>
            <a:ext cx="4829175" cy="2209800"/>
            <a:chOff x="657225" y="2695575"/>
            <a:chExt cx="4829175" cy="2209800"/>
          </a:xfrm>
        </p:grpSpPr>
        <p:sp>
          <p:nvSpPr>
            <p:cNvPr id="6" name="object 6" descr=""/>
            <p:cNvSpPr/>
            <p:nvPr/>
          </p:nvSpPr>
          <p:spPr>
            <a:xfrm>
              <a:off x="661987" y="2700337"/>
              <a:ext cx="4819650" cy="2200275"/>
            </a:xfrm>
            <a:custGeom>
              <a:avLst/>
              <a:gdLst/>
              <a:ahLst/>
              <a:cxnLst/>
              <a:rect l="l" t="t" r="r" b="b"/>
              <a:pathLst>
                <a:path w="4819650" h="2200275">
                  <a:moveTo>
                    <a:pt x="0" y="2139035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288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99"/>
                  </a:lnTo>
                  <a:lnTo>
                    <a:pt x="8086" y="30556"/>
                  </a:lnTo>
                  <a:lnTo>
                    <a:pt x="10323" y="27216"/>
                  </a:lnTo>
                  <a:lnTo>
                    <a:pt x="12556" y="23876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68"/>
                  </a:lnTo>
                  <a:lnTo>
                    <a:pt x="49296" y="1181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4758397" y="0"/>
                  </a:lnTo>
                  <a:lnTo>
                    <a:pt x="4762423" y="0"/>
                  </a:lnTo>
                  <a:lnTo>
                    <a:pt x="4766411" y="393"/>
                  </a:lnTo>
                  <a:lnTo>
                    <a:pt x="4770348" y="1181"/>
                  </a:lnTo>
                  <a:lnTo>
                    <a:pt x="4774298" y="1968"/>
                  </a:lnTo>
                  <a:lnTo>
                    <a:pt x="4778121" y="3124"/>
                  </a:lnTo>
                  <a:lnTo>
                    <a:pt x="4781842" y="4660"/>
                  </a:lnTo>
                  <a:lnTo>
                    <a:pt x="4785563" y="6197"/>
                  </a:lnTo>
                  <a:lnTo>
                    <a:pt x="4813452" y="34099"/>
                  </a:lnTo>
                  <a:lnTo>
                    <a:pt x="4814989" y="37807"/>
                  </a:lnTo>
                  <a:lnTo>
                    <a:pt x="4816525" y="41516"/>
                  </a:lnTo>
                  <a:lnTo>
                    <a:pt x="4817694" y="45351"/>
                  </a:lnTo>
                  <a:lnTo>
                    <a:pt x="4818468" y="49301"/>
                  </a:lnTo>
                  <a:lnTo>
                    <a:pt x="4819256" y="53238"/>
                  </a:lnTo>
                  <a:lnTo>
                    <a:pt x="4819650" y="57226"/>
                  </a:lnTo>
                  <a:lnTo>
                    <a:pt x="4819650" y="61239"/>
                  </a:lnTo>
                  <a:lnTo>
                    <a:pt x="4819650" y="2139035"/>
                  </a:lnTo>
                  <a:lnTo>
                    <a:pt x="4819650" y="2143048"/>
                  </a:lnTo>
                  <a:lnTo>
                    <a:pt x="4819256" y="2147036"/>
                  </a:lnTo>
                  <a:lnTo>
                    <a:pt x="4818468" y="2150973"/>
                  </a:lnTo>
                  <a:lnTo>
                    <a:pt x="4817694" y="2154923"/>
                  </a:lnTo>
                  <a:lnTo>
                    <a:pt x="4801717" y="2182329"/>
                  </a:lnTo>
                  <a:lnTo>
                    <a:pt x="4798872" y="2185187"/>
                  </a:lnTo>
                  <a:lnTo>
                    <a:pt x="4781842" y="2195614"/>
                  </a:lnTo>
                  <a:lnTo>
                    <a:pt x="4778121" y="2197150"/>
                  </a:lnTo>
                  <a:lnTo>
                    <a:pt x="4774298" y="2198319"/>
                  </a:lnTo>
                  <a:lnTo>
                    <a:pt x="4770348" y="2199093"/>
                  </a:lnTo>
                  <a:lnTo>
                    <a:pt x="4766411" y="2199881"/>
                  </a:lnTo>
                  <a:lnTo>
                    <a:pt x="4762423" y="2200275"/>
                  </a:lnTo>
                  <a:lnTo>
                    <a:pt x="4758397" y="2200275"/>
                  </a:lnTo>
                  <a:lnTo>
                    <a:pt x="61248" y="2200275"/>
                  </a:lnTo>
                  <a:lnTo>
                    <a:pt x="57224" y="2200275"/>
                  </a:lnTo>
                  <a:lnTo>
                    <a:pt x="53240" y="2199881"/>
                  </a:lnTo>
                  <a:lnTo>
                    <a:pt x="49296" y="2199093"/>
                  </a:lnTo>
                  <a:lnTo>
                    <a:pt x="45352" y="2198319"/>
                  </a:lnTo>
                  <a:lnTo>
                    <a:pt x="41522" y="2197150"/>
                  </a:lnTo>
                  <a:lnTo>
                    <a:pt x="37807" y="2195614"/>
                  </a:lnTo>
                  <a:lnTo>
                    <a:pt x="34091" y="2194077"/>
                  </a:lnTo>
                  <a:lnTo>
                    <a:pt x="30563" y="2192185"/>
                  </a:lnTo>
                  <a:lnTo>
                    <a:pt x="27221" y="2189949"/>
                  </a:lnTo>
                  <a:lnTo>
                    <a:pt x="23877" y="2187714"/>
                  </a:lnTo>
                  <a:lnTo>
                    <a:pt x="20781" y="2185187"/>
                  </a:lnTo>
                  <a:lnTo>
                    <a:pt x="17938" y="2182329"/>
                  </a:lnTo>
                  <a:lnTo>
                    <a:pt x="15096" y="2179497"/>
                  </a:lnTo>
                  <a:lnTo>
                    <a:pt x="12556" y="2176399"/>
                  </a:lnTo>
                  <a:lnTo>
                    <a:pt x="10323" y="2173058"/>
                  </a:lnTo>
                  <a:lnTo>
                    <a:pt x="8086" y="2169718"/>
                  </a:lnTo>
                  <a:lnTo>
                    <a:pt x="1176" y="2150973"/>
                  </a:lnTo>
                  <a:lnTo>
                    <a:pt x="392" y="2147036"/>
                  </a:lnTo>
                  <a:lnTo>
                    <a:pt x="0" y="2143048"/>
                  </a:lnTo>
                  <a:lnTo>
                    <a:pt x="0" y="213903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6737" y="2705112"/>
              <a:ext cx="4810125" cy="542925"/>
            </a:xfrm>
            <a:custGeom>
              <a:avLst/>
              <a:gdLst/>
              <a:ahLst/>
              <a:cxnLst/>
              <a:rect l="l" t="t" r="r" b="b"/>
              <a:pathLst>
                <a:path w="4810125" h="542925">
                  <a:moveTo>
                    <a:pt x="2400300" y="0"/>
                  </a:moveTo>
                  <a:lnTo>
                    <a:pt x="66014" y="0"/>
                  </a:lnTo>
                  <a:lnTo>
                    <a:pt x="59512" y="304"/>
                  </a:lnTo>
                  <a:lnTo>
                    <a:pt x="24155" y="14947"/>
                  </a:lnTo>
                  <a:lnTo>
                    <a:pt x="2832" y="46863"/>
                  </a:lnTo>
                  <a:lnTo>
                    <a:pt x="0" y="66001"/>
                  </a:lnTo>
                  <a:lnTo>
                    <a:pt x="0" y="542925"/>
                  </a:lnTo>
                  <a:lnTo>
                    <a:pt x="2400300" y="542925"/>
                  </a:lnTo>
                  <a:lnTo>
                    <a:pt x="2400300" y="0"/>
                  </a:lnTo>
                  <a:close/>
                </a:path>
                <a:path w="4810125" h="542925">
                  <a:moveTo>
                    <a:pt x="4810125" y="66001"/>
                  </a:moveTo>
                  <a:lnTo>
                    <a:pt x="4799012" y="29324"/>
                  </a:lnTo>
                  <a:lnTo>
                    <a:pt x="4769370" y="5029"/>
                  </a:lnTo>
                  <a:lnTo>
                    <a:pt x="4744110" y="0"/>
                  </a:lnTo>
                  <a:lnTo>
                    <a:pt x="2409825" y="0"/>
                  </a:lnTo>
                  <a:lnTo>
                    <a:pt x="2409825" y="542925"/>
                  </a:lnTo>
                  <a:lnTo>
                    <a:pt x="4810125" y="542925"/>
                  </a:lnTo>
                  <a:lnTo>
                    <a:pt x="4810125" y="66001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6737" y="4343412"/>
              <a:ext cx="4810125" cy="552450"/>
            </a:xfrm>
            <a:custGeom>
              <a:avLst/>
              <a:gdLst/>
              <a:ahLst/>
              <a:cxnLst/>
              <a:rect l="l" t="t" r="r" b="b"/>
              <a:pathLst>
                <a:path w="4810125" h="552450">
                  <a:moveTo>
                    <a:pt x="2400300" y="0"/>
                  </a:moveTo>
                  <a:lnTo>
                    <a:pt x="0" y="0"/>
                  </a:lnTo>
                  <a:lnTo>
                    <a:pt x="0" y="486448"/>
                  </a:lnTo>
                  <a:lnTo>
                    <a:pt x="11125" y="523113"/>
                  </a:lnTo>
                  <a:lnTo>
                    <a:pt x="40754" y="547433"/>
                  </a:lnTo>
                  <a:lnTo>
                    <a:pt x="66014" y="552450"/>
                  </a:lnTo>
                  <a:lnTo>
                    <a:pt x="2400300" y="552450"/>
                  </a:lnTo>
                  <a:lnTo>
                    <a:pt x="2400300" y="0"/>
                  </a:lnTo>
                  <a:close/>
                </a:path>
                <a:path w="4810125" h="552450">
                  <a:moveTo>
                    <a:pt x="4810125" y="0"/>
                  </a:moveTo>
                  <a:lnTo>
                    <a:pt x="2409825" y="0"/>
                  </a:lnTo>
                  <a:lnTo>
                    <a:pt x="2409825" y="552450"/>
                  </a:lnTo>
                  <a:lnTo>
                    <a:pt x="4744110" y="552450"/>
                  </a:lnTo>
                  <a:lnTo>
                    <a:pt x="4750625" y="552132"/>
                  </a:lnTo>
                  <a:lnTo>
                    <a:pt x="4785982" y="537489"/>
                  </a:lnTo>
                  <a:lnTo>
                    <a:pt x="4807305" y="505574"/>
                  </a:lnTo>
                  <a:lnTo>
                    <a:pt x="4810125" y="486448"/>
                  </a:lnTo>
                  <a:lnTo>
                    <a:pt x="4810125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45442" y="2837275"/>
            <a:ext cx="87693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20" b="1">
                <a:solidFill>
                  <a:srgbClr val="E2E6E9"/>
                </a:solidFill>
                <a:latin typeface="Cambria"/>
                <a:cs typeface="Cambria"/>
              </a:rPr>
              <a:t>CLIENTE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53184" y="2837275"/>
            <a:ext cx="77406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 b="1">
                <a:solidFill>
                  <a:srgbClr val="E2E6E9"/>
                </a:solidFill>
                <a:latin typeface="Cambria"/>
                <a:cs typeface="Cambria"/>
              </a:rPr>
              <a:t>PEDIDO</a:t>
            </a:r>
            <a:endParaRPr sz="1450">
              <a:latin typeface="Cambria"/>
              <a:cs typeface="Cambria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666749" y="3248025"/>
          <a:ext cx="4886325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4745"/>
                <a:gridCol w="2404745"/>
              </a:tblGrid>
              <a:tr h="55245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8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ID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8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ID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9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NoNbñe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1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FeCh6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845442" y="4475575"/>
            <a:ext cx="8928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E2E6E9"/>
                </a:solidFill>
                <a:latin typeface="Cambria"/>
                <a:cs typeface="Cambria"/>
              </a:rPr>
              <a:t>DiñeCCión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53183" y="4475575"/>
            <a:ext cx="495934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Tot6l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57225" y="5114925"/>
            <a:ext cx="4829175" cy="1104900"/>
            <a:chOff x="657225" y="5114925"/>
            <a:chExt cx="4829175" cy="1104900"/>
          </a:xfrm>
        </p:grpSpPr>
        <p:sp>
          <p:nvSpPr>
            <p:cNvPr id="15" name="object 15" descr=""/>
            <p:cNvSpPr/>
            <p:nvPr/>
          </p:nvSpPr>
          <p:spPr>
            <a:xfrm>
              <a:off x="657225" y="5114925"/>
              <a:ext cx="4829175" cy="1104900"/>
            </a:xfrm>
            <a:custGeom>
              <a:avLst/>
              <a:gdLst/>
              <a:ahLst/>
              <a:cxnLst/>
              <a:rect l="l" t="t" r="r" b="b"/>
              <a:pathLst>
                <a:path w="4829175" h="1104900">
                  <a:moveTo>
                    <a:pt x="4767503" y="0"/>
                  </a:moveTo>
                  <a:lnTo>
                    <a:pt x="61675" y="0"/>
                  </a:lnTo>
                  <a:lnTo>
                    <a:pt x="57383" y="419"/>
                  </a:lnTo>
                  <a:lnTo>
                    <a:pt x="22398" y="16268"/>
                  </a:lnTo>
                  <a:lnTo>
                    <a:pt x="2113" y="48882"/>
                  </a:lnTo>
                  <a:lnTo>
                    <a:pt x="0" y="61671"/>
                  </a:lnTo>
                  <a:lnTo>
                    <a:pt x="0" y="1038893"/>
                  </a:lnTo>
                  <a:lnTo>
                    <a:pt x="0" y="1043223"/>
                  </a:lnTo>
                  <a:lnTo>
                    <a:pt x="13533" y="1079166"/>
                  </a:lnTo>
                  <a:lnTo>
                    <a:pt x="44752" y="1101534"/>
                  </a:lnTo>
                  <a:lnTo>
                    <a:pt x="61675" y="1104897"/>
                  </a:lnTo>
                  <a:lnTo>
                    <a:pt x="4767503" y="1104897"/>
                  </a:lnTo>
                  <a:lnTo>
                    <a:pt x="4803444" y="1091364"/>
                  </a:lnTo>
                  <a:lnTo>
                    <a:pt x="4825809" y="1060145"/>
                  </a:lnTo>
                  <a:lnTo>
                    <a:pt x="4829175" y="1043223"/>
                  </a:lnTo>
                  <a:lnTo>
                    <a:pt x="4829175" y="61671"/>
                  </a:lnTo>
                  <a:lnTo>
                    <a:pt x="4815636" y="25730"/>
                  </a:lnTo>
                  <a:lnTo>
                    <a:pt x="4784420" y="3365"/>
                  </a:lnTo>
                  <a:lnTo>
                    <a:pt x="4771796" y="419"/>
                  </a:lnTo>
                  <a:lnTo>
                    <a:pt x="4767503" y="0"/>
                  </a:lnTo>
                  <a:close/>
                </a:path>
              </a:pathLst>
            </a:custGeom>
            <a:solidFill>
              <a:srgbClr val="001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100" y="5402935"/>
              <a:ext cx="164992" cy="164998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260221" y="5292325"/>
            <a:ext cx="369506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dirty="0" sz="1450" spc="50">
                <a:solidFill>
                  <a:srgbClr val="FFFFFF"/>
                </a:solidFill>
                <a:latin typeface="Cambria"/>
                <a:cs typeface="Cambria"/>
              </a:rPr>
              <a:t>Rel6Ción: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50">
                <a:solidFill>
                  <a:srgbClr val="FFFFFF"/>
                </a:solidFill>
                <a:latin typeface="Cambria"/>
                <a:cs typeface="Cambria"/>
              </a:rPr>
              <a:t>Un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FFFFFF"/>
                </a:solidFill>
                <a:latin typeface="Cambria"/>
                <a:cs typeface="Cambria"/>
              </a:rPr>
              <a:t>Cliente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FFFFFF"/>
                </a:solidFill>
                <a:latin typeface="Cambria"/>
                <a:cs typeface="Cambria"/>
              </a:rPr>
              <a:t>puede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teneñ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50" b="1">
                <a:solidFill>
                  <a:srgbClr val="FFFFFF"/>
                </a:solidFill>
                <a:latin typeface="Cambria"/>
                <a:cs typeface="Cambria"/>
              </a:rPr>
              <a:t>mUchoS </a:t>
            </a:r>
            <a:r>
              <a:rPr dirty="0" sz="1450" spc="40" b="1">
                <a:solidFill>
                  <a:srgbClr val="FFFFFF"/>
                </a:solidFill>
                <a:latin typeface="Cambria"/>
                <a:cs typeface="Cambria"/>
              </a:rPr>
              <a:t>pedidoS</a:t>
            </a:r>
            <a:r>
              <a:rPr dirty="0" sz="1450" spc="4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3124" y="2563818"/>
            <a:ext cx="2857499" cy="2503482"/>
          </a:xfrm>
          <a:prstGeom prst="rect">
            <a:avLst/>
          </a:prstGeom>
        </p:spPr>
      </p:pic>
      <p:pic>
        <p:nvPicPr>
          <p:cNvPr id="19" name="object 19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64320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11315700"/>
          </a:xfrm>
          <a:custGeom>
            <a:avLst/>
            <a:gdLst/>
            <a:ahLst/>
            <a:cxnLst/>
            <a:rect l="l" t="t" r="r" b="b"/>
            <a:pathLst>
              <a:path w="11430000" h="11315700">
                <a:moveTo>
                  <a:pt x="11430000" y="0"/>
                </a:moveTo>
                <a:lnTo>
                  <a:pt x="0" y="0"/>
                </a:lnTo>
                <a:lnTo>
                  <a:pt x="0" y="11315700"/>
                </a:lnTo>
                <a:lnTo>
                  <a:pt x="11430000" y="11315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262619"/>
            <a:ext cx="4286249" cy="7023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7353" y="487362"/>
            <a:ext cx="5450840" cy="1181735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5"/>
              </a:spcBef>
            </a:pPr>
            <a:r>
              <a:rPr dirty="0" spc="175"/>
              <a:t>Nivel</a:t>
            </a:r>
            <a:r>
              <a:rPr dirty="0" spc="75"/>
              <a:t> </a:t>
            </a:r>
            <a:r>
              <a:rPr dirty="0" spc="165"/>
              <a:t>Interno:</a:t>
            </a:r>
            <a:r>
              <a:rPr dirty="0" spc="75"/>
              <a:t> </a:t>
            </a:r>
            <a:r>
              <a:rPr dirty="0" spc="280"/>
              <a:t>¿CÓMO</a:t>
            </a:r>
            <a:r>
              <a:rPr dirty="0" spc="75"/>
              <a:t> </a:t>
            </a:r>
            <a:r>
              <a:rPr dirty="0" spc="150"/>
              <a:t>se </a:t>
            </a:r>
            <a:r>
              <a:rPr dirty="0" spc="204"/>
              <a:t>almacena?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47353" y="1910950"/>
            <a:ext cx="516382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Describe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cómo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se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guardan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físicamente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disco,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optimizando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acceso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rendimiento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sistema.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57225" y="2790825"/>
            <a:ext cx="5829300" cy="1866900"/>
            <a:chOff x="657225" y="2790825"/>
            <a:chExt cx="5829300" cy="1866900"/>
          </a:xfrm>
        </p:grpSpPr>
        <p:sp>
          <p:nvSpPr>
            <p:cNvPr id="7" name="object 7" descr=""/>
            <p:cNvSpPr/>
            <p:nvPr/>
          </p:nvSpPr>
          <p:spPr>
            <a:xfrm>
              <a:off x="661987" y="2795587"/>
              <a:ext cx="5819775" cy="1857375"/>
            </a:xfrm>
            <a:custGeom>
              <a:avLst/>
              <a:gdLst/>
              <a:ahLst/>
              <a:cxnLst/>
              <a:rect l="l" t="t" r="r" b="b"/>
              <a:pathLst>
                <a:path w="5819775" h="1857375">
                  <a:moveTo>
                    <a:pt x="5762548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1796135"/>
                  </a:lnTo>
                  <a:lnTo>
                    <a:pt x="0" y="1800148"/>
                  </a:lnTo>
                  <a:lnTo>
                    <a:pt x="15096" y="1836597"/>
                  </a:lnTo>
                  <a:lnTo>
                    <a:pt x="53240" y="1856981"/>
                  </a:lnTo>
                  <a:lnTo>
                    <a:pt x="57224" y="1857375"/>
                  </a:lnTo>
                  <a:lnTo>
                    <a:pt x="5762548" y="1857375"/>
                  </a:lnTo>
                  <a:lnTo>
                    <a:pt x="5798997" y="1842274"/>
                  </a:lnTo>
                  <a:lnTo>
                    <a:pt x="5819381" y="1804136"/>
                  </a:lnTo>
                  <a:lnTo>
                    <a:pt x="5819775" y="1800148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36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1987" y="2795587"/>
              <a:ext cx="5819775" cy="1857375"/>
            </a:xfrm>
            <a:custGeom>
              <a:avLst/>
              <a:gdLst/>
              <a:ahLst/>
              <a:cxnLst/>
              <a:rect l="l" t="t" r="r" b="b"/>
              <a:pathLst>
                <a:path w="5819775" h="1857375">
                  <a:moveTo>
                    <a:pt x="0" y="1796135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68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68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36" y="393"/>
                  </a:lnTo>
                  <a:lnTo>
                    <a:pt x="5770473" y="1168"/>
                  </a:lnTo>
                  <a:lnTo>
                    <a:pt x="5774423" y="1955"/>
                  </a:lnTo>
                  <a:lnTo>
                    <a:pt x="5778246" y="3124"/>
                  </a:lnTo>
                  <a:lnTo>
                    <a:pt x="5781967" y="4660"/>
                  </a:lnTo>
                  <a:lnTo>
                    <a:pt x="5785688" y="6197"/>
                  </a:lnTo>
                  <a:lnTo>
                    <a:pt x="5813577" y="34086"/>
                  </a:lnTo>
                  <a:lnTo>
                    <a:pt x="5815114" y="37807"/>
                  </a:lnTo>
                  <a:lnTo>
                    <a:pt x="5816650" y="41516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52"/>
                  </a:lnTo>
                  <a:lnTo>
                    <a:pt x="5819775" y="1796135"/>
                  </a:lnTo>
                  <a:lnTo>
                    <a:pt x="5819775" y="1800148"/>
                  </a:lnTo>
                  <a:lnTo>
                    <a:pt x="5819381" y="1804136"/>
                  </a:lnTo>
                  <a:lnTo>
                    <a:pt x="5818593" y="1808073"/>
                  </a:lnTo>
                  <a:lnTo>
                    <a:pt x="5817806" y="1812023"/>
                  </a:lnTo>
                  <a:lnTo>
                    <a:pt x="5816650" y="1815846"/>
                  </a:lnTo>
                  <a:lnTo>
                    <a:pt x="5815114" y="1819567"/>
                  </a:lnTo>
                  <a:lnTo>
                    <a:pt x="5813577" y="1823288"/>
                  </a:lnTo>
                  <a:lnTo>
                    <a:pt x="5801842" y="1839429"/>
                  </a:lnTo>
                  <a:lnTo>
                    <a:pt x="5798997" y="1842274"/>
                  </a:lnTo>
                  <a:lnTo>
                    <a:pt x="5781967" y="1852714"/>
                  </a:lnTo>
                  <a:lnTo>
                    <a:pt x="5778246" y="1854250"/>
                  </a:lnTo>
                  <a:lnTo>
                    <a:pt x="5774423" y="1855419"/>
                  </a:lnTo>
                  <a:lnTo>
                    <a:pt x="5770473" y="1856193"/>
                  </a:lnTo>
                  <a:lnTo>
                    <a:pt x="5766536" y="1856981"/>
                  </a:lnTo>
                  <a:lnTo>
                    <a:pt x="5762548" y="1857375"/>
                  </a:lnTo>
                  <a:lnTo>
                    <a:pt x="5758522" y="1857375"/>
                  </a:lnTo>
                  <a:lnTo>
                    <a:pt x="61248" y="1857375"/>
                  </a:lnTo>
                  <a:lnTo>
                    <a:pt x="57224" y="1857375"/>
                  </a:lnTo>
                  <a:lnTo>
                    <a:pt x="53240" y="1856981"/>
                  </a:lnTo>
                  <a:lnTo>
                    <a:pt x="49296" y="1856193"/>
                  </a:lnTo>
                  <a:lnTo>
                    <a:pt x="45352" y="1855419"/>
                  </a:lnTo>
                  <a:lnTo>
                    <a:pt x="41522" y="1854250"/>
                  </a:lnTo>
                  <a:lnTo>
                    <a:pt x="37807" y="1852714"/>
                  </a:lnTo>
                  <a:lnTo>
                    <a:pt x="34091" y="1851177"/>
                  </a:lnTo>
                  <a:lnTo>
                    <a:pt x="30563" y="1849285"/>
                  </a:lnTo>
                  <a:lnTo>
                    <a:pt x="27221" y="1847049"/>
                  </a:lnTo>
                  <a:lnTo>
                    <a:pt x="23877" y="1844814"/>
                  </a:lnTo>
                  <a:lnTo>
                    <a:pt x="20781" y="1842274"/>
                  </a:lnTo>
                  <a:lnTo>
                    <a:pt x="17938" y="1839429"/>
                  </a:lnTo>
                  <a:lnTo>
                    <a:pt x="15096" y="1836597"/>
                  </a:lnTo>
                  <a:lnTo>
                    <a:pt x="1176" y="1808073"/>
                  </a:lnTo>
                  <a:lnTo>
                    <a:pt x="392" y="1804136"/>
                  </a:lnTo>
                  <a:lnTo>
                    <a:pt x="0" y="1800148"/>
                  </a:lnTo>
                  <a:lnTo>
                    <a:pt x="0" y="1796135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57250" y="2990850"/>
              <a:ext cx="561975" cy="571500"/>
            </a:xfrm>
            <a:custGeom>
              <a:avLst/>
              <a:gdLst/>
              <a:ahLst/>
              <a:cxnLst/>
              <a:rect l="l" t="t" r="r" b="b"/>
              <a:pathLst>
                <a:path w="561975" h="571500">
                  <a:moveTo>
                    <a:pt x="280987" y="0"/>
                  </a:moveTo>
                  <a:lnTo>
                    <a:pt x="239756" y="3044"/>
                  </a:lnTo>
                  <a:lnTo>
                    <a:pt x="199419" y="12103"/>
                  </a:lnTo>
                  <a:lnTo>
                    <a:pt x="160849" y="26974"/>
                  </a:lnTo>
                  <a:lnTo>
                    <a:pt x="124876" y="47358"/>
                  </a:lnTo>
                  <a:lnTo>
                    <a:pt x="92287" y="72790"/>
                  </a:lnTo>
                  <a:lnTo>
                    <a:pt x="63783" y="102730"/>
                  </a:lnTo>
                  <a:lnTo>
                    <a:pt x="39975" y="136526"/>
                  </a:lnTo>
                  <a:lnTo>
                    <a:pt x="21386" y="173456"/>
                  </a:lnTo>
                  <a:lnTo>
                    <a:pt x="8419" y="212713"/>
                  </a:lnTo>
                  <a:lnTo>
                    <a:pt x="1353" y="253441"/>
                  </a:lnTo>
                  <a:lnTo>
                    <a:pt x="0" y="280987"/>
                  </a:lnTo>
                  <a:lnTo>
                    <a:pt x="0" y="290512"/>
                  </a:lnTo>
                  <a:lnTo>
                    <a:pt x="3040" y="331744"/>
                  </a:lnTo>
                  <a:lnTo>
                    <a:pt x="12099" y="372084"/>
                  </a:lnTo>
                  <a:lnTo>
                    <a:pt x="26977" y="410651"/>
                  </a:lnTo>
                  <a:lnTo>
                    <a:pt x="47357" y="446620"/>
                  </a:lnTo>
                  <a:lnTo>
                    <a:pt x="72790" y="479210"/>
                  </a:lnTo>
                  <a:lnTo>
                    <a:pt x="102731" y="507720"/>
                  </a:lnTo>
                  <a:lnTo>
                    <a:pt x="136530" y="531523"/>
                  </a:lnTo>
                  <a:lnTo>
                    <a:pt x="173459" y="550113"/>
                  </a:lnTo>
                  <a:lnTo>
                    <a:pt x="212712" y="563083"/>
                  </a:lnTo>
                  <a:lnTo>
                    <a:pt x="253445" y="570141"/>
                  </a:lnTo>
                  <a:lnTo>
                    <a:pt x="280987" y="571500"/>
                  </a:lnTo>
                  <a:lnTo>
                    <a:pt x="287885" y="571414"/>
                  </a:lnTo>
                  <a:lnTo>
                    <a:pt x="329025" y="567363"/>
                  </a:lnTo>
                  <a:lnTo>
                    <a:pt x="369130" y="557315"/>
                  </a:lnTo>
                  <a:lnTo>
                    <a:pt x="407322" y="541496"/>
                  </a:lnTo>
                  <a:lnTo>
                    <a:pt x="442787" y="520241"/>
                  </a:lnTo>
                  <a:lnTo>
                    <a:pt x="474737" y="494018"/>
                  </a:lnTo>
                  <a:lnTo>
                    <a:pt x="502508" y="463383"/>
                  </a:lnTo>
                  <a:lnTo>
                    <a:pt x="525473" y="429015"/>
                  </a:lnTo>
                  <a:lnTo>
                    <a:pt x="543147" y="391635"/>
                  </a:lnTo>
                  <a:lnTo>
                    <a:pt x="555151" y="352076"/>
                  </a:lnTo>
                  <a:lnTo>
                    <a:pt x="561208" y="311186"/>
                  </a:lnTo>
                  <a:lnTo>
                    <a:pt x="561975" y="290512"/>
                  </a:lnTo>
                  <a:lnTo>
                    <a:pt x="561975" y="280987"/>
                  </a:lnTo>
                  <a:lnTo>
                    <a:pt x="558930" y="239755"/>
                  </a:lnTo>
                  <a:lnTo>
                    <a:pt x="549871" y="199415"/>
                  </a:lnTo>
                  <a:lnTo>
                    <a:pt x="535000" y="160848"/>
                  </a:lnTo>
                  <a:lnTo>
                    <a:pt x="514616" y="124879"/>
                  </a:lnTo>
                  <a:lnTo>
                    <a:pt x="489184" y="92284"/>
                  </a:lnTo>
                  <a:lnTo>
                    <a:pt x="459244" y="63779"/>
                  </a:lnTo>
                  <a:lnTo>
                    <a:pt x="425443" y="39974"/>
                  </a:lnTo>
                  <a:lnTo>
                    <a:pt x="388515" y="21386"/>
                  </a:lnTo>
                  <a:lnTo>
                    <a:pt x="349262" y="8416"/>
                  </a:lnTo>
                  <a:lnTo>
                    <a:pt x="308531" y="135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25554" y="3152774"/>
              <a:ext cx="222885" cy="254635"/>
            </a:xfrm>
            <a:custGeom>
              <a:avLst/>
              <a:gdLst/>
              <a:ahLst/>
              <a:cxnLst/>
              <a:rect l="l" t="t" r="r" b="b"/>
              <a:pathLst>
                <a:path w="222884" h="254635">
                  <a:moveTo>
                    <a:pt x="111343" y="0"/>
                  </a:moveTo>
                  <a:lnTo>
                    <a:pt x="68006" y="3751"/>
                  </a:lnTo>
                  <a:lnTo>
                    <a:pt x="32614" y="13979"/>
                  </a:lnTo>
                  <a:lnTo>
                    <a:pt x="8750" y="29146"/>
                  </a:lnTo>
                  <a:lnTo>
                    <a:pt x="0" y="47713"/>
                  </a:lnTo>
                  <a:lnTo>
                    <a:pt x="0" y="206781"/>
                  </a:lnTo>
                  <a:lnTo>
                    <a:pt x="8750" y="225348"/>
                  </a:lnTo>
                  <a:lnTo>
                    <a:pt x="32614" y="240515"/>
                  </a:lnTo>
                  <a:lnTo>
                    <a:pt x="68006" y="250744"/>
                  </a:lnTo>
                  <a:lnTo>
                    <a:pt x="111343" y="254495"/>
                  </a:lnTo>
                  <a:lnTo>
                    <a:pt x="154680" y="250744"/>
                  </a:lnTo>
                  <a:lnTo>
                    <a:pt x="190072" y="240515"/>
                  </a:lnTo>
                  <a:lnTo>
                    <a:pt x="193094" y="238594"/>
                  </a:lnTo>
                  <a:lnTo>
                    <a:pt x="111343" y="238594"/>
                  </a:lnTo>
                  <a:lnTo>
                    <a:pt x="90227" y="237682"/>
                  </a:lnTo>
                  <a:lnTo>
                    <a:pt x="38874" y="225920"/>
                  </a:lnTo>
                  <a:lnTo>
                    <a:pt x="15905" y="207975"/>
                  </a:lnTo>
                  <a:lnTo>
                    <a:pt x="15905" y="164820"/>
                  </a:lnTo>
                  <a:lnTo>
                    <a:pt x="75842" y="164820"/>
                  </a:lnTo>
                  <a:lnTo>
                    <a:pt x="63757" y="163090"/>
                  </a:lnTo>
                  <a:lnTo>
                    <a:pt x="22131" y="150079"/>
                  </a:lnTo>
                  <a:lnTo>
                    <a:pt x="15905" y="146189"/>
                  </a:lnTo>
                  <a:lnTo>
                    <a:pt x="15905" y="101206"/>
                  </a:lnTo>
                  <a:lnTo>
                    <a:pt x="75914" y="101206"/>
                  </a:lnTo>
                  <a:lnTo>
                    <a:pt x="63757" y="99468"/>
                  </a:lnTo>
                  <a:lnTo>
                    <a:pt x="22131" y="86452"/>
                  </a:lnTo>
                  <a:lnTo>
                    <a:pt x="15905" y="82562"/>
                  </a:lnTo>
                  <a:lnTo>
                    <a:pt x="15905" y="46520"/>
                  </a:lnTo>
                  <a:lnTo>
                    <a:pt x="53586" y="23385"/>
                  </a:lnTo>
                  <a:lnTo>
                    <a:pt x="111343" y="15900"/>
                  </a:lnTo>
                  <a:lnTo>
                    <a:pt x="193094" y="15900"/>
                  </a:lnTo>
                  <a:lnTo>
                    <a:pt x="190072" y="13979"/>
                  </a:lnTo>
                  <a:lnTo>
                    <a:pt x="154680" y="3751"/>
                  </a:lnTo>
                  <a:lnTo>
                    <a:pt x="111343" y="0"/>
                  </a:lnTo>
                  <a:close/>
                </a:path>
                <a:path w="222884" h="254635">
                  <a:moveTo>
                    <a:pt x="222686" y="164820"/>
                  </a:moveTo>
                  <a:lnTo>
                    <a:pt x="206777" y="164820"/>
                  </a:lnTo>
                  <a:lnTo>
                    <a:pt x="206777" y="207975"/>
                  </a:lnTo>
                  <a:lnTo>
                    <a:pt x="206281" y="210451"/>
                  </a:lnTo>
                  <a:lnTo>
                    <a:pt x="169099" y="231104"/>
                  </a:lnTo>
                  <a:lnTo>
                    <a:pt x="111343" y="238594"/>
                  </a:lnTo>
                  <a:lnTo>
                    <a:pt x="193094" y="238594"/>
                  </a:lnTo>
                  <a:lnTo>
                    <a:pt x="213935" y="225348"/>
                  </a:lnTo>
                  <a:lnTo>
                    <a:pt x="222686" y="206781"/>
                  </a:lnTo>
                  <a:lnTo>
                    <a:pt x="222686" y="164820"/>
                  </a:lnTo>
                  <a:close/>
                </a:path>
                <a:path w="222884" h="254635">
                  <a:moveTo>
                    <a:pt x="75842" y="164820"/>
                  </a:moveTo>
                  <a:lnTo>
                    <a:pt x="15986" y="164820"/>
                  </a:lnTo>
                  <a:lnTo>
                    <a:pt x="22749" y="167992"/>
                  </a:lnTo>
                  <a:lnTo>
                    <a:pt x="61093" y="178765"/>
                  </a:lnTo>
                  <a:lnTo>
                    <a:pt x="111343" y="182918"/>
                  </a:lnTo>
                  <a:lnTo>
                    <a:pt x="128987" y="182435"/>
                  </a:lnTo>
                  <a:lnTo>
                    <a:pt x="176362" y="175704"/>
                  </a:lnTo>
                  <a:lnTo>
                    <a:pt x="202106" y="167017"/>
                  </a:lnTo>
                  <a:lnTo>
                    <a:pt x="111343" y="167017"/>
                  </a:lnTo>
                  <a:lnTo>
                    <a:pt x="94555" y="166554"/>
                  </a:lnTo>
                  <a:lnTo>
                    <a:pt x="78625" y="165219"/>
                  </a:lnTo>
                  <a:lnTo>
                    <a:pt x="75842" y="164820"/>
                  </a:lnTo>
                  <a:close/>
                </a:path>
                <a:path w="222884" h="254635">
                  <a:moveTo>
                    <a:pt x="222686" y="101206"/>
                  </a:moveTo>
                  <a:lnTo>
                    <a:pt x="206777" y="101206"/>
                  </a:lnTo>
                  <a:lnTo>
                    <a:pt x="206777" y="146189"/>
                  </a:lnTo>
                  <a:lnTo>
                    <a:pt x="200539" y="150079"/>
                  </a:lnTo>
                  <a:lnTo>
                    <a:pt x="158930" y="163090"/>
                  </a:lnTo>
                  <a:lnTo>
                    <a:pt x="111343" y="167017"/>
                  </a:lnTo>
                  <a:lnTo>
                    <a:pt x="202106" y="167017"/>
                  </a:lnTo>
                  <a:lnTo>
                    <a:pt x="206777" y="164820"/>
                  </a:lnTo>
                  <a:lnTo>
                    <a:pt x="222686" y="164820"/>
                  </a:lnTo>
                  <a:lnTo>
                    <a:pt x="222686" y="101206"/>
                  </a:lnTo>
                  <a:close/>
                </a:path>
                <a:path w="222884" h="254635">
                  <a:moveTo>
                    <a:pt x="75914" y="101206"/>
                  </a:moveTo>
                  <a:lnTo>
                    <a:pt x="16013" y="101206"/>
                  </a:lnTo>
                  <a:lnTo>
                    <a:pt x="22763" y="104373"/>
                  </a:lnTo>
                  <a:lnTo>
                    <a:pt x="61130" y="115144"/>
                  </a:lnTo>
                  <a:lnTo>
                    <a:pt x="111343" y="119291"/>
                  </a:lnTo>
                  <a:lnTo>
                    <a:pt x="128987" y="118808"/>
                  </a:lnTo>
                  <a:lnTo>
                    <a:pt x="176362" y="112090"/>
                  </a:lnTo>
                  <a:lnTo>
                    <a:pt x="202125" y="103390"/>
                  </a:lnTo>
                  <a:lnTo>
                    <a:pt x="111343" y="103390"/>
                  </a:lnTo>
                  <a:lnTo>
                    <a:pt x="94555" y="102927"/>
                  </a:lnTo>
                  <a:lnTo>
                    <a:pt x="78625" y="101593"/>
                  </a:lnTo>
                  <a:lnTo>
                    <a:pt x="75914" y="101206"/>
                  </a:lnTo>
                  <a:close/>
                </a:path>
                <a:path w="222884" h="254635">
                  <a:moveTo>
                    <a:pt x="193094" y="15900"/>
                  </a:moveTo>
                  <a:lnTo>
                    <a:pt x="111343" y="15900"/>
                  </a:lnTo>
                  <a:lnTo>
                    <a:pt x="132458" y="16811"/>
                  </a:lnTo>
                  <a:lnTo>
                    <a:pt x="151846" y="19384"/>
                  </a:lnTo>
                  <a:lnTo>
                    <a:pt x="192713" y="32410"/>
                  </a:lnTo>
                  <a:lnTo>
                    <a:pt x="206777" y="46520"/>
                  </a:lnTo>
                  <a:lnTo>
                    <a:pt x="206777" y="82562"/>
                  </a:lnTo>
                  <a:lnTo>
                    <a:pt x="158930" y="99468"/>
                  </a:lnTo>
                  <a:lnTo>
                    <a:pt x="111343" y="103390"/>
                  </a:lnTo>
                  <a:lnTo>
                    <a:pt x="202125" y="103390"/>
                  </a:lnTo>
                  <a:lnTo>
                    <a:pt x="206777" y="101206"/>
                  </a:lnTo>
                  <a:lnTo>
                    <a:pt x="222686" y="101206"/>
                  </a:lnTo>
                  <a:lnTo>
                    <a:pt x="222686" y="47713"/>
                  </a:lnTo>
                  <a:lnTo>
                    <a:pt x="213935" y="29146"/>
                  </a:lnTo>
                  <a:lnTo>
                    <a:pt x="193094" y="15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45442" y="3713956"/>
            <a:ext cx="402590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95">
                <a:solidFill>
                  <a:srgbClr val="E2E6E9"/>
                </a:solidFill>
                <a:latin typeface="Cambria"/>
                <a:cs typeface="Cambria"/>
              </a:rPr>
              <a:t>Bloques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8KB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Unidad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5">
                <a:solidFill>
                  <a:srgbClr val="E2E6E9"/>
                </a:solidFill>
                <a:latin typeface="Cambria"/>
                <a:cs typeface="Cambria"/>
              </a:rPr>
              <a:t>mínima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lectura/escritura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disco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57225" y="4848225"/>
            <a:ext cx="5829300" cy="1857375"/>
            <a:chOff x="657225" y="4848225"/>
            <a:chExt cx="5829300" cy="1857375"/>
          </a:xfrm>
        </p:grpSpPr>
        <p:sp>
          <p:nvSpPr>
            <p:cNvPr id="13" name="object 13" descr=""/>
            <p:cNvSpPr/>
            <p:nvPr/>
          </p:nvSpPr>
          <p:spPr>
            <a:xfrm>
              <a:off x="661987" y="4852987"/>
              <a:ext cx="5819775" cy="1847850"/>
            </a:xfrm>
            <a:custGeom>
              <a:avLst/>
              <a:gdLst/>
              <a:ahLst/>
              <a:cxnLst/>
              <a:rect l="l" t="t" r="r" b="b"/>
              <a:pathLst>
                <a:path w="5819775" h="1847850">
                  <a:moveTo>
                    <a:pt x="5762548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1786610"/>
                  </a:lnTo>
                  <a:lnTo>
                    <a:pt x="0" y="1790623"/>
                  </a:lnTo>
                  <a:lnTo>
                    <a:pt x="15096" y="1827072"/>
                  </a:lnTo>
                  <a:lnTo>
                    <a:pt x="53240" y="1847456"/>
                  </a:lnTo>
                  <a:lnTo>
                    <a:pt x="57224" y="1847850"/>
                  </a:lnTo>
                  <a:lnTo>
                    <a:pt x="5762548" y="1847850"/>
                  </a:lnTo>
                  <a:lnTo>
                    <a:pt x="5798997" y="1832749"/>
                  </a:lnTo>
                  <a:lnTo>
                    <a:pt x="5819381" y="1794611"/>
                  </a:lnTo>
                  <a:lnTo>
                    <a:pt x="5819775" y="1790623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36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1987" y="4852987"/>
              <a:ext cx="5819775" cy="1847850"/>
            </a:xfrm>
            <a:custGeom>
              <a:avLst/>
              <a:gdLst/>
              <a:ahLst/>
              <a:cxnLst/>
              <a:rect l="l" t="t" r="r" b="b"/>
              <a:pathLst>
                <a:path w="5819775" h="1847850">
                  <a:moveTo>
                    <a:pt x="0" y="1786610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68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68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36" y="393"/>
                  </a:lnTo>
                  <a:lnTo>
                    <a:pt x="5770473" y="1168"/>
                  </a:lnTo>
                  <a:lnTo>
                    <a:pt x="5774423" y="1955"/>
                  </a:lnTo>
                  <a:lnTo>
                    <a:pt x="5778246" y="3124"/>
                  </a:lnTo>
                  <a:lnTo>
                    <a:pt x="5781967" y="4660"/>
                  </a:lnTo>
                  <a:lnTo>
                    <a:pt x="5785688" y="6197"/>
                  </a:lnTo>
                  <a:lnTo>
                    <a:pt x="5813577" y="34086"/>
                  </a:lnTo>
                  <a:lnTo>
                    <a:pt x="5815114" y="37807"/>
                  </a:lnTo>
                  <a:lnTo>
                    <a:pt x="5816650" y="41516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52"/>
                  </a:lnTo>
                  <a:lnTo>
                    <a:pt x="5819775" y="1786610"/>
                  </a:lnTo>
                  <a:lnTo>
                    <a:pt x="5819775" y="1790623"/>
                  </a:lnTo>
                  <a:lnTo>
                    <a:pt x="5819381" y="1794611"/>
                  </a:lnTo>
                  <a:lnTo>
                    <a:pt x="5818593" y="1798548"/>
                  </a:lnTo>
                  <a:lnTo>
                    <a:pt x="5817806" y="1802498"/>
                  </a:lnTo>
                  <a:lnTo>
                    <a:pt x="5816650" y="1806321"/>
                  </a:lnTo>
                  <a:lnTo>
                    <a:pt x="5815114" y="1810042"/>
                  </a:lnTo>
                  <a:lnTo>
                    <a:pt x="5813577" y="1813763"/>
                  </a:lnTo>
                  <a:lnTo>
                    <a:pt x="5801842" y="1829904"/>
                  </a:lnTo>
                  <a:lnTo>
                    <a:pt x="5798997" y="1832749"/>
                  </a:lnTo>
                  <a:lnTo>
                    <a:pt x="5770473" y="1846668"/>
                  </a:lnTo>
                  <a:lnTo>
                    <a:pt x="5766536" y="1847456"/>
                  </a:lnTo>
                  <a:lnTo>
                    <a:pt x="5762548" y="1847850"/>
                  </a:lnTo>
                  <a:lnTo>
                    <a:pt x="5758522" y="1847850"/>
                  </a:lnTo>
                  <a:lnTo>
                    <a:pt x="61248" y="1847850"/>
                  </a:lnTo>
                  <a:lnTo>
                    <a:pt x="57224" y="1847850"/>
                  </a:lnTo>
                  <a:lnTo>
                    <a:pt x="53240" y="1847456"/>
                  </a:lnTo>
                  <a:lnTo>
                    <a:pt x="49296" y="1846668"/>
                  </a:lnTo>
                  <a:lnTo>
                    <a:pt x="45352" y="1845894"/>
                  </a:lnTo>
                  <a:lnTo>
                    <a:pt x="41522" y="1844725"/>
                  </a:lnTo>
                  <a:lnTo>
                    <a:pt x="37807" y="1843189"/>
                  </a:lnTo>
                  <a:lnTo>
                    <a:pt x="34091" y="1841652"/>
                  </a:lnTo>
                  <a:lnTo>
                    <a:pt x="30563" y="1839760"/>
                  </a:lnTo>
                  <a:lnTo>
                    <a:pt x="27221" y="1837524"/>
                  </a:lnTo>
                  <a:lnTo>
                    <a:pt x="23877" y="1835289"/>
                  </a:lnTo>
                  <a:lnTo>
                    <a:pt x="20781" y="1832749"/>
                  </a:lnTo>
                  <a:lnTo>
                    <a:pt x="17938" y="1829904"/>
                  </a:lnTo>
                  <a:lnTo>
                    <a:pt x="15096" y="1827072"/>
                  </a:lnTo>
                  <a:lnTo>
                    <a:pt x="1176" y="1798548"/>
                  </a:lnTo>
                  <a:lnTo>
                    <a:pt x="392" y="1794611"/>
                  </a:lnTo>
                  <a:lnTo>
                    <a:pt x="0" y="1790623"/>
                  </a:lnTo>
                  <a:lnTo>
                    <a:pt x="0" y="1786610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57250" y="5038725"/>
              <a:ext cx="561975" cy="571500"/>
            </a:xfrm>
            <a:custGeom>
              <a:avLst/>
              <a:gdLst/>
              <a:ahLst/>
              <a:cxnLst/>
              <a:rect l="l" t="t" r="r" b="b"/>
              <a:pathLst>
                <a:path w="561975" h="571500">
                  <a:moveTo>
                    <a:pt x="280987" y="0"/>
                  </a:moveTo>
                  <a:lnTo>
                    <a:pt x="239756" y="3044"/>
                  </a:lnTo>
                  <a:lnTo>
                    <a:pt x="199419" y="12103"/>
                  </a:lnTo>
                  <a:lnTo>
                    <a:pt x="160849" y="26974"/>
                  </a:lnTo>
                  <a:lnTo>
                    <a:pt x="124876" y="47358"/>
                  </a:lnTo>
                  <a:lnTo>
                    <a:pt x="92287" y="72790"/>
                  </a:lnTo>
                  <a:lnTo>
                    <a:pt x="63783" y="102730"/>
                  </a:lnTo>
                  <a:lnTo>
                    <a:pt x="39975" y="136526"/>
                  </a:lnTo>
                  <a:lnTo>
                    <a:pt x="21386" y="173456"/>
                  </a:lnTo>
                  <a:lnTo>
                    <a:pt x="8419" y="212713"/>
                  </a:lnTo>
                  <a:lnTo>
                    <a:pt x="1353" y="253441"/>
                  </a:lnTo>
                  <a:lnTo>
                    <a:pt x="0" y="280987"/>
                  </a:lnTo>
                  <a:lnTo>
                    <a:pt x="0" y="290512"/>
                  </a:lnTo>
                  <a:lnTo>
                    <a:pt x="3040" y="331744"/>
                  </a:lnTo>
                  <a:lnTo>
                    <a:pt x="12099" y="372084"/>
                  </a:lnTo>
                  <a:lnTo>
                    <a:pt x="26977" y="410651"/>
                  </a:lnTo>
                  <a:lnTo>
                    <a:pt x="47357" y="446620"/>
                  </a:lnTo>
                  <a:lnTo>
                    <a:pt x="72790" y="479210"/>
                  </a:lnTo>
                  <a:lnTo>
                    <a:pt x="102731" y="507720"/>
                  </a:lnTo>
                  <a:lnTo>
                    <a:pt x="136530" y="531523"/>
                  </a:lnTo>
                  <a:lnTo>
                    <a:pt x="173459" y="550113"/>
                  </a:lnTo>
                  <a:lnTo>
                    <a:pt x="212712" y="563083"/>
                  </a:lnTo>
                  <a:lnTo>
                    <a:pt x="253445" y="570141"/>
                  </a:lnTo>
                  <a:lnTo>
                    <a:pt x="280987" y="571500"/>
                  </a:lnTo>
                  <a:lnTo>
                    <a:pt x="287885" y="571414"/>
                  </a:lnTo>
                  <a:lnTo>
                    <a:pt x="329025" y="567363"/>
                  </a:lnTo>
                  <a:lnTo>
                    <a:pt x="369130" y="557315"/>
                  </a:lnTo>
                  <a:lnTo>
                    <a:pt x="407322" y="541496"/>
                  </a:lnTo>
                  <a:lnTo>
                    <a:pt x="442787" y="520241"/>
                  </a:lnTo>
                  <a:lnTo>
                    <a:pt x="474737" y="494018"/>
                  </a:lnTo>
                  <a:lnTo>
                    <a:pt x="502508" y="463383"/>
                  </a:lnTo>
                  <a:lnTo>
                    <a:pt x="525473" y="429015"/>
                  </a:lnTo>
                  <a:lnTo>
                    <a:pt x="543147" y="391635"/>
                  </a:lnTo>
                  <a:lnTo>
                    <a:pt x="555151" y="352076"/>
                  </a:lnTo>
                  <a:lnTo>
                    <a:pt x="561208" y="311186"/>
                  </a:lnTo>
                  <a:lnTo>
                    <a:pt x="561975" y="290512"/>
                  </a:lnTo>
                  <a:lnTo>
                    <a:pt x="561975" y="280987"/>
                  </a:lnTo>
                  <a:lnTo>
                    <a:pt x="558930" y="239755"/>
                  </a:lnTo>
                  <a:lnTo>
                    <a:pt x="549871" y="199415"/>
                  </a:lnTo>
                  <a:lnTo>
                    <a:pt x="535000" y="160848"/>
                  </a:lnTo>
                  <a:lnTo>
                    <a:pt x="514616" y="124879"/>
                  </a:lnTo>
                  <a:lnTo>
                    <a:pt x="489184" y="92284"/>
                  </a:lnTo>
                  <a:lnTo>
                    <a:pt x="459244" y="63779"/>
                  </a:lnTo>
                  <a:lnTo>
                    <a:pt x="425443" y="39974"/>
                  </a:lnTo>
                  <a:lnTo>
                    <a:pt x="388515" y="21386"/>
                  </a:lnTo>
                  <a:lnTo>
                    <a:pt x="349262" y="8416"/>
                  </a:lnTo>
                  <a:lnTo>
                    <a:pt x="308531" y="135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25554" y="5199900"/>
              <a:ext cx="222885" cy="255270"/>
            </a:xfrm>
            <a:custGeom>
              <a:avLst/>
              <a:gdLst/>
              <a:ahLst/>
              <a:cxnLst/>
              <a:rect l="l" t="t" r="r" b="b"/>
              <a:pathLst>
                <a:path w="222884" h="255270">
                  <a:moveTo>
                    <a:pt x="119296" y="223431"/>
                  </a:moveTo>
                  <a:lnTo>
                    <a:pt x="103391" y="223431"/>
                  </a:lnTo>
                  <a:lnTo>
                    <a:pt x="103391" y="251663"/>
                  </a:lnTo>
                  <a:lnTo>
                    <a:pt x="106968" y="255244"/>
                  </a:lnTo>
                  <a:lnTo>
                    <a:pt x="115719" y="255244"/>
                  </a:lnTo>
                  <a:lnTo>
                    <a:pt x="119296" y="251663"/>
                  </a:lnTo>
                  <a:lnTo>
                    <a:pt x="119296" y="223431"/>
                  </a:lnTo>
                  <a:close/>
                </a:path>
                <a:path w="222884" h="255270">
                  <a:moveTo>
                    <a:pt x="113878" y="0"/>
                  </a:moveTo>
                  <a:lnTo>
                    <a:pt x="108808" y="0"/>
                  </a:lnTo>
                  <a:lnTo>
                    <a:pt x="33253" y="75565"/>
                  </a:lnTo>
                  <a:lnTo>
                    <a:pt x="31814" y="79032"/>
                  </a:lnTo>
                  <a:lnTo>
                    <a:pt x="31814" y="90119"/>
                  </a:lnTo>
                  <a:lnTo>
                    <a:pt x="37877" y="96189"/>
                  </a:lnTo>
                  <a:lnTo>
                    <a:pt x="54283" y="96189"/>
                  </a:lnTo>
                  <a:lnTo>
                    <a:pt x="17100" y="139585"/>
                  </a:lnTo>
                  <a:lnTo>
                    <a:pt x="15905" y="142760"/>
                  </a:lnTo>
                  <a:lnTo>
                    <a:pt x="15905" y="153644"/>
                  </a:lnTo>
                  <a:lnTo>
                    <a:pt x="22071" y="159816"/>
                  </a:lnTo>
                  <a:lnTo>
                    <a:pt x="38373" y="159816"/>
                  </a:lnTo>
                  <a:lnTo>
                    <a:pt x="1196" y="203200"/>
                  </a:lnTo>
                  <a:lnTo>
                    <a:pt x="0" y="206387"/>
                  </a:lnTo>
                  <a:lnTo>
                    <a:pt x="0" y="217271"/>
                  </a:lnTo>
                  <a:lnTo>
                    <a:pt x="6167" y="223431"/>
                  </a:lnTo>
                  <a:lnTo>
                    <a:pt x="216521" y="223431"/>
                  </a:lnTo>
                  <a:lnTo>
                    <a:pt x="222686" y="217271"/>
                  </a:lnTo>
                  <a:lnTo>
                    <a:pt x="222686" y="207530"/>
                  </a:lnTo>
                  <a:lnTo>
                    <a:pt x="18440" y="207530"/>
                  </a:lnTo>
                  <a:lnTo>
                    <a:pt x="61734" y="157022"/>
                  </a:lnTo>
                  <a:lnTo>
                    <a:pt x="63773" y="154686"/>
                  </a:lnTo>
                  <a:lnTo>
                    <a:pt x="64220" y="151358"/>
                  </a:lnTo>
                  <a:lnTo>
                    <a:pt x="61635" y="145694"/>
                  </a:lnTo>
                  <a:lnTo>
                    <a:pt x="58802" y="143903"/>
                  </a:lnTo>
                  <a:lnTo>
                    <a:pt x="34349" y="143903"/>
                  </a:lnTo>
                  <a:lnTo>
                    <a:pt x="77643" y="93408"/>
                  </a:lnTo>
                  <a:lnTo>
                    <a:pt x="79683" y="91071"/>
                  </a:lnTo>
                  <a:lnTo>
                    <a:pt x="80129" y="87731"/>
                  </a:lnTo>
                  <a:lnTo>
                    <a:pt x="77544" y="82067"/>
                  </a:lnTo>
                  <a:lnTo>
                    <a:pt x="74712" y="80276"/>
                  </a:lnTo>
                  <a:lnTo>
                    <a:pt x="50999" y="80276"/>
                  </a:lnTo>
                  <a:lnTo>
                    <a:pt x="111343" y="19939"/>
                  </a:lnTo>
                  <a:lnTo>
                    <a:pt x="133811" y="19939"/>
                  </a:lnTo>
                  <a:lnTo>
                    <a:pt x="113878" y="0"/>
                  </a:lnTo>
                  <a:close/>
                </a:path>
                <a:path w="222884" h="255270">
                  <a:moveTo>
                    <a:pt x="115719" y="96189"/>
                  </a:moveTo>
                  <a:lnTo>
                    <a:pt x="106968" y="96189"/>
                  </a:lnTo>
                  <a:lnTo>
                    <a:pt x="103391" y="99758"/>
                  </a:lnTo>
                  <a:lnTo>
                    <a:pt x="103391" y="207530"/>
                  </a:lnTo>
                  <a:lnTo>
                    <a:pt x="119296" y="207530"/>
                  </a:lnTo>
                  <a:lnTo>
                    <a:pt x="119296" y="99758"/>
                  </a:lnTo>
                  <a:lnTo>
                    <a:pt x="115719" y="96189"/>
                  </a:lnTo>
                  <a:close/>
                </a:path>
                <a:path w="222884" h="255270">
                  <a:moveTo>
                    <a:pt x="133811" y="19939"/>
                  </a:moveTo>
                  <a:lnTo>
                    <a:pt x="111343" y="19939"/>
                  </a:lnTo>
                  <a:lnTo>
                    <a:pt x="171688" y="80276"/>
                  </a:lnTo>
                  <a:lnTo>
                    <a:pt x="148024" y="80276"/>
                  </a:lnTo>
                  <a:lnTo>
                    <a:pt x="145192" y="82067"/>
                  </a:lnTo>
                  <a:lnTo>
                    <a:pt x="142608" y="87731"/>
                  </a:lnTo>
                  <a:lnTo>
                    <a:pt x="143054" y="91071"/>
                  </a:lnTo>
                  <a:lnTo>
                    <a:pt x="145093" y="93408"/>
                  </a:lnTo>
                  <a:lnTo>
                    <a:pt x="188337" y="143903"/>
                  </a:lnTo>
                  <a:lnTo>
                    <a:pt x="163934" y="143903"/>
                  </a:lnTo>
                  <a:lnTo>
                    <a:pt x="161102" y="145694"/>
                  </a:lnTo>
                  <a:lnTo>
                    <a:pt x="158517" y="151358"/>
                  </a:lnTo>
                  <a:lnTo>
                    <a:pt x="158963" y="154686"/>
                  </a:lnTo>
                  <a:lnTo>
                    <a:pt x="161002" y="157022"/>
                  </a:lnTo>
                  <a:lnTo>
                    <a:pt x="204242" y="207530"/>
                  </a:lnTo>
                  <a:lnTo>
                    <a:pt x="222686" y="207530"/>
                  </a:lnTo>
                  <a:lnTo>
                    <a:pt x="222686" y="206387"/>
                  </a:lnTo>
                  <a:lnTo>
                    <a:pt x="221491" y="203200"/>
                  </a:lnTo>
                  <a:lnTo>
                    <a:pt x="184313" y="159816"/>
                  </a:lnTo>
                  <a:lnTo>
                    <a:pt x="200615" y="159816"/>
                  </a:lnTo>
                  <a:lnTo>
                    <a:pt x="206777" y="153644"/>
                  </a:lnTo>
                  <a:lnTo>
                    <a:pt x="206777" y="142760"/>
                  </a:lnTo>
                  <a:lnTo>
                    <a:pt x="205586" y="139585"/>
                  </a:lnTo>
                  <a:lnTo>
                    <a:pt x="168404" y="96189"/>
                  </a:lnTo>
                  <a:lnTo>
                    <a:pt x="184810" y="96189"/>
                  </a:lnTo>
                  <a:lnTo>
                    <a:pt x="190872" y="90119"/>
                  </a:lnTo>
                  <a:lnTo>
                    <a:pt x="190872" y="79032"/>
                  </a:lnTo>
                  <a:lnTo>
                    <a:pt x="189434" y="75565"/>
                  </a:lnTo>
                  <a:lnTo>
                    <a:pt x="133811" y="19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45442" y="5771356"/>
            <a:ext cx="4249420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0">
                <a:solidFill>
                  <a:srgbClr val="E2E6E9"/>
                </a:solidFill>
                <a:latin typeface="Cambria"/>
                <a:cs typeface="Cambria"/>
              </a:rPr>
              <a:t>Índices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5">
                <a:solidFill>
                  <a:srgbClr val="E2E6E9"/>
                </a:solidFill>
                <a:latin typeface="Cambria"/>
                <a:cs typeface="Cambria"/>
              </a:rPr>
              <a:t>B-</a:t>
            </a:r>
            <a:r>
              <a:rPr dirty="0" sz="1850" spc="70">
                <a:solidFill>
                  <a:srgbClr val="E2E6E9"/>
                </a:solidFill>
                <a:latin typeface="Cambria"/>
                <a:cs typeface="Cambria"/>
              </a:rPr>
              <a:t>Tree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Sobre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claves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primarias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para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búsqueda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eficiente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57225" y="6896100"/>
            <a:ext cx="5829300" cy="1857375"/>
            <a:chOff x="657225" y="6896100"/>
            <a:chExt cx="5829300" cy="1857375"/>
          </a:xfrm>
        </p:grpSpPr>
        <p:sp>
          <p:nvSpPr>
            <p:cNvPr id="19" name="object 19" descr=""/>
            <p:cNvSpPr/>
            <p:nvPr/>
          </p:nvSpPr>
          <p:spPr>
            <a:xfrm>
              <a:off x="661987" y="6900862"/>
              <a:ext cx="5819775" cy="1847850"/>
            </a:xfrm>
            <a:custGeom>
              <a:avLst/>
              <a:gdLst/>
              <a:ahLst/>
              <a:cxnLst/>
              <a:rect l="l" t="t" r="r" b="b"/>
              <a:pathLst>
                <a:path w="5819775" h="1847850">
                  <a:moveTo>
                    <a:pt x="5762548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1786597"/>
                  </a:lnTo>
                  <a:lnTo>
                    <a:pt x="0" y="1790623"/>
                  </a:lnTo>
                  <a:lnTo>
                    <a:pt x="15096" y="1827072"/>
                  </a:lnTo>
                  <a:lnTo>
                    <a:pt x="53240" y="1847456"/>
                  </a:lnTo>
                  <a:lnTo>
                    <a:pt x="57224" y="1847850"/>
                  </a:lnTo>
                  <a:lnTo>
                    <a:pt x="5762548" y="1847850"/>
                  </a:lnTo>
                  <a:lnTo>
                    <a:pt x="5798997" y="1832749"/>
                  </a:lnTo>
                  <a:lnTo>
                    <a:pt x="5819381" y="1794611"/>
                  </a:lnTo>
                  <a:lnTo>
                    <a:pt x="5819775" y="1790623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36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1987" y="6900862"/>
              <a:ext cx="5819775" cy="1847850"/>
            </a:xfrm>
            <a:custGeom>
              <a:avLst/>
              <a:gdLst/>
              <a:ahLst/>
              <a:cxnLst/>
              <a:rect l="l" t="t" r="r" b="b"/>
              <a:pathLst>
                <a:path w="5819775" h="1847850">
                  <a:moveTo>
                    <a:pt x="0" y="1786597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68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68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36" y="393"/>
                  </a:lnTo>
                  <a:lnTo>
                    <a:pt x="5770473" y="1168"/>
                  </a:lnTo>
                  <a:lnTo>
                    <a:pt x="5774423" y="1955"/>
                  </a:lnTo>
                  <a:lnTo>
                    <a:pt x="5778246" y="3124"/>
                  </a:lnTo>
                  <a:lnTo>
                    <a:pt x="5781967" y="4660"/>
                  </a:lnTo>
                  <a:lnTo>
                    <a:pt x="5785688" y="6197"/>
                  </a:lnTo>
                  <a:lnTo>
                    <a:pt x="5813577" y="34086"/>
                  </a:lnTo>
                  <a:lnTo>
                    <a:pt x="5815114" y="37807"/>
                  </a:lnTo>
                  <a:lnTo>
                    <a:pt x="5816650" y="41516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52"/>
                  </a:lnTo>
                  <a:lnTo>
                    <a:pt x="5819775" y="1786597"/>
                  </a:lnTo>
                  <a:lnTo>
                    <a:pt x="5819775" y="1790623"/>
                  </a:lnTo>
                  <a:lnTo>
                    <a:pt x="5819381" y="1794611"/>
                  </a:lnTo>
                  <a:lnTo>
                    <a:pt x="5818593" y="1798548"/>
                  </a:lnTo>
                  <a:lnTo>
                    <a:pt x="5817806" y="1802498"/>
                  </a:lnTo>
                  <a:lnTo>
                    <a:pt x="5816650" y="1806321"/>
                  </a:lnTo>
                  <a:lnTo>
                    <a:pt x="5815114" y="1810042"/>
                  </a:lnTo>
                  <a:lnTo>
                    <a:pt x="5813577" y="1813763"/>
                  </a:lnTo>
                  <a:lnTo>
                    <a:pt x="5801842" y="1829904"/>
                  </a:lnTo>
                  <a:lnTo>
                    <a:pt x="5798997" y="1832749"/>
                  </a:lnTo>
                  <a:lnTo>
                    <a:pt x="5781967" y="1843189"/>
                  </a:lnTo>
                  <a:lnTo>
                    <a:pt x="5778246" y="1844725"/>
                  </a:lnTo>
                  <a:lnTo>
                    <a:pt x="5774423" y="1845881"/>
                  </a:lnTo>
                  <a:lnTo>
                    <a:pt x="5770473" y="1846668"/>
                  </a:lnTo>
                  <a:lnTo>
                    <a:pt x="5766536" y="1847456"/>
                  </a:lnTo>
                  <a:lnTo>
                    <a:pt x="5762548" y="1847850"/>
                  </a:lnTo>
                  <a:lnTo>
                    <a:pt x="5758522" y="1847850"/>
                  </a:lnTo>
                  <a:lnTo>
                    <a:pt x="61248" y="1847850"/>
                  </a:lnTo>
                  <a:lnTo>
                    <a:pt x="57224" y="1847850"/>
                  </a:lnTo>
                  <a:lnTo>
                    <a:pt x="53240" y="1847456"/>
                  </a:lnTo>
                  <a:lnTo>
                    <a:pt x="49296" y="1846668"/>
                  </a:lnTo>
                  <a:lnTo>
                    <a:pt x="45352" y="1845881"/>
                  </a:lnTo>
                  <a:lnTo>
                    <a:pt x="41522" y="1844725"/>
                  </a:lnTo>
                  <a:lnTo>
                    <a:pt x="37807" y="1843189"/>
                  </a:lnTo>
                  <a:lnTo>
                    <a:pt x="34091" y="1841652"/>
                  </a:lnTo>
                  <a:lnTo>
                    <a:pt x="30563" y="1839760"/>
                  </a:lnTo>
                  <a:lnTo>
                    <a:pt x="27221" y="1837524"/>
                  </a:lnTo>
                  <a:lnTo>
                    <a:pt x="23877" y="1835289"/>
                  </a:lnTo>
                  <a:lnTo>
                    <a:pt x="20781" y="1832749"/>
                  </a:lnTo>
                  <a:lnTo>
                    <a:pt x="17938" y="1829904"/>
                  </a:lnTo>
                  <a:lnTo>
                    <a:pt x="15096" y="1827072"/>
                  </a:lnTo>
                  <a:lnTo>
                    <a:pt x="1176" y="1798548"/>
                  </a:lnTo>
                  <a:lnTo>
                    <a:pt x="392" y="1794611"/>
                  </a:lnTo>
                  <a:lnTo>
                    <a:pt x="0" y="1790623"/>
                  </a:lnTo>
                  <a:lnTo>
                    <a:pt x="0" y="1786597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57250" y="7086600"/>
              <a:ext cx="561975" cy="571500"/>
            </a:xfrm>
            <a:custGeom>
              <a:avLst/>
              <a:gdLst/>
              <a:ahLst/>
              <a:cxnLst/>
              <a:rect l="l" t="t" r="r" b="b"/>
              <a:pathLst>
                <a:path w="561975" h="571500">
                  <a:moveTo>
                    <a:pt x="280987" y="0"/>
                  </a:moveTo>
                  <a:lnTo>
                    <a:pt x="239756" y="3044"/>
                  </a:lnTo>
                  <a:lnTo>
                    <a:pt x="199419" y="12103"/>
                  </a:lnTo>
                  <a:lnTo>
                    <a:pt x="160849" y="26974"/>
                  </a:lnTo>
                  <a:lnTo>
                    <a:pt x="124876" y="47345"/>
                  </a:lnTo>
                  <a:lnTo>
                    <a:pt x="92287" y="72790"/>
                  </a:lnTo>
                  <a:lnTo>
                    <a:pt x="63783" y="102730"/>
                  </a:lnTo>
                  <a:lnTo>
                    <a:pt x="39975" y="136526"/>
                  </a:lnTo>
                  <a:lnTo>
                    <a:pt x="21386" y="173456"/>
                  </a:lnTo>
                  <a:lnTo>
                    <a:pt x="8419" y="212713"/>
                  </a:lnTo>
                  <a:lnTo>
                    <a:pt x="1353" y="253441"/>
                  </a:lnTo>
                  <a:lnTo>
                    <a:pt x="0" y="280987"/>
                  </a:lnTo>
                  <a:lnTo>
                    <a:pt x="0" y="290512"/>
                  </a:lnTo>
                  <a:lnTo>
                    <a:pt x="3040" y="331739"/>
                  </a:lnTo>
                  <a:lnTo>
                    <a:pt x="12099" y="372084"/>
                  </a:lnTo>
                  <a:lnTo>
                    <a:pt x="26977" y="410651"/>
                  </a:lnTo>
                  <a:lnTo>
                    <a:pt x="47357" y="446620"/>
                  </a:lnTo>
                  <a:lnTo>
                    <a:pt x="72790" y="479210"/>
                  </a:lnTo>
                  <a:lnTo>
                    <a:pt x="102731" y="507720"/>
                  </a:lnTo>
                  <a:lnTo>
                    <a:pt x="136530" y="531523"/>
                  </a:lnTo>
                  <a:lnTo>
                    <a:pt x="173459" y="550113"/>
                  </a:lnTo>
                  <a:lnTo>
                    <a:pt x="212712" y="563083"/>
                  </a:lnTo>
                  <a:lnTo>
                    <a:pt x="253445" y="570141"/>
                  </a:lnTo>
                  <a:lnTo>
                    <a:pt x="280987" y="571500"/>
                  </a:lnTo>
                  <a:lnTo>
                    <a:pt x="287885" y="571414"/>
                  </a:lnTo>
                  <a:lnTo>
                    <a:pt x="329025" y="567363"/>
                  </a:lnTo>
                  <a:lnTo>
                    <a:pt x="369130" y="557315"/>
                  </a:lnTo>
                  <a:lnTo>
                    <a:pt x="407322" y="541496"/>
                  </a:lnTo>
                  <a:lnTo>
                    <a:pt x="442787" y="520241"/>
                  </a:lnTo>
                  <a:lnTo>
                    <a:pt x="474737" y="494018"/>
                  </a:lnTo>
                  <a:lnTo>
                    <a:pt x="502508" y="463383"/>
                  </a:lnTo>
                  <a:lnTo>
                    <a:pt x="525473" y="429015"/>
                  </a:lnTo>
                  <a:lnTo>
                    <a:pt x="543147" y="391635"/>
                  </a:lnTo>
                  <a:lnTo>
                    <a:pt x="555151" y="352076"/>
                  </a:lnTo>
                  <a:lnTo>
                    <a:pt x="561208" y="311186"/>
                  </a:lnTo>
                  <a:lnTo>
                    <a:pt x="561975" y="290512"/>
                  </a:lnTo>
                  <a:lnTo>
                    <a:pt x="561975" y="280987"/>
                  </a:lnTo>
                  <a:lnTo>
                    <a:pt x="558930" y="239755"/>
                  </a:lnTo>
                  <a:lnTo>
                    <a:pt x="549871" y="199415"/>
                  </a:lnTo>
                  <a:lnTo>
                    <a:pt x="535000" y="160848"/>
                  </a:lnTo>
                  <a:lnTo>
                    <a:pt x="514616" y="124879"/>
                  </a:lnTo>
                  <a:lnTo>
                    <a:pt x="489184" y="92284"/>
                  </a:lnTo>
                  <a:lnTo>
                    <a:pt x="459244" y="63779"/>
                  </a:lnTo>
                  <a:lnTo>
                    <a:pt x="425443" y="39973"/>
                  </a:lnTo>
                  <a:lnTo>
                    <a:pt x="388515" y="21386"/>
                  </a:lnTo>
                  <a:lnTo>
                    <a:pt x="349262" y="8421"/>
                  </a:lnTo>
                  <a:lnTo>
                    <a:pt x="308531" y="135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554" y="7264425"/>
              <a:ext cx="222686" cy="222694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845442" y="7819231"/>
            <a:ext cx="3810000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0">
                <a:solidFill>
                  <a:srgbClr val="E2E6E9"/>
                </a:solidFill>
                <a:latin typeface="Cambria"/>
                <a:cs typeface="Cambria"/>
              </a:rPr>
              <a:t>Compresión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Reducción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espacio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campos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57225" y="8943975"/>
            <a:ext cx="5829300" cy="1857375"/>
            <a:chOff x="657225" y="8943975"/>
            <a:chExt cx="5829300" cy="1857375"/>
          </a:xfrm>
        </p:grpSpPr>
        <p:sp>
          <p:nvSpPr>
            <p:cNvPr id="25" name="object 25" descr=""/>
            <p:cNvSpPr/>
            <p:nvPr/>
          </p:nvSpPr>
          <p:spPr>
            <a:xfrm>
              <a:off x="661987" y="8948737"/>
              <a:ext cx="5819775" cy="1847850"/>
            </a:xfrm>
            <a:custGeom>
              <a:avLst/>
              <a:gdLst/>
              <a:ahLst/>
              <a:cxnLst/>
              <a:rect l="l" t="t" r="r" b="b"/>
              <a:pathLst>
                <a:path w="5819775" h="1847850">
                  <a:moveTo>
                    <a:pt x="5762548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1786601"/>
                  </a:lnTo>
                  <a:lnTo>
                    <a:pt x="0" y="1790625"/>
                  </a:lnTo>
                  <a:lnTo>
                    <a:pt x="15096" y="1827067"/>
                  </a:lnTo>
                  <a:lnTo>
                    <a:pt x="53240" y="1847457"/>
                  </a:lnTo>
                  <a:lnTo>
                    <a:pt x="57224" y="1847848"/>
                  </a:lnTo>
                  <a:lnTo>
                    <a:pt x="5762548" y="1847848"/>
                  </a:lnTo>
                  <a:lnTo>
                    <a:pt x="5798997" y="1832752"/>
                  </a:lnTo>
                  <a:lnTo>
                    <a:pt x="5819381" y="1794602"/>
                  </a:lnTo>
                  <a:lnTo>
                    <a:pt x="5819775" y="1790625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36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1987" y="8948737"/>
              <a:ext cx="5819775" cy="1847850"/>
            </a:xfrm>
            <a:custGeom>
              <a:avLst/>
              <a:gdLst/>
              <a:ahLst/>
              <a:cxnLst/>
              <a:rect l="l" t="t" r="r" b="b"/>
              <a:pathLst>
                <a:path w="5819775" h="1847850">
                  <a:moveTo>
                    <a:pt x="0" y="1786601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68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68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36" y="393"/>
                  </a:lnTo>
                  <a:lnTo>
                    <a:pt x="5770473" y="1168"/>
                  </a:lnTo>
                  <a:lnTo>
                    <a:pt x="5774423" y="1955"/>
                  </a:lnTo>
                  <a:lnTo>
                    <a:pt x="5778246" y="3124"/>
                  </a:lnTo>
                  <a:lnTo>
                    <a:pt x="5781967" y="4660"/>
                  </a:lnTo>
                  <a:lnTo>
                    <a:pt x="5785688" y="6197"/>
                  </a:lnTo>
                  <a:lnTo>
                    <a:pt x="5813577" y="34086"/>
                  </a:lnTo>
                  <a:lnTo>
                    <a:pt x="5815114" y="37807"/>
                  </a:lnTo>
                  <a:lnTo>
                    <a:pt x="5816650" y="41516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52"/>
                  </a:lnTo>
                  <a:lnTo>
                    <a:pt x="5819775" y="1786601"/>
                  </a:lnTo>
                  <a:lnTo>
                    <a:pt x="5819775" y="1790625"/>
                  </a:lnTo>
                  <a:lnTo>
                    <a:pt x="5819381" y="1794602"/>
                  </a:lnTo>
                  <a:lnTo>
                    <a:pt x="5801842" y="1829910"/>
                  </a:lnTo>
                  <a:lnTo>
                    <a:pt x="5770473" y="1846668"/>
                  </a:lnTo>
                  <a:lnTo>
                    <a:pt x="5766536" y="1847457"/>
                  </a:lnTo>
                  <a:lnTo>
                    <a:pt x="5762548" y="1847848"/>
                  </a:lnTo>
                  <a:lnTo>
                    <a:pt x="5758522" y="1847848"/>
                  </a:lnTo>
                  <a:lnTo>
                    <a:pt x="61248" y="1847848"/>
                  </a:lnTo>
                  <a:lnTo>
                    <a:pt x="57224" y="1847848"/>
                  </a:lnTo>
                  <a:lnTo>
                    <a:pt x="53240" y="1847457"/>
                  </a:lnTo>
                  <a:lnTo>
                    <a:pt x="49296" y="1846668"/>
                  </a:lnTo>
                  <a:lnTo>
                    <a:pt x="45352" y="1845884"/>
                  </a:lnTo>
                  <a:lnTo>
                    <a:pt x="41522" y="1844723"/>
                  </a:lnTo>
                  <a:lnTo>
                    <a:pt x="37807" y="1843185"/>
                  </a:lnTo>
                  <a:lnTo>
                    <a:pt x="34091" y="1841647"/>
                  </a:lnTo>
                  <a:lnTo>
                    <a:pt x="30563" y="1839757"/>
                  </a:lnTo>
                  <a:lnTo>
                    <a:pt x="27221" y="1837524"/>
                  </a:lnTo>
                  <a:lnTo>
                    <a:pt x="23877" y="1835292"/>
                  </a:lnTo>
                  <a:lnTo>
                    <a:pt x="20781" y="1832752"/>
                  </a:lnTo>
                  <a:lnTo>
                    <a:pt x="17938" y="1829910"/>
                  </a:lnTo>
                  <a:lnTo>
                    <a:pt x="15096" y="1827067"/>
                  </a:lnTo>
                  <a:lnTo>
                    <a:pt x="12556" y="1823971"/>
                  </a:lnTo>
                  <a:lnTo>
                    <a:pt x="10323" y="1820628"/>
                  </a:lnTo>
                  <a:lnTo>
                    <a:pt x="8086" y="1817284"/>
                  </a:lnTo>
                  <a:lnTo>
                    <a:pt x="6201" y="1813753"/>
                  </a:lnTo>
                  <a:lnTo>
                    <a:pt x="4663" y="1810037"/>
                  </a:lnTo>
                  <a:lnTo>
                    <a:pt x="3125" y="1806326"/>
                  </a:lnTo>
                  <a:lnTo>
                    <a:pt x="1959" y="1802490"/>
                  </a:lnTo>
                  <a:lnTo>
                    <a:pt x="1176" y="1798547"/>
                  </a:lnTo>
                  <a:lnTo>
                    <a:pt x="392" y="1794602"/>
                  </a:lnTo>
                  <a:lnTo>
                    <a:pt x="0" y="1790625"/>
                  </a:lnTo>
                  <a:lnTo>
                    <a:pt x="0" y="1786601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57250" y="9134475"/>
              <a:ext cx="561975" cy="571500"/>
            </a:xfrm>
            <a:custGeom>
              <a:avLst/>
              <a:gdLst/>
              <a:ahLst/>
              <a:cxnLst/>
              <a:rect l="l" t="t" r="r" b="b"/>
              <a:pathLst>
                <a:path w="561975" h="571500">
                  <a:moveTo>
                    <a:pt x="280987" y="0"/>
                  </a:moveTo>
                  <a:lnTo>
                    <a:pt x="239756" y="3044"/>
                  </a:lnTo>
                  <a:lnTo>
                    <a:pt x="199419" y="12103"/>
                  </a:lnTo>
                  <a:lnTo>
                    <a:pt x="160849" y="26974"/>
                  </a:lnTo>
                  <a:lnTo>
                    <a:pt x="124876" y="47345"/>
                  </a:lnTo>
                  <a:lnTo>
                    <a:pt x="92287" y="72790"/>
                  </a:lnTo>
                  <a:lnTo>
                    <a:pt x="63783" y="102730"/>
                  </a:lnTo>
                  <a:lnTo>
                    <a:pt x="39975" y="136526"/>
                  </a:lnTo>
                  <a:lnTo>
                    <a:pt x="21386" y="173456"/>
                  </a:lnTo>
                  <a:lnTo>
                    <a:pt x="8419" y="212713"/>
                  </a:lnTo>
                  <a:lnTo>
                    <a:pt x="1353" y="253441"/>
                  </a:lnTo>
                  <a:lnTo>
                    <a:pt x="0" y="280987"/>
                  </a:lnTo>
                  <a:lnTo>
                    <a:pt x="0" y="290512"/>
                  </a:lnTo>
                  <a:lnTo>
                    <a:pt x="3040" y="331744"/>
                  </a:lnTo>
                  <a:lnTo>
                    <a:pt x="12099" y="372084"/>
                  </a:lnTo>
                  <a:lnTo>
                    <a:pt x="26977" y="410651"/>
                  </a:lnTo>
                  <a:lnTo>
                    <a:pt x="47357" y="446620"/>
                  </a:lnTo>
                  <a:lnTo>
                    <a:pt x="72790" y="479209"/>
                  </a:lnTo>
                  <a:lnTo>
                    <a:pt x="102731" y="507720"/>
                  </a:lnTo>
                  <a:lnTo>
                    <a:pt x="136530" y="531523"/>
                  </a:lnTo>
                  <a:lnTo>
                    <a:pt x="173459" y="550113"/>
                  </a:lnTo>
                  <a:lnTo>
                    <a:pt x="212712" y="563083"/>
                  </a:lnTo>
                  <a:lnTo>
                    <a:pt x="253445" y="570141"/>
                  </a:lnTo>
                  <a:lnTo>
                    <a:pt x="280987" y="571500"/>
                  </a:lnTo>
                  <a:lnTo>
                    <a:pt x="287885" y="571414"/>
                  </a:lnTo>
                  <a:lnTo>
                    <a:pt x="329025" y="567362"/>
                  </a:lnTo>
                  <a:lnTo>
                    <a:pt x="369130" y="557315"/>
                  </a:lnTo>
                  <a:lnTo>
                    <a:pt x="407322" y="541494"/>
                  </a:lnTo>
                  <a:lnTo>
                    <a:pt x="442787" y="520241"/>
                  </a:lnTo>
                  <a:lnTo>
                    <a:pt x="474737" y="494013"/>
                  </a:lnTo>
                  <a:lnTo>
                    <a:pt x="502508" y="463383"/>
                  </a:lnTo>
                  <a:lnTo>
                    <a:pt x="525473" y="429015"/>
                  </a:lnTo>
                  <a:lnTo>
                    <a:pt x="543147" y="391635"/>
                  </a:lnTo>
                  <a:lnTo>
                    <a:pt x="555151" y="352076"/>
                  </a:lnTo>
                  <a:lnTo>
                    <a:pt x="561208" y="311186"/>
                  </a:lnTo>
                  <a:lnTo>
                    <a:pt x="561975" y="290512"/>
                  </a:lnTo>
                  <a:lnTo>
                    <a:pt x="561975" y="280987"/>
                  </a:lnTo>
                  <a:lnTo>
                    <a:pt x="558930" y="239755"/>
                  </a:lnTo>
                  <a:lnTo>
                    <a:pt x="549871" y="199415"/>
                  </a:lnTo>
                  <a:lnTo>
                    <a:pt x="535000" y="160848"/>
                  </a:lnTo>
                  <a:lnTo>
                    <a:pt x="514616" y="124879"/>
                  </a:lnTo>
                  <a:lnTo>
                    <a:pt x="489184" y="92284"/>
                  </a:lnTo>
                  <a:lnTo>
                    <a:pt x="459244" y="63779"/>
                  </a:lnTo>
                  <a:lnTo>
                    <a:pt x="425443" y="39974"/>
                  </a:lnTo>
                  <a:lnTo>
                    <a:pt x="388515" y="21386"/>
                  </a:lnTo>
                  <a:lnTo>
                    <a:pt x="349262" y="8416"/>
                  </a:lnTo>
                  <a:lnTo>
                    <a:pt x="308531" y="135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09650" y="9338817"/>
              <a:ext cx="254635" cy="170180"/>
            </a:xfrm>
            <a:custGeom>
              <a:avLst/>
              <a:gdLst/>
              <a:ahLst/>
              <a:cxnLst/>
              <a:rect l="l" t="t" r="r" b="b"/>
              <a:pathLst>
                <a:path w="254634" h="170179">
                  <a:moveTo>
                    <a:pt x="226218" y="0"/>
                  </a:moveTo>
                  <a:lnTo>
                    <a:pt x="28277" y="0"/>
                  </a:lnTo>
                  <a:lnTo>
                    <a:pt x="17278" y="2224"/>
                  </a:lnTo>
                  <a:lnTo>
                    <a:pt x="8289" y="8286"/>
                  </a:lnTo>
                  <a:lnTo>
                    <a:pt x="2224" y="17273"/>
                  </a:lnTo>
                  <a:lnTo>
                    <a:pt x="0" y="28270"/>
                  </a:lnTo>
                  <a:lnTo>
                    <a:pt x="0" y="34544"/>
                  </a:lnTo>
                  <a:lnTo>
                    <a:pt x="1944" y="37109"/>
                  </a:lnTo>
                  <a:lnTo>
                    <a:pt x="10293" y="42545"/>
                  </a:lnTo>
                  <a:lnTo>
                    <a:pt x="14138" y="49085"/>
                  </a:lnTo>
                  <a:lnTo>
                    <a:pt x="14138" y="64020"/>
                  </a:lnTo>
                  <a:lnTo>
                    <a:pt x="10293" y="70561"/>
                  </a:lnTo>
                  <a:lnTo>
                    <a:pt x="1944" y="75996"/>
                  </a:lnTo>
                  <a:lnTo>
                    <a:pt x="0" y="78549"/>
                  </a:lnTo>
                  <a:lnTo>
                    <a:pt x="0" y="163347"/>
                  </a:lnTo>
                  <a:lnTo>
                    <a:pt x="6320" y="169659"/>
                  </a:lnTo>
                  <a:lnTo>
                    <a:pt x="248175" y="169659"/>
                  </a:lnTo>
                  <a:lnTo>
                    <a:pt x="254496" y="163347"/>
                  </a:lnTo>
                  <a:lnTo>
                    <a:pt x="254496" y="155524"/>
                  </a:lnTo>
                  <a:lnTo>
                    <a:pt x="14138" y="155524"/>
                  </a:lnTo>
                  <a:lnTo>
                    <a:pt x="14138" y="113106"/>
                  </a:lnTo>
                  <a:lnTo>
                    <a:pt x="254496" y="113106"/>
                  </a:lnTo>
                  <a:lnTo>
                    <a:pt x="254496" y="98971"/>
                  </a:lnTo>
                  <a:lnTo>
                    <a:pt x="14138" y="98971"/>
                  </a:lnTo>
                  <a:lnTo>
                    <a:pt x="14138" y="84823"/>
                  </a:lnTo>
                  <a:lnTo>
                    <a:pt x="19947" y="79334"/>
                  </a:lnTo>
                  <a:lnTo>
                    <a:pt x="24413" y="72631"/>
                  </a:lnTo>
                  <a:lnTo>
                    <a:pt x="27272" y="64956"/>
                  </a:lnTo>
                  <a:lnTo>
                    <a:pt x="28277" y="56553"/>
                  </a:lnTo>
                  <a:lnTo>
                    <a:pt x="27385" y="49085"/>
                  </a:lnTo>
                  <a:lnTo>
                    <a:pt x="27274" y="48160"/>
                  </a:lnTo>
                  <a:lnTo>
                    <a:pt x="24428" y="40492"/>
                  </a:lnTo>
                  <a:lnTo>
                    <a:pt x="19975" y="33784"/>
                  </a:lnTo>
                  <a:lnTo>
                    <a:pt x="14138" y="28270"/>
                  </a:lnTo>
                  <a:lnTo>
                    <a:pt x="14138" y="20459"/>
                  </a:lnTo>
                  <a:lnTo>
                    <a:pt x="20458" y="14135"/>
                  </a:lnTo>
                  <a:lnTo>
                    <a:pt x="250153" y="14135"/>
                  </a:lnTo>
                  <a:lnTo>
                    <a:pt x="246206" y="8286"/>
                  </a:lnTo>
                  <a:lnTo>
                    <a:pt x="237217" y="2224"/>
                  </a:lnTo>
                  <a:lnTo>
                    <a:pt x="226218" y="0"/>
                  </a:lnTo>
                  <a:close/>
                </a:path>
                <a:path w="254634" h="170179">
                  <a:moveTo>
                    <a:pt x="53374" y="141389"/>
                  </a:moveTo>
                  <a:lnTo>
                    <a:pt x="45595" y="141389"/>
                  </a:lnTo>
                  <a:lnTo>
                    <a:pt x="42415" y="144564"/>
                  </a:lnTo>
                  <a:lnTo>
                    <a:pt x="42415" y="155524"/>
                  </a:lnTo>
                  <a:lnTo>
                    <a:pt x="56554" y="155524"/>
                  </a:lnTo>
                  <a:lnTo>
                    <a:pt x="56554" y="144564"/>
                  </a:lnTo>
                  <a:lnTo>
                    <a:pt x="53374" y="141389"/>
                  </a:lnTo>
                  <a:close/>
                </a:path>
                <a:path w="254634" h="170179">
                  <a:moveTo>
                    <a:pt x="92254" y="141389"/>
                  </a:moveTo>
                  <a:lnTo>
                    <a:pt x="84480" y="141389"/>
                  </a:lnTo>
                  <a:lnTo>
                    <a:pt x="81295" y="144564"/>
                  </a:lnTo>
                  <a:lnTo>
                    <a:pt x="81295" y="155524"/>
                  </a:lnTo>
                  <a:lnTo>
                    <a:pt x="95434" y="155524"/>
                  </a:lnTo>
                  <a:lnTo>
                    <a:pt x="95434" y="144564"/>
                  </a:lnTo>
                  <a:lnTo>
                    <a:pt x="92254" y="141389"/>
                  </a:lnTo>
                  <a:close/>
                </a:path>
                <a:path w="254634" h="170179">
                  <a:moveTo>
                    <a:pt x="131137" y="141389"/>
                  </a:moveTo>
                  <a:lnTo>
                    <a:pt x="123358" y="141389"/>
                  </a:lnTo>
                  <a:lnTo>
                    <a:pt x="120178" y="144564"/>
                  </a:lnTo>
                  <a:lnTo>
                    <a:pt x="120178" y="155524"/>
                  </a:lnTo>
                  <a:lnTo>
                    <a:pt x="134317" y="155524"/>
                  </a:lnTo>
                  <a:lnTo>
                    <a:pt x="134317" y="144564"/>
                  </a:lnTo>
                  <a:lnTo>
                    <a:pt x="131137" y="141389"/>
                  </a:lnTo>
                  <a:close/>
                </a:path>
                <a:path w="254634" h="170179">
                  <a:moveTo>
                    <a:pt x="170016" y="141389"/>
                  </a:moveTo>
                  <a:lnTo>
                    <a:pt x="162242" y="141389"/>
                  </a:lnTo>
                  <a:lnTo>
                    <a:pt x="159057" y="144564"/>
                  </a:lnTo>
                  <a:lnTo>
                    <a:pt x="159057" y="155524"/>
                  </a:lnTo>
                  <a:lnTo>
                    <a:pt x="173196" y="155524"/>
                  </a:lnTo>
                  <a:lnTo>
                    <a:pt x="173196" y="144564"/>
                  </a:lnTo>
                  <a:lnTo>
                    <a:pt x="170016" y="141389"/>
                  </a:lnTo>
                  <a:close/>
                </a:path>
                <a:path w="254634" h="170179">
                  <a:moveTo>
                    <a:pt x="208899" y="141389"/>
                  </a:moveTo>
                  <a:lnTo>
                    <a:pt x="201121" y="141389"/>
                  </a:lnTo>
                  <a:lnTo>
                    <a:pt x="197940" y="144564"/>
                  </a:lnTo>
                  <a:lnTo>
                    <a:pt x="197940" y="155524"/>
                  </a:lnTo>
                  <a:lnTo>
                    <a:pt x="212079" y="155524"/>
                  </a:lnTo>
                  <a:lnTo>
                    <a:pt x="212079" y="144564"/>
                  </a:lnTo>
                  <a:lnTo>
                    <a:pt x="208899" y="141389"/>
                  </a:lnTo>
                  <a:close/>
                </a:path>
                <a:path w="254634" h="170179">
                  <a:moveTo>
                    <a:pt x="254496" y="113106"/>
                  </a:moveTo>
                  <a:lnTo>
                    <a:pt x="240357" y="113106"/>
                  </a:lnTo>
                  <a:lnTo>
                    <a:pt x="240357" y="155524"/>
                  </a:lnTo>
                  <a:lnTo>
                    <a:pt x="254496" y="155524"/>
                  </a:lnTo>
                  <a:lnTo>
                    <a:pt x="254496" y="113106"/>
                  </a:lnTo>
                  <a:close/>
                </a:path>
                <a:path w="254634" h="170179">
                  <a:moveTo>
                    <a:pt x="250153" y="14135"/>
                  </a:moveTo>
                  <a:lnTo>
                    <a:pt x="234036" y="14135"/>
                  </a:lnTo>
                  <a:lnTo>
                    <a:pt x="240357" y="20459"/>
                  </a:lnTo>
                  <a:lnTo>
                    <a:pt x="240357" y="28270"/>
                  </a:lnTo>
                  <a:lnTo>
                    <a:pt x="234531" y="33784"/>
                  </a:lnTo>
                  <a:lnTo>
                    <a:pt x="230073" y="40492"/>
                  </a:lnTo>
                  <a:lnTo>
                    <a:pt x="227222" y="48160"/>
                  </a:lnTo>
                  <a:lnTo>
                    <a:pt x="226218" y="56553"/>
                  </a:lnTo>
                  <a:lnTo>
                    <a:pt x="227110" y="64020"/>
                  </a:lnTo>
                  <a:lnTo>
                    <a:pt x="227222" y="64956"/>
                  </a:lnTo>
                  <a:lnTo>
                    <a:pt x="230073" y="72631"/>
                  </a:lnTo>
                  <a:lnTo>
                    <a:pt x="234531" y="79334"/>
                  </a:lnTo>
                  <a:lnTo>
                    <a:pt x="240357" y="84823"/>
                  </a:lnTo>
                  <a:lnTo>
                    <a:pt x="240357" y="98971"/>
                  </a:lnTo>
                  <a:lnTo>
                    <a:pt x="254496" y="98971"/>
                  </a:lnTo>
                  <a:lnTo>
                    <a:pt x="254496" y="78549"/>
                  </a:lnTo>
                  <a:lnTo>
                    <a:pt x="252550" y="75996"/>
                  </a:lnTo>
                  <a:lnTo>
                    <a:pt x="244201" y="70561"/>
                  </a:lnTo>
                  <a:lnTo>
                    <a:pt x="240357" y="64020"/>
                  </a:lnTo>
                  <a:lnTo>
                    <a:pt x="240357" y="49085"/>
                  </a:lnTo>
                  <a:lnTo>
                    <a:pt x="244201" y="42545"/>
                  </a:lnTo>
                  <a:lnTo>
                    <a:pt x="252550" y="37109"/>
                  </a:lnTo>
                  <a:lnTo>
                    <a:pt x="254496" y="34544"/>
                  </a:lnTo>
                  <a:lnTo>
                    <a:pt x="254496" y="28270"/>
                  </a:lnTo>
                  <a:lnTo>
                    <a:pt x="252271" y="17273"/>
                  </a:lnTo>
                  <a:lnTo>
                    <a:pt x="250153" y="14135"/>
                  </a:lnTo>
                  <a:close/>
                </a:path>
                <a:path w="254634" h="170179">
                  <a:moveTo>
                    <a:pt x="74583" y="28270"/>
                  </a:moveTo>
                  <a:lnTo>
                    <a:pt x="66804" y="28270"/>
                  </a:lnTo>
                  <a:lnTo>
                    <a:pt x="63624" y="31457"/>
                  </a:lnTo>
                  <a:lnTo>
                    <a:pt x="63624" y="81648"/>
                  </a:lnTo>
                  <a:lnTo>
                    <a:pt x="66804" y="84823"/>
                  </a:lnTo>
                  <a:lnTo>
                    <a:pt x="74583" y="84823"/>
                  </a:lnTo>
                  <a:lnTo>
                    <a:pt x="77762" y="81648"/>
                  </a:lnTo>
                  <a:lnTo>
                    <a:pt x="77762" y="31457"/>
                  </a:lnTo>
                  <a:lnTo>
                    <a:pt x="74583" y="28270"/>
                  </a:lnTo>
                  <a:close/>
                </a:path>
                <a:path w="254634" h="170179">
                  <a:moveTo>
                    <a:pt x="131137" y="28270"/>
                  </a:moveTo>
                  <a:lnTo>
                    <a:pt x="123358" y="28270"/>
                  </a:lnTo>
                  <a:lnTo>
                    <a:pt x="120178" y="31457"/>
                  </a:lnTo>
                  <a:lnTo>
                    <a:pt x="120178" y="81648"/>
                  </a:lnTo>
                  <a:lnTo>
                    <a:pt x="123358" y="84823"/>
                  </a:lnTo>
                  <a:lnTo>
                    <a:pt x="131137" y="84823"/>
                  </a:lnTo>
                  <a:lnTo>
                    <a:pt x="134317" y="81648"/>
                  </a:lnTo>
                  <a:lnTo>
                    <a:pt x="134317" y="31457"/>
                  </a:lnTo>
                  <a:lnTo>
                    <a:pt x="131137" y="28270"/>
                  </a:lnTo>
                  <a:close/>
                </a:path>
                <a:path w="254634" h="170179">
                  <a:moveTo>
                    <a:pt x="187692" y="28270"/>
                  </a:moveTo>
                  <a:lnTo>
                    <a:pt x="179913" y="28270"/>
                  </a:lnTo>
                  <a:lnTo>
                    <a:pt x="176733" y="31457"/>
                  </a:lnTo>
                  <a:lnTo>
                    <a:pt x="176733" y="81648"/>
                  </a:lnTo>
                  <a:lnTo>
                    <a:pt x="179913" y="84823"/>
                  </a:lnTo>
                  <a:lnTo>
                    <a:pt x="187692" y="84823"/>
                  </a:lnTo>
                  <a:lnTo>
                    <a:pt x="190872" y="81648"/>
                  </a:lnTo>
                  <a:lnTo>
                    <a:pt x="190872" y="31457"/>
                  </a:lnTo>
                  <a:lnTo>
                    <a:pt x="187692" y="28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845442" y="9867104"/>
            <a:ext cx="3367404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0">
                <a:solidFill>
                  <a:srgbClr val="E2E6E9"/>
                </a:solidFill>
                <a:latin typeface="Cambria"/>
                <a:cs typeface="Cambria"/>
              </a:rPr>
              <a:t>Buffers</a:t>
            </a:r>
            <a:r>
              <a:rPr dirty="0" sz="18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8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5">
                <a:solidFill>
                  <a:srgbClr val="E2E6E9"/>
                </a:solidFill>
                <a:latin typeface="Cambria"/>
                <a:cs typeface="Cambria"/>
              </a:rPr>
              <a:t>Memoria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Gestión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páginas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cargadas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85">
                <a:solidFill>
                  <a:srgbClr val="E2E6E9"/>
                </a:solidFill>
                <a:latin typeface="Cambria"/>
                <a:cs typeface="Cambria"/>
              </a:rPr>
              <a:t>RAM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30" name="object 30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1079982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77000"/>
          </a:xfrm>
          <a:custGeom>
            <a:avLst/>
            <a:gdLst/>
            <a:ahLst/>
            <a:cxnLst/>
            <a:rect l="l" t="t" r="r" b="b"/>
            <a:pathLst>
              <a:path w="11430000" h="6477000">
                <a:moveTo>
                  <a:pt x="11430000" y="0"/>
                </a:moveTo>
                <a:lnTo>
                  <a:pt x="0" y="0"/>
                </a:lnTo>
                <a:lnTo>
                  <a:pt x="0" y="6477000"/>
                </a:lnTo>
                <a:lnTo>
                  <a:pt x="11430000" y="6477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40"/>
              <a:t>¿Por</a:t>
            </a:r>
            <a:r>
              <a:rPr dirty="0" spc="75"/>
              <a:t> </a:t>
            </a:r>
            <a:r>
              <a:rPr dirty="0" spc="180"/>
              <a:t>qué</a:t>
            </a:r>
            <a:r>
              <a:rPr dirty="0" spc="75"/>
              <a:t> </a:t>
            </a:r>
            <a:r>
              <a:rPr dirty="0" spc="160"/>
              <a:t>separar</a:t>
            </a:r>
            <a:r>
              <a:rPr dirty="0" spc="75"/>
              <a:t> </a:t>
            </a:r>
            <a:r>
              <a:rPr dirty="0" spc="180"/>
              <a:t>los</a:t>
            </a:r>
            <a:r>
              <a:rPr dirty="0" spc="75"/>
              <a:t> </a:t>
            </a:r>
            <a:r>
              <a:rPr dirty="0" spc="155"/>
              <a:t>tres</a:t>
            </a:r>
            <a:r>
              <a:rPr dirty="0" spc="75"/>
              <a:t> </a:t>
            </a:r>
            <a:r>
              <a:rPr dirty="0" spc="150"/>
              <a:t>niveles?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7353" y="1434699"/>
            <a:ext cx="1001522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dirty="0" sz="1450" spc="130">
                <a:solidFill>
                  <a:srgbClr val="E2E6E9"/>
                </a:solidFill>
                <a:latin typeface="Cambria"/>
                <a:cs typeface="Cambria"/>
              </a:rPr>
              <a:t>La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separación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niveles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ofrece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beneficios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fundamentales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para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diseño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mantenimiento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sistemas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bases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robustos.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38175" y="2305050"/>
            <a:ext cx="3267075" cy="1733550"/>
            <a:chOff x="638175" y="2305050"/>
            <a:chExt cx="3267075" cy="1733550"/>
          </a:xfrm>
        </p:grpSpPr>
        <p:sp>
          <p:nvSpPr>
            <p:cNvPr id="6" name="object 6" descr=""/>
            <p:cNvSpPr/>
            <p:nvPr/>
          </p:nvSpPr>
          <p:spPr>
            <a:xfrm>
              <a:off x="657225" y="2314575"/>
              <a:ext cx="3238500" cy="1714500"/>
            </a:xfrm>
            <a:custGeom>
              <a:avLst/>
              <a:gdLst/>
              <a:ahLst/>
              <a:cxnLst/>
              <a:rect l="l" t="t" r="r" b="b"/>
              <a:pathLst>
                <a:path w="3238500" h="1714500">
                  <a:moveTo>
                    <a:pt x="3185731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647825"/>
                  </a:lnTo>
                  <a:lnTo>
                    <a:pt x="0" y="1652206"/>
                  </a:lnTo>
                  <a:lnTo>
                    <a:pt x="15622" y="1688515"/>
                  </a:lnTo>
                  <a:lnTo>
                    <a:pt x="51663" y="1711096"/>
                  </a:lnTo>
                  <a:lnTo>
                    <a:pt x="71194" y="1714500"/>
                  </a:lnTo>
                  <a:lnTo>
                    <a:pt x="3185731" y="1714500"/>
                  </a:lnTo>
                  <a:lnTo>
                    <a:pt x="3224580" y="1695335"/>
                  </a:lnTo>
                  <a:lnTo>
                    <a:pt x="3238500" y="1661731"/>
                  </a:lnTo>
                  <a:lnTo>
                    <a:pt x="3238500" y="52768"/>
                  </a:lnTo>
                  <a:lnTo>
                    <a:pt x="3219335" y="13919"/>
                  </a:lnTo>
                  <a:lnTo>
                    <a:pt x="3189401" y="368"/>
                  </a:lnTo>
                  <a:lnTo>
                    <a:pt x="3185731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58063" y="2305062"/>
              <a:ext cx="3247390" cy="1733550"/>
            </a:xfrm>
            <a:custGeom>
              <a:avLst/>
              <a:gdLst/>
              <a:ahLst/>
              <a:cxnLst/>
              <a:rect l="l" t="t" r="r" b="b"/>
              <a:pathLst>
                <a:path w="3247390" h="1733550">
                  <a:moveTo>
                    <a:pt x="3247174" y="66014"/>
                  </a:moveTo>
                  <a:lnTo>
                    <a:pt x="3236061" y="29324"/>
                  </a:lnTo>
                  <a:lnTo>
                    <a:pt x="3228352" y="19900"/>
                  </a:lnTo>
                  <a:lnTo>
                    <a:pt x="3194050" y="1257"/>
                  </a:lnTo>
                  <a:lnTo>
                    <a:pt x="3188652" y="457"/>
                  </a:lnTo>
                  <a:lnTo>
                    <a:pt x="3190659" y="457"/>
                  </a:lnTo>
                  <a:lnTo>
                    <a:pt x="3181159" y="0"/>
                  </a:lnTo>
                  <a:lnTo>
                    <a:pt x="75349" y="0"/>
                  </a:lnTo>
                  <a:lnTo>
                    <a:pt x="65849" y="457"/>
                  </a:lnTo>
                  <a:lnTo>
                    <a:pt x="67195" y="457"/>
                  </a:lnTo>
                  <a:lnTo>
                    <a:pt x="60490" y="1447"/>
                  </a:lnTo>
                  <a:lnTo>
                    <a:pt x="21475" y="22313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81159" y="19050"/>
                  </a:lnTo>
                  <a:lnTo>
                    <a:pt x="3220389" y="40030"/>
                  </a:lnTo>
                  <a:lnTo>
                    <a:pt x="3228124" y="66014"/>
                  </a:lnTo>
                  <a:lnTo>
                    <a:pt x="3228124" y="1667535"/>
                  </a:lnTo>
                  <a:lnTo>
                    <a:pt x="3207143" y="1706753"/>
                  </a:lnTo>
                  <a:lnTo>
                    <a:pt x="3190265" y="1713712"/>
                  </a:lnTo>
                  <a:lnTo>
                    <a:pt x="3189655" y="1713712"/>
                  </a:lnTo>
                  <a:lnTo>
                    <a:pt x="3181159" y="1714500"/>
                  </a:lnTo>
                  <a:lnTo>
                    <a:pt x="75349" y="1714500"/>
                  </a:lnTo>
                  <a:lnTo>
                    <a:pt x="67843" y="1714220"/>
                  </a:lnTo>
                  <a:lnTo>
                    <a:pt x="27038" y="1701546"/>
                  </a:lnTo>
                  <a:lnTo>
                    <a:pt x="1092" y="1672221"/>
                  </a:lnTo>
                  <a:lnTo>
                    <a:pt x="0" y="1668106"/>
                  </a:lnTo>
                  <a:lnTo>
                    <a:pt x="609" y="1672221"/>
                  </a:lnTo>
                  <a:lnTo>
                    <a:pt x="2413" y="1679435"/>
                  </a:lnTo>
                  <a:lnTo>
                    <a:pt x="4851" y="1686217"/>
                  </a:lnTo>
                  <a:lnTo>
                    <a:pt x="4953" y="1686509"/>
                  </a:lnTo>
                  <a:lnTo>
                    <a:pt x="33007" y="1720710"/>
                  </a:lnTo>
                  <a:lnTo>
                    <a:pt x="68173" y="1733232"/>
                  </a:lnTo>
                  <a:lnTo>
                    <a:pt x="68834" y="1733232"/>
                  </a:lnTo>
                  <a:lnTo>
                    <a:pt x="75349" y="1733550"/>
                  </a:lnTo>
                  <a:lnTo>
                    <a:pt x="3181159" y="1733550"/>
                  </a:lnTo>
                  <a:lnTo>
                    <a:pt x="3187674" y="1733232"/>
                  </a:lnTo>
                  <a:lnTo>
                    <a:pt x="3223031" y="1718589"/>
                  </a:lnTo>
                  <a:lnTo>
                    <a:pt x="3228302" y="1713712"/>
                  </a:lnTo>
                  <a:lnTo>
                    <a:pt x="3232226" y="1709394"/>
                  </a:lnTo>
                  <a:lnTo>
                    <a:pt x="3246869" y="1674037"/>
                  </a:lnTo>
                  <a:lnTo>
                    <a:pt x="3247174" y="1667535"/>
                  </a:lnTo>
                  <a:lnTo>
                    <a:pt x="3247174" y="66014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8175" y="2305050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61675" y="0"/>
                  </a:lnTo>
                  <a:lnTo>
                    <a:pt x="57383" y="419"/>
                  </a:lnTo>
                  <a:lnTo>
                    <a:pt x="22398" y="16268"/>
                  </a:lnTo>
                  <a:lnTo>
                    <a:pt x="2113" y="48882"/>
                  </a:lnTo>
                  <a:lnTo>
                    <a:pt x="0" y="61671"/>
                  </a:lnTo>
                  <a:lnTo>
                    <a:pt x="0" y="1667535"/>
                  </a:lnTo>
                  <a:lnTo>
                    <a:pt x="0" y="1671878"/>
                  </a:lnTo>
                  <a:lnTo>
                    <a:pt x="13533" y="1707819"/>
                  </a:lnTo>
                  <a:lnTo>
                    <a:pt x="44752" y="1730184"/>
                  </a:lnTo>
                  <a:lnTo>
                    <a:pt x="61675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12117" y="2485231"/>
            <a:ext cx="2499995" cy="129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Independencia</a:t>
            </a:r>
            <a:r>
              <a:rPr dirty="0" sz="18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0">
                <a:solidFill>
                  <a:srgbClr val="E2E6E9"/>
                </a:solidFill>
                <a:latin typeface="Cambria"/>
                <a:cs typeface="Cambria"/>
              </a:rPr>
              <a:t>Física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5800"/>
              </a:lnSpc>
              <a:spcBef>
                <a:spcPts val="705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Cambiar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estructuras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de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almacenamiento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sin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alterar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aplicaciones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existentes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076700" y="2305050"/>
            <a:ext cx="3257550" cy="1733550"/>
            <a:chOff x="4076700" y="2305050"/>
            <a:chExt cx="3257550" cy="1733550"/>
          </a:xfrm>
        </p:grpSpPr>
        <p:sp>
          <p:nvSpPr>
            <p:cNvPr id="11" name="object 11" descr=""/>
            <p:cNvSpPr/>
            <p:nvPr/>
          </p:nvSpPr>
          <p:spPr>
            <a:xfrm>
              <a:off x="4095750" y="2314575"/>
              <a:ext cx="3228975" cy="1714500"/>
            </a:xfrm>
            <a:custGeom>
              <a:avLst/>
              <a:gdLst/>
              <a:ahLst/>
              <a:cxnLst/>
              <a:rect l="l" t="t" r="r" b="b"/>
              <a:pathLst>
                <a:path w="3228975" h="1714500">
                  <a:moveTo>
                    <a:pt x="317620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47825"/>
                  </a:lnTo>
                  <a:lnTo>
                    <a:pt x="0" y="1652206"/>
                  </a:lnTo>
                  <a:lnTo>
                    <a:pt x="15621" y="1688515"/>
                  </a:lnTo>
                  <a:lnTo>
                    <a:pt x="51663" y="1711096"/>
                  </a:lnTo>
                  <a:lnTo>
                    <a:pt x="71196" y="1714500"/>
                  </a:lnTo>
                  <a:lnTo>
                    <a:pt x="3176206" y="1714500"/>
                  </a:lnTo>
                  <a:lnTo>
                    <a:pt x="3215055" y="1695335"/>
                  </a:lnTo>
                  <a:lnTo>
                    <a:pt x="3228975" y="1661731"/>
                  </a:lnTo>
                  <a:lnTo>
                    <a:pt x="3228975" y="52768"/>
                  </a:lnTo>
                  <a:lnTo>
                    <a:pt x="3209810" y="13919"/>
                  </a:lnTo>
                  <a:lnTo>
                    <a:pt x="3179876" y="368"/>
                  </a:lnTo>
                  <a:lnTo>
                    <a:pt x="3176206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96588" y="2305062"/>
              <a:ext cx="3237865" cy="1733550"/>
            </a:xfrm>
            <a:custGeom>
              <a:avLst/>
              <a:gdLst/>
              <a:ahLst/>
              <a:cxnLst/>
              <a:rect l="l" t="t" r="r" b="b"/>
              <a:pathLst>
                <a:path w="3237865" h="1733550">
                  <a:moveTo>
                    <a:pt x="3237649" y="66014"/>
                  </a:moveTo>
                  <a:lnTo>
                    <a:pt x="3226536" y="29324"/>
                  </a:lnTo>
                  <a:lnTo>
                    <a:pt x="3218827" y="19900"/>
                  </a:lnTo>
                  <a:lnTo>
                    <a:pt x="3184525" y="1257"/>
                  </a:lnTo>
                  <a:lnTo>
                    <a:pt x="3179127" y="457"/>
                  </a:lnTo>
                  <a:lnTo>
                    <a:pt x="3181134" y="457"/>
                  </a:lnTo>
                  <a:lnTo>
                    <a:pt x="3171634" y="0"/>
                  </a:lnTo>
                  <a:lnTo>
                    <a:pt x="75349" y="0"/>
                  </a:lnTo>
                  <a:lnTo>
                    <a:pt x="65849" y="457"/>
                  </a:lnTo>
                  <a:lnTo>
                    <a:pt x="67195" y="457"/>
                  </a:lnTo>
                  <a:lnTo>
                    <a:pt x="60490" y="1447"/>
                  </a:lnTo>
                  <a:lnTo>
                    <a:pt x="21463" y="22313"/>
                  </a:lnTo>
                  <a:lnTo>
                    <a:pt x="5041" y="46875"/>
                  </a:lnTo>
                  <a:lnTo>
                    <a:pt x="4953" y="4704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71634" y="19050"/>
                  </a:lnTo>
                  <a:lnTo>
                    <a:pt x="3210864" y="40030"/>
                  </a:lnTo>
                  <a:lnTo>
                    <a:pt x="3218599" y="66014"/>
                  </a:lnTo>
                  <a:lnTo>
                    <a:pt x="3218599" y="1667535"/>
                  </a:lnTo>
                  <a:lnTo>
                    <a:pt x="3197618" y="1706753"/>
                  </a:lnTo>
                  <a:lnTo>
                    <a:pt x="3180740" y="1713712"/>
                  </a:lnTo>
                  <a:lnTo>
                    <a:pt x="3180130" y="1713712"/>
                  </a:lnTo>
                  <a:lnTo>
                    <a:pt x="3171634" y="1714500"/>
                  </a:lnTo>
                  <a:lnTo>
                    <a:pt x="75349" y="1714500"/>
                  </a:lnTo>
                  <a:lnTo>
                    <a:pt x="67843" y="1714220"/>
                  </a:lnTo>
                  <a:lnTo>
                    <a:pt x="27038" y="1701546"/>
                  </a:lnTo>
                  <a:lnTo>
                    <a:pt x="1079" y="1672221"/>
                  </a:lnTo>
                  <a:lnTo>
                    <a:pt x="0" y="1668106"/>
                  </a:lnTo>
                  <a:lnTo>
                    <a:pt x="609" y="1672221"/>
                  </a:lnTo>
                  <a:lnTo>
                    <a:pt x="2413" y="1679435"/>
                  </a:lnTo>
                  <a:lnTo>
                    <a:pt x="4851" y="1686217"/>
                  </a:lnTo>
                  <a:lnTo>
                    <a:pt x="4953" y="1686509"/>
                  </a:lnTo>
                  <a:lnTo>
                    <a:pt x="33007" y="1720710"/>
                  </a:lnTo>
                  <a:lnTo>
                    <a:pt x="68173" y="1733232"/>
                  </a:lnTo>
                  <a:lnTo>
                    <a:pt x="68834" y="1733232"/>
                  </a:lnTo>
                  <a:lnTo>
                    <a:pt x="75349" y="1733550"/>
                  </a:lnTo>
                  <a:lnTo>
                    <a:pt x="3171634" y="1733550"/>
                  </a:lnTo>
                  <a:lnTo>
                    <a:pt x="3178149" y="1733232"/>
                  </a:lnTo>
                  <a:lnTo>
                    <a:pt x="3213506" y="1718589"/>
                  </a:lnTo>
                  <a:lnTo>
                    <a:pt x="3218777" y="1713712"/>
                  </a:lnTo>
                  <a:lnTo>
                    <a:pt x="3222701" y="1709394"/>
                  </a:lnTo>
                  <a:lnTo>
                    <a:pt x="3237344" y="1674037"/>
                  </a:lnTo>
                  <a:lnTo>
                    <a:pt x="3237649" y="1667535"/>
                  </a:lnTo>
                  <a:lnTo>
                    <a:pt x="3237649" y="66014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76700" y="2305050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61671" y="0"/>
                  </a:lnTo>
                  <a:lnTo>
                    <a:pt x="57378" y="419"/>
                  </a:lnTo>
                  <a:lnTo>
                    <a:pt x="22402" y="16268"/>
                  </a:lnTo>
                  <a:lnTo>
                    <a:pt x="2108" y="48882"/>
                  </a:lnTo>
                  <a:lnTo>
                    <a:pt x="0" y="61671"/>
                  </a:lnTo>
                  <a:lnTo>
                    <a:pt x="0" y="1667535"/>
                  </a:lnTo>
                  <a:lnTo>
                    <a:pt x="0" y="1671878"/>
                  </a:lnTo>
                  <a:lnTo>
                    <a:pt x="13538" y="1707819"/>
                  </a:lnTo>
                  <a:lnTo>
                    <a:pt x="44754" y="1730184"/>
                  </a:lnTo>
                  <a:lnTo>
                    <a:pt x="61671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344646" y="2485231"/>
            <a:ext cx="2516505" cy="129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Independencia</a:t>
            </a:r>
            <a:r>
              <a:rPr dirty="0" sz="18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Lógica</a:t>
            </a:r>
            <a:endParaRPr sz="1850">
              <a:latin typeface="Cambria"/>
              <a:cs typeface="Cambria"/>
            </a:endParaRPr>
          </a:p>
          <a:p>
            <a:pPr marL="12700" marR="216535">
              <a:lnSpc>
                <a:spcPct val="135800"/>
              </a:lnSpc>
              <a:spcBef>
                <a:spcPts val="705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Modificar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esquema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conceptual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sin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afectar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las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vistas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usuario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505700" y="2305050"/>
            <a:ext cx="3267075" cy="1733550"/>
            <a:chOff x="7505700" y="2305050"/>
            <a:chExt cx="3267075" cy="1733550"/>
          </a:xfrm>
        </p:grpSpPr>
        <p:sp>
          <p:nvSpPr>
            <p:cNvPr id="16" name="object 16" descr=""/>
            <p:cNvSpPr/>
            <p:nvPr/>
          </p:nvSpPr>
          <p:spPr>
            <a:xfrm>
              <a:off x="7524750" y="2314575"/>
              <a:ext cx="3238500" cy="1714500"/>
            </a:xfrm>
            <a:custGeom>
              <a:avLst/>
              <a:gdLst/>
              <a:ahLst/>
              <a:cxnLst/>
              <a:rect l="l" t="t" r="r" b="b"/>
              <a:pathLst>
                <a:path w="3238500" h="1714500">
                  <a:moveTo>
                    <a:pt x="318573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47825"/>
                  </a:lnTo>
                  <a:lnTo>
                    <a:pt x="0" y="1652206"/>
                  </a:lnTo>
                  <a:lnTo>
                    <a:pt x="15621" y="1688515"/>
                  </a:lnTo>
                  <a:lnTo>
                    <a:pt x="51663" y="1711096"/>
                  </a:lnTo>
                  <a:lnTo>
                    <a:pt x="71196" y="1714500"/>
                  </a:lnTo>
                  <a:lnTo>
                    <a:pt x="3185731" y="1714500"/>
                  </a:lnTo>
                  <a:lnTo>
                    <a:pt x="3224580" y="1695335"/>
                  </a:lnTo>
                  <a:lnTo>
                    <a:pt x="3238500" y="1661731"/>
                  </a:lnTo>
                  <a:lnTo>
                    <a:pt x="3238500" y="52768"/>
                  </a:lnTo>
                  <a:lnTo>
                    <a:pt x="3219335" y="13919"/>
                  </a:lnTo>
                  <a:lnTo>
                    <a:pt x="3189401" y="368"/>
                  </a:lnTo>
                  <a:lnTo>
                    <a:pt x="3185731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525588" y="2305062"/>
              <a:ext cx="3247390" cy="1733550"/>
            </a:xfrm>
            <a:custGeom>
              <a:avLst/>
              <a:gdLst/>
              <a:ahLst/>
              <a:cxnLst/>
              <a:rect l="l" t="t" r="r" b="b"/>
              <a:pathLst>
                <a:path w="3247390" h="1733550">
                  <a:moveTo>
                    <a:pt x="3247174" y="66014"/>
                  </a:moveTo>
                  <a:lnTo>
                    <a:pt x="3236061" y="29324"/>
                  </a:lnTo>
                  <a:lnTo>
                    <a:pt x="3228352" y="19900"/>
                  </a:lnTo>
                  <a:lnTo>
                    <a:pt x="3194050" y="1257"/>
                  </a:lnTo>
                  <a:lnTo>
                    <a:pt x="3188652" y="457"/>
                  </a:lnTo>
                  <a:lnTo>
                    <a:pt x="3190659" y="457"/>
                  </a:lnTo>
                  <a:lnTo>
                    <a:pt x="3181159" y="0"/>
                  </a:lnTo>
                  <a:lnTo>
                    <a:pt x="75349" y="0"/>
                  </a:lnTo>
                  <a:lnTo>
                    <a:pt x="65849" y="457"/>
                  </a:lnTo>
                  <a:lnTo>
                    <a:pt x="67195" y="457"/>
                  </a:lnTo>
                  <a:lnTo>
                    <a:pt x="60490" y="1447"/>
                  </a:lnTo>
                  <a:lnTo>
                    <a:pt x="21463" y="22313"/>
                  </a:lnTo>
                  <a:lnTo>
                    <a:pt x="5041" y="46875"/>
                  </a:lnTo>
                  <a:lnTo>
                    <a:pt x="4953" y="4704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81159" y="19050"/>
                  </a:lnTo>
                  <a:lnTo>
                    <a:pt x="3220389" y="40030"/>
                  </a:lnTo>
                  <a:lnTo>
                    <a:pt x="3228124" y="66014"/>
                  </a:lnTo>
                  <a:lnTo>
                    <a:pt x="3228124" y="1667535"/>
                  </a:lnTo>
                  <a:lnTo>
                    <a:pt x="3207143" y="1706753"/>
                  </a:lnTo>
                  <a:lnTo>
                    <a:pt x="3190265" y="1713712"/>
                  </a:lnTo>
                  <a:lnTo>
                    <a:pt x="3189655" y="1713712"/>
                  </a:lnTo>
                  <a:lnTo>
                    <a:pt x="3181159" y="1714500"/>
                  </a:lnTo>
                  <a:lnTo>
                    <a:pt x="75349" y="1714500"/>
                  </a:lnTo>
                  <a:lnTo>
                    <a:pt x="67843" y="1714220"/>
                  </a:lnTo>
                  <a:lnTo>
                    <a:pt x="27038" y="1701546"/>
                  </a:lnTo>
                  <a:lnTo>
                    <a:pt x="1079" y="1672221"/>
                  </a:lnTo>
                  <a:lnTo>
                    <a:pt x="0" y="1668106"/>
                  </a:lnTo>
                  <a:lnTo>
                    <a:pt x="609" y="1672221"/>
                  </a:lnTo>
                  <a:lnTo>
                    <a:pt x="2413" y="1679435"/>
                  </a:lnTo>
                  <a:lnTo>
                    <a:pt x="4851" y="1686217"/>
                  </a:lnTo>
                  <a:lnTo>
                    <a:pt x="4953" y="1686509"/>
                  </a:lnTo>
                  <a:lnTo>
                    <a:pt x="33007" y="1720710"/>
                  </a:lnTo>
                  <a:lnTo>
                    <a:pt x="68173" y="1733232"/>
                  </a:lnTo>
                  <a:lnTo>
                    <a:pt x="68834" y="1733232"/>
                  </a:lnTo>
                  <a:lnTo>
                    <a:pt x="75349" y="1733550"/>
                  </a:lnTo>
                  <a:lnTo>
                    <a:pt x="3181159" y="1733550"/>
                  </a:lnTo>
                  <a:lnTo>
                    <a:pt x="3187674" y="1733232"/>
                  </a:lnTo>
                  <a:lnTo>
                    <a:pt x="3223031" y="1718589"/>
                  </a:lnTo>
                  <a:lnTo>
                    <a:pt x="3228302" y="1713712"/>
                  </a:lnTo>
                  <a:lnTo>
                    <a:pt x="3232226" y="1709394"/>
                  </a:lnTo>
                  <a:lnTo>
                    <a:pt x="3246869" y="1674037"/>
                  </a:lnTo>
                  <a:lnTo>
                    <a:pt x="3247174" y="1667535"/>
                  </a:lnTo>
                  <a:lnTo>
                    <a:pt x="3247174" y="66014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505700" y="2305050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61671" y="0"/>
                  </a:lnTo>
                  <a:lnTo>
                    <a:pt x="57378" y="419"/>
                  </a:lnTo>
                  <a:lnTo>
                    <a:pt x="22402" y="16268"/>
                  </a:lnTo>
                  <a:lnTo>
                    <a:pt x="2108" y="48882"/>
                  </a:lnTo>
                  <a:lnTo>
                    <a:pt x="0" y="61671"/>
                  </a:lnTo>
                  <a:lnTo>
                    <a:pt x="0" y="1667535"/>
                  </a:lnTo>
                  <a:lnTo>
                    <a:pt x="0" y="1671878"/>
                  </a:lnTo>
                  <a:lnTo>
                    <a:pt x="13538" y="1707819"/>
                  </a:lnTo>
                  <a:lnTo>
                    <a:pt x="44754" y="1730184"/>
                  </a:lnTo>
                  <a:lnTo>
                    <a:pt x="61671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777708" y="2485231"/>
            <a:ext cx="2707640" cy="129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5">
                <a:solidFill>
                  <a:srgbClr val="E2E6E9"/>
                </a:solidFill>
                <a:latin typeface="Cambria"/>
                <a:cs typeface="Cambria"/>
              </a:rPr>
              <a:t>Seguridad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5800"/>
              </a:lnSpc>
              <a:spcBef>
                <a:spcPts val="705"/>
              </a:spcBef>
            </a:pP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Cada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usuario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accede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solo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los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correspondientes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su 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rol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38175" y="4219575"/>
            <a:ext cx="3267075" cy="1733550"/>
            <a:chOff x="638175" y="4219575"/>
            <a:chExt cx="3267075" cy="1733550"/>
          </a:xfrm>
        </p:grpSpPr>
        <p:sp>
          <p:nvSpPr>
            <p:cNvPr id="21" name="object 21" descr=""/>
            <p:cNvSpPr/>
            <p:nvPr/>
          </p:nvSpPr>
          <p:spPr>
            <a:xfrm>
              <a:off x="657225" y="4229100"/>
              <a:ext cx="3238500" cy="1714500"/>
            </a:xfrm>
            <a:custGeom>
              <a:avLst/>
              <a:gdLst/>
              <a:ahLst/>
              <a:cxnLst/>
              <a:rect l="l" t="t" r="r" b="b"/>
              <a:pathLst>
                <a:path w="3238500" h="1714500">
                  <a:moveTo>
                    <a:pt x="3185731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647825"/>
                  </a:lnTo>
                  <a:lnTo>
                    <a:pt x="0" y="1652200"/>
                  </a:lnTo>
                  <a:lnTo>
                    <a:pt x="15622" y="1688504"/>
                  </a:lnTo>
                  <a:lnTo>
                    <a:pt x="51663" y="1711096"/>
                  </a:lnTo>
                  <a:lnTo>
                    <a:pt x="71194" y="1714500"/>
                  </a:lnTo>
                  <a:lnTo>
                    <a:pt x="3185731" y="1714500"/>
                  </a:lnTo>
                  <a:lnTo>
                    <a:pt x="3224580" y="1695330"/>
                  </a:lnTo>
                  <a:lnTo>
                    <a:pt x="3238500" y="1661725"/>
                  </a:lnTo>
                  <a:lnTo>
                    <a:pt x="3238500" y="52768"/>
                  </a:lnTo>
                  <a:lnTo>
                    <a:pt x="3219335" y="13919"/>
                  </a:lnTo>
                  <a:lnTo>
                    <a:pt x="3189401" y="368"/>
                  </a:lnTo>
                  <a:lnTo>
                    <a:pt x="3185731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58063" y="4219587"/>
              <a:ext cx="3247390" cy="1733550"/>
            </a:xfrm>
            <a:custGeom>
              <a:avLst/>
              <a:gdLst/>
              <a:ahLst/>
              <a:cxnLst/>
              <a:rect l="l" t="t" r="r" b="b"/>
              <a:pathLst>
                <a:path w="3247390" h="1733550">
                  <a:moveTo>
                    <a:pt x="3247174" y="66014"/>
                  </a:moveTo>
                  <a:lnTo>
                    <a:pt x="3236061" y="29324"/>
                  </a:lnTo>
                  <a:lnTo>
                    <a:pt x="3228352" y="19900"/>
                  </a:lnTo>
                  <a:lnTo>
                    <a:pt x="3194050" y="1257"/>
                  </a:lnTo>
                  <a:lnTo>
                    <a:pt x="3188652" y="457"/>
                  </a:lnTo>
                  <a:lnTo>
                    <a:pt x="3190659" y="457"/>
                  </a:lnTo>
                  <a:lnTo>
                    <a:pt x="3181159" y="0"/>
                  </a:lnTo>
                  <a:lnTo>
                    <a:pt x="75349" y="0"/>
                  </a:lnTo>
                  <a:lnTo>
                    <a:pt x="65849" y="457"/>
                  </a:lnTo>
                  <a:lnTo>
                    <a:pt x="67195" y="457"/>
                  </a:lnTo>
                  <a:lnTo>
                    <a:pt x="60490" y="1447"/>
                  </a:lnTo>
                  <a:lnTo>
                    <a:pt x="21475" y="22313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81159" y="19050"/>
                  </a:lnTo>
                  <a:lnTo>
                    <a:pt x="3220389" y="40030"/>
                  </a:lnTo>
                  <a:lnTo>
                    <a:pt x="3228124" y="66014"/>
                  </a:lnTo>
                  <a:lnTo>
                    <a:pt x="3228124" y="1667535"/>
                  </a:lnTo>
                  <a:lnTo>
                    <a:pt x="3227273" y="1676908"/>
                  </a:lnTo>
                  <a:lnTo>
                    <a:pt x="3224695" y="1685556"/>
                  </a:lnTo>
                  <a:lnTo>
                    <a:pt x="3220389" y="1693506"/>
                  </a:lnTo>
                  <a:lnTo>
                    <a:pt x="3214801" y="1700212"/>
                  </a:lnTo>
                  <a:lnTo>
                    <a:pt x="3214370" y="1700733"/>
                  </a:lnTo>
                  <a:lnTo>
                    <a:pt x="3207143" y="1706753"/>
                  </a:lnTo>
                  <a:lnTo>
                    <a:pt x="3199193" y="1711058"/>
                  </a:lnTo>
                  <a:lnTo>
                    <a:pt x="3190265" y="1713712"/>
                  </a:lnTo>
                  <a:lnTo>
                    <a:pt x="3189681" y="1713712"/>
                  </a:lnTo>
                  <a:lnTo>
                    <a:pt x="3181159" y="1714500"/>
                  </a:lnTo>
                  <a:lnTo>
                    <a:pt x="75349" y="1714500"/>
                  </a:lnTo>
                  <a:lnTo>
                    <a:pt x="67843" y="1714220"/>
                  </a:lnTo>
                  <a:lnTo>
                    <a:pt x="27038" y="1701546"/>
                  </a:lnTo>
                  <a:lnTo>
                    <a:pt x="1092" y="1672209"/>
                  </a:lnTo>
                  <a:lnTo>
                    <a:pt x="0" y="1668094"/>
                  </a:lnTo>
                  <a:lnTo>
                    <a:pt x="609" y="1672209"/>
                  </a:lnTo>
                  <a:lnTo>
                    <a:pt x="2413" y="1679435"/>
                  </a:lnTo>
                  <a:lnTo>
                    <a:pt x="4851" y="1686217"/>
                  </a:lnTo>
                  <a:lnTo>
                    <a:pt x="4953" y="1686509"/>
                  </a:lnTo>
                  <a:lnTo>
                    <a:pt x="33007" y="1720710"/>
                  </a:lnTo>
                  <a:lnTo>
                    <a:pt x="68173" y="1733232"/>
                  </a:lnTo>
                  <a:lnTo>
                    <a:pt x="68846" y="1733232"/>
                  </a:lnTo>
                  <a:lnTo>
                    <a:pt x="75349" y="1733550"/>
                  </a:lnTo>
                  <a:lnTo>
                    <a:pt x="3181159" y="1733550"/>
                  </a:lnTo>
                  <a:lnTo>
                    <a:pt x="3187674" y="1733232"/>
                  </a:lnTo>
                  <a:lnTo>
                    <a:pt x="3223031" y="1718589"/>
                  </a:lnTo>
                  <a:lnTo>
                    <a:pt x="3227844" y="1714220"/>
                  </a:lnTo>
                  <a:lnTo>
                    <a:pt x="3228302" y="1713712"/>
                  </a:lnTo>
                  <a:lnTo>
                    <a:pt x="3246869" y="1674037"/>
                  </a:lnTo>
                  <a:lnTo>
                    <a:pt x="3247174" y="1667535"/>
                  </a:lnTo>
                  <a:lnTo>
                    <a:pt x="3247174" y="66014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8175" y="4219575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61675" y="0"/>
                  </a:lnTo>
                  <a:lnTo>
                    <a:pt x="57383" y="419"/>
                  </a:lnTo>
                  <a:lnTo>
                    <a:pt x="22398" y="16268"/>
                  </a:lnTo>
                  <a:lnTo>
                    <a:pt x="2113" y="48882"/>
                  </a:lnTo>
                  <a:lnTo>
                    <a:pt x="0" y="61671"/>
                  </a:lnTo>
                  <a:lnTo>
                    <a:pt x="0" y="1667539"/>
                  </a:lnTo>
                  <a:lnTo>
                    <a:pt x="0" y="1671875"/>
                  </a:lnTo>
                  <a:lnTo>
                    <a:pt x="13533" y="1707817"/>
                  </a:lnTo>
                  <a:lnTo>
                    <a:pt x="44752" y="1730181"/>
                  </a:lnTo>
                  <a:lnTo>
                    <a:pt x="61675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912117" y="4399756"/>
            <a:ext cx="2652395" cy="129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Mantenimiento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5800"/>
              </a:lnSpc>
              <a:spcBef>
                <a:spcPts val="705"/>
              </a:spcBef>
            </a:pP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Facilita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la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evolución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y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actualización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sistema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lo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largo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tiempo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076700" y="4219575"/>
            <a:ext cx="3257550" cy="1733550"/>
            <a:chOff x="4076700" y="4219575"/>
            <a:chExt cx="3257550" cy="1733550"/>
          </a:xfrm>
        </p:grpSpPr>
        <p:sp>
          <p:nvSpPr>
            <p:cNvPr id="26" name="object 26" descr=""/>
            <p:cNvSpPr/>
            <p:nvPr/>
          </p:nvSpPr>
          <p:spPr>
            <a:xfrm>
              <a:off x="4095750" y="4229100"/>
              <a:ext cx="3228975" cy="1714500"/>
            </a:xfrm>
            <a:custGeom>
              <a:avLst/>
              <a:gdLst/>
              <a:ahLst/>
              <a:cxnLst/>
              <a:rect l="l" t="t" r="r" b="b"/>
              <a:pathLst>
                <a:path w="3228975" h="1714500">
                  <a:moveTo>
                    <a:pt x="317620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47825"/>
                  </a:lnTo>
                  <a:lnTo>
                    <a:pt x="0" y="1652200"/>
                  </a:lnTo>
                  <a:lnTo>
                    <a:pt x="15621" y="1688504"/>
                  </a:lnTo>
                  <a:lnTo>
                    <a:pt x="51663" y="1711096"/>
                  </a:lnTo>
                  <a:lnTo>
                    <a:pt x="71196" y="1714500"/>
                  </a:lnTo>
                  <a:lnTo>
                    <a:pt x="3176206" y="1714500"/>
                  </a:lnTo>
                  <a:lnTo>
                    <a:pt x="3215055" y="1695330"/>
                  </a:lnTo>
                  <a:lnTo>
                    <a:pt x="3228975" y="1661725"/>
                  </a:lnTo>
                  <a:lnTo>
                    <a:pt x="3228975" y="52768"/>
                  </a:lnTo>
                  <a:lnTo>
                    <a:pt x="3209810" y="13919"/>
                  </a:lnTo>
                  <a:lnTo>
                    <a:pt x="3179876" y="368"/>
                  </a:lnTo>
                  <a:lnTo>
                    <a:pt x="3176206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096588" y="4219587"/>
              <a:ext cx="3237865" cy="1733550"/>
            </a:xfrm>
            <a:custGeom>
              <a:avLst/>
              <a:gdLst/>
              <a:ahLst/>
              <a:cxnLst/>
              <a:rect l="l" t="t" r="r" b="b"/>
              <a:pathLst>
                <a:path w="3237865" h="1733550">
                  <a:moveTo>
                    <a:pt x="3237649" y="66014"/>
                  </a:moveTo>
                  <a:lnTo>
                    <a:pt x="3226536" y="29324"/>
                  </a:lnTo>
                  <a:lnTo>
                    <a:pt x="3218827" y="19900"/>
                  </a:lnTo>
                  <a:lnTo>
                    <a:pt x="3184525" y="1257"/>
                  </a:lnTo>
                  <a:lnTo>
                    <a:pt x="3179127" y="457"/>
                  </a:lnTo>
                  <a:lnTo>
                    <a:pt x="3181134" y="457"/>
                  </a:lnTo>
                  <a:lnTo>
                    <a:pt x="3171634" y="0"/>
                  </a:lnTo>
                  <a:lnTo>
                    <a:pt x="75349" y="0"/>
                  </a:lnTo>
                  <a:lnTo>
                    <a:pt x="65849" y="457"/>
                  </a:lnTo>
                  <a:lnTo>
                    <a:pt x="67195" y="457"/>
                  </a:lnTo>
                  <a:lnTo>
                    <a:pt x="60490" y="1447"/>
                  </a:lnTo>
                  <a:lnTo>
                    <a:pt x="21463" y="22313"/>
                  </a:lnTo>
                  <a:lnTo>
                    <a:pt x="5041" y="46875"/>
                  </a:lnTo>
                  <a:lnTo>
                    <a:pt x="4953" y="47040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71634" y="19050"/>
                  </a:lnTo>
                  <a:lnTo>
                    <a:pt x="3210864" y="40030"/>
                  </a:lnTo>
                  <a:lnTo>
                    <a:pt x="3218599" y="66014"/>
                  </a:lnTo>
                  <a:lnTo>
                    <a:pt x="3218599" y="1667535"/>
                  </a:lnTo>
                  <a:lnTo>
                    <a:pt x="3217748" y="1676908"/>
                  </a:lnTo>
                  <a:lnTo>
                    <a:pt x="3215170" y="1685556"/>
                  </a:lnTo>
                  <a:lnTo>
                    <a:pt x="3210864" y="1693506"/>
                  </a:lnTo>
                  <a:lnTo>
                    <a:pt x="3205276" y="1700212"/>
                  </a:lnTo>
                  <a:lnTo>
                    <a:pt x="3204845" y="1700733"/>
                  </a:lnTo>
                  <a:lnTo>
                    <a:pt x="3197618" y="1706753"/>
                  </a:lnTo>
                  <a:lnTo>
                    <a:pt x="3189668" y="1711058"/>
                  </a:lnTo>
                  <a:lnTo>
                    <a:pt x="3180740" y="1713712"/>
                  </a:lnTo>
                  <a:lnTo>
                    <a:pt x="3180156" y="1713712"/>
                  </a:lnTo>
                  <a:lnTo>
                    <a:pt x="3171634" y="1714500"/>
                  </a:lnTo>
                  <a:lnTo>
                    <a:pt x="75349" y="1714500"/>
                  </a:lnTo>
                  <a:lnTo>
                    <a:pt x="67843" y="1714220"/>
                  </a:lnTo>
                  <a:lnTo>
                    <a:pt x="27038" y="1701546"/>
                  </a:lnTo>
                  <a:lnTo>
                    <a:pt x="1079" y="1672209"/>
                  </a:lnTo>
                  <a:lnTo>
                    <a:pt x="0" y="1668106"/>
                  </a:lnTo>
                  <a:lnTo>
                    <a:pt x="609" y="1672209"/>
                  </a:lnTo>
                  <a:lnTo>
                    <a:pt x="2413" y="1679435"/>
                  </a:lnTo>
                  <a:lnTo>
                    <a:pt x="4851" y="1686217"/>
                  </a:lnTo>
                  <a:lnTo>
                    <a:pt x="4953" y="1686509"/>
                  </a:lnTo>
                  <a:lnTo>
                    <a:pt x="33007" y="1720710"/>
                  </a:lnTo>
                  <a:lnTo>
                    <a:pt x="68173" y="1733232"/>
                  </a:lnTo>
                  <a:lnTo>
                    <a:pt x="68846" y="1733232"/>
                  </a:lnTo>
                  <a:lnTo>
                    <a:pt x="75349" y="1733550"/>
                  </a:lnTo>
                  <a:lnTo>
                    <a:pt x="3171634" y="1733550"/>
                  </a:lnTo>
                  <a:lnTo>
                    <a:pt x="3178149" y="1733232"/>
                  </a:lnTo>
                  <a:lnTo>
                    <a:pt x="3213506" y="1718589"/>
                  </a:lnTo>
                  <a:lnTo>
                    <a:pt x="3218319" y="1714220"/>
                  </a:lnTo>
                  <a:lnTo>
                    <a:pt x="3218777" y="1713712"/>
                  </a:lnTo>
                  <a:lnTo>
                    <a:pt x="3237344" y="1674037"/>
                  </a:lnTo>
                  <a:lnTo>
                    <a:pt x="3237649" y="1667535"/>
                  </a:lnTo>
                  <a:lnTo>
                    <a:pt x="3237649" y="66014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076700" y="4219575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61671" y="0"/>
                  </a:lnTo>
                  <a:lnTo>
                    <a:pt x="57378" y="419"/>
                  </a:lnTo>
                  <a:lnTo>
                    <a:pt x="22402" y="16268"/>
                  </a:lnTo>
                  <a:lnTo>
                    <a:pt x="2108" y="48882"/>
                  </a:lnTo>
                  <a:lnTo>
                    <a:pt x="0" y="61671"/>
                  </a:lnTo>
                  <a:lnTo>
                    <a:pt x="0" y="1667539"/>
                  </a:lnTo>
                  <a:lnTo>
                    <a:pt x="0" y="1671875"/>
                  </a:lnTo>
                  <a:lnTo>
                    <a:pt x="13538" y="1707817"/>
                  </a:lnTo>
                  <a:lnTo>
                    <a:pt x="44754" y="1730181"/>
                  </a:lnTo>
                  <a:lnTo>
                    <a:pt x="61671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F9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344835" y="4399756"/>
            <a:ext cx="2461895" cy="1299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0">
                <a:solidFill>
                  <a:srgbClr val="E2E6E9"/>
                </a:solidFill>
                <a:latin typeface="Cambria"/>
                <a:cs typeface="Cambria"/>
              </a:rPr>
              <a:t>Múltiples</a:t>
            </a:r>
            <a:r>
              <a:rPr dirty="0" sz="1850" spc="7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Vistas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5800"/>
              </a:lnSpc>
              <a:spcBef>
                <a:spcPts val="705"/>
              </a:spcBef>
            </a:pP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Diferentes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perspectivas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del </a:t>
            </a:r>
            <a:r>
              <a:rPr dirty="0" sz="1450" spc="145">
                <a:solidFill>
                  <a:srgbClr val="E2E6E9"/>
                </a:solidFill>
                <a:latin typeface="Cambria"/>
                <a:cs typeface="Cambria"/>
              </a:rPr>
              <a:t>mismo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dato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para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distintos usuarios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30" name="object 30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62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30000" y="0"/>
                </a:moveTo>
                <a:lnTo>
                  <a:pt x="0" y="0"/>
                </a:lnTo>
                <a:lnTo>
                  <a:pt x="0" y="6667500"/>
                </a:lnTo>
                <a:lnTo>
                  <a:pt x="11430000" y="6667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40"/>
              <a:t>Funciones</a:t>
            </a:r>
            <a:r>
              <a:rPr dirty="0" spc="85"/>
              <a:t> </a:t>
            </a:r>
            <a:r>
              <a:rPr dirty="0" spc="204"/>
              <a:t>Esenciales</a:t>
            </a:r>
            <a:r>
              <a:rPr dirty="0" spc="85"/>
              <a:t> </a:t>
            </a:r>
            <a:r>
              <a:rPr dirty="0" spc="155"/>
              <a:t>del</a:t>
            </a:r>
            <a:r>
              <a:rPr dirty="0" spc="85"/>
              <a:t> </a:t>
            </a:r>
            <a:r>
              <a:rPr dirty="0" spc="290"/>
              <a:t>SGBD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7162" y="1415649"/>
            <a:ext cx="987425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Sistema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Gestor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Bases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implementa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un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conjunto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completo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funciones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para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gestionar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ciclo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de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vida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datos.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57225" y="2305049"/>
            <a:ext cx="10115550" cy="3848100"/>
            <a:chOff x="657225" y="2305049"/>
            <a:chExt cx="10115550" cy="3848100"/>
          </a:xfrm>
        </p:grpSpPr>
        <p:sp>
          <p:nvSpPr>
            <p:cNvPr id="6" name="object 6" descr=""/>
            <p:cNvSpPr/>
            <p:nvPr/>
          </p:nvSpPr>
          <p:spPr>
            <a:xfrm>
              <a:off x="661987" y="2309812"/>
              <a:ext cx="10106025" cy="3838575"/>
            </a:xfrm>
            <a:custGeom>
              <a:avLst/>
              <a:gdLst/>
              <a:ahLst/>
              <a:cxnLst/>
              <a:rect l="l" t="t" r="r" b="b"/>
              <a:pathLst>
                <a:path w="10106025" h="3838575">
                  <a:moveTo>
                    <a:pt x="0" y="3777328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29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56"/>
                  </a:lnTo>
                  <a:lnTo>
                    <a:pt x="10323" y="27216"/>
                  </a:lnTo>
                  <a:lnTo>
                    <a:pt x="12556" y="23876"/>
                  </a:lnTo>
                  <a:lnTo>
                    <a:pt x="15096" y="20777"/>
                  </a:lnTo>
                  <a:lnTo>
                    <a:pt x="17938" y="17945"/>
                  </a:lnTo>
                  <a:lnTo>
                    <a:pt x="20781" y="15087"/>
                  </a:lnTo>
                  <a:lnTo>
                    <a:pt x="23877" y="12560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81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10044773" y="0"/>
                  </a:lnTo>
                  <a:lnTo>
                    <a:pt x="10048798" y="0"/>
                  </a:lnTo>
                  <a:lnTo>
                    <a:pt x="10052774" y="393"/>
                  </a:lnTo>
                  <a:lnTo>
                    <a:pt x="10056723" y="1181"/>
                  </a:lnTo>
                  <a:lnTo>
                    <a:pt x="10060673" y="1955"/>
                  </a:lnTo>
                  <a:lnTo>
                    <a:pt x="10088092" y="17945"/>
                  </a:lnTo>
                  <a:lnTo>
                    <a:pt x="10090924" y="20777"/>
                  </a:lnTo>
                  <a:lnTo>
                    <a:pt x="10101364" y="37807"/>
                  </a:lnTo>
                  <a:lnTo>
                    <a:pt x="10102900" y="41529"/>
                  </a:lnTo>
                  <a:lnTo>
                    <a:pt x="10104056" y="45351"/>
                  </a:lnTo>
                  <a:lnTo>
                    <a:pt x="10104844" y="49301"/>
                  </a:lnTo>
                  <a:lnTo>
                    <a:pt x="10105631" y="53238"/>
                  </a:lnTo>
                  <a:lnTo>
                    <a:pt x="10106025" y="57226"/>
                  </a:lnTo>
                  <a:lnTo>
                    <a:pt x="10106025" y="61239"/>
                  </a:lnTo>
                  <a:lnTo>
                    <a:pt x="10106025" y="3777328"/>
                  </a:lnTo>
                  <a:lnTo>
                    <a:pt x="10106025" y="3781351"/>
                  </a:lnTo>
                  <a:lnTo>
                    <a:pt x="10105631" y="3785330"/>
                  </a:lnTo>
                  <a:lnTo>
                    <a:pt x="10104844" y="3789273"/>
                  </a:lnTo>
                  <a:lnTo>
                    <a:pt x="10104056" y="3793218"/>
                  </a:lnTo>
                  <a:lnTo>
                    <a:pt x="10102900" y="3797048"/>
                  </a:lnTo>
                  <a:lnTo>
                    <a:pt x="10101364" y="3800763"/>
                  </a:lnTo>
                  <a:lnTo>
                    <a:pt x="10099827" y="3804479"/>
                  </a:lnTo>
                  <a:lnTo>
                    <a:pt x="10071938" y="3832369"/>
                  </a:lnTo>
                  <a:lnTo>
                    <a:pt x="10056723" y="3837395"/>
                  </a:lnTo>
                  <a:lnTo>
                    <a:pt x="10052774" y="3838183"/>
                  </a:lnTo>
                  <a:lnTo>
                    <a:pt x="10048798" y="3838576"/>
                  </a:lnTo>
                  <a:lnTo>
                    <a:pt x="10044773" y="3838576"/>
                  </a:lnTo>
                  <a:lnTo>
                    <a:pt x="61248" y="3838576"/>
                  </a:lnTo>
                  <a:lnTo>
                    <a:pt x="57224" y="3838576"/>
                  </a:lnTo>
                  <a:lnTo>
                    <a:pt x="53240" y="3838183"/>
                  </a:lnTo>
                  <a:lnTo>
                    <a:pt x="49296" y="3837395"/>
                  </a:lnTo>
                  <a:lnTo>
                    <a:pt x="45352" y="3836611"/>
                  </a:lnTo>
                  <a:lnTo>
                    <a:pt x="12556" y="3814699"/>
                  </a:lnTo>
                  <a:lnTo>
                    <a:pt x="10323" y="3811355"/>
                  </a:lnTo>
                  <a:lnTo>
                    <a:pt x="8086" y="3808011"/>
                  </a:lnTo>
                  <a:lnTo>
                    <a:pt x="6201" y="3804479"/>
                  </a:lnTo>
                  <a:lnTo>
                    <a:pt x="4663" y="3800763"/>
                  </a:lnTo>
                  <a:lnTo>
                    <a:pt x="3125" y="3797048"/>
                  </a:lnTo>
                  <a:lnTo>
                    <a:pt x="1959" y="3793218"/>
                  </a:lnTo>
                  <a:lnTo>
                    <a:pt x="1176" y="3789273"/>
                  </a:lnTo>
                  <a:lnTo>
                    <a:pt x="392" y="3785330"/>
                  </a:lnTo>
                  <a:lnTo>
                    <a:pt x="0" y="3781351"/>
                  </a:lnTo>
                  <a:lnTo>
                    <a:pt x="0" y="377732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6737" y="2314587"/>
              <a:ext cx="10096500" cy="3829050"/>
            </a:xfrm>
            <a:custGeom>
              <a:avLst/>
              <a:gdLst/>
              <a:ahLst/>
              <a:cxnLst/>
              <a:rect l="l" t="t" r="r" b="b"/>
              <a:pathLst>
                <a:path w="10096500" h="3829050">
                  <a:moveTo>
                    <a:pt x="3028950" y="3276600"/>
                  </a:moveTo>
                  <a:lnTo>
                    <a:pt x="0" y="3276600"/>
                  </a:lnTo>
                  <a:lnTo>
                    <a:pt x="0" y="3763035"/>
                  </a:lnTo>
                  <a:lnTo>
                    <a:pt x="11125" y="3799713"/>
                  </a:lnTo>
                  <a:lnTo>
                    <a:pt x="40754" y="3824020"/>
                  </a:lnTo>
                  <a:lnTo>
                    <a:pt x="66014" y="3829050"/>
                  </a:lnTo>
                  <a:lnTo>
                    <a:pt x="3028950" y="3829050"/>
                  </a:lnTo>
                  <a:lnTo>
                    <a:pt x="3028950" y="3276600"/>
                  </a:lnTo>
                  <a:close/>
                </a:path>
                <a:path w="10096500" h="3829050">
                  <a:moveTo>
                    <a:pt x="3028950" y="0"/>
                  </a:moveTo>
                  <a:lnTo>
                    <a:pt x="66014" y="0"/>
                  </a:lnTo>
                  <a:lnTo>
                    <a:pt x="59512" y="304"/>
                  </a:lnTo>
                  <a:lnTo>
                    <a:pt x="24155" y="14947"/>
                  </a:lnTo>
                  <a:lnTo>
                    <a:pt x="2832" y="46863"/>
                  </a:lnTo>
                  <a:lnTo>
                    <a:pt x="0" y="66001"/>
                  </a:lnTo>
                  <a:lnTo>
                    <a:pt x="0" y="542925"/>
                  </a:lnTo>
                  <a:lnTo>
                    <a:pt x="3028950" y="542925"/>
                  </a:lnTo>
                  <a:lnTo>
                    <a:pt x="3028950" y="0"/>
                  </a:lnTo>
                  <a:close/>
                </a:path>
                <a:path w="10096500" h="3829050">
                  <a:moveTo>
                    <a:pt x="10096500" y="3276600"/>
                  </a:moveTo>
                  <a:lnTo>
                    <a:pt x="3038475" y="3276600"/>
                  </a:lnTo>
                  <a:lnTo>
                    <a:pt x="3038475" y="3829050"/>
                  </a:lnTo>
                  <a:lnTo>
                    <a:pt x="10030485" y="3829050"/>
                  </a:lnTo>
                  <a:lnTo>
                    <a:pt x="10037000" y="3828732"/>
                  </a:lnTo>
                  <a:lnTo>
                    <a:pt x="10072357" y="3814089"/>
                  </a:lnTo>
                  <a:lnTo>
                    <a:pt x="10093681" y="3782174"/>
                  </a:lnTo>
                  <a:lnTo>
                    <a:pt x="10096500" y="3763035"/>
                  </a:lnTo>
                  <a:lnTo>
                    <a:pt x="10096500" y="3276600"/>
                  </a:lnTo>
                  <a:close/>
                </a:path>
                <a:path w="10096500" h="3829050">
                  <a:moveTo>
                    <a:pt x="10096500" y="66001"/>
                  </a:moveTo>
                  <a:lnTo>
                    <a:pt x="10085387" y="29324"/>
                  </a:lnTo>
                  <a:lnTo>
                    <a:pt x="10055746" y="5016"/>
                  </a:lnTo>
                  <a:lnTo>
                    <a:pt x="10030485" y="0"/>
                  </a:lnTo>
                  <a:lnTo>
                    <a:pt x="3038475" y="0"/>
                  </a:lnTo>
                  <a:lnTo>
                    <a:pt x="3038475" y="542925"/>
                  </a:lnTo>
                  <a:lnTo>
                    <a:pt x="10096500" y="542925"/>
                  </a:lnTo>
                  <a:lnTo>
                    <a:pt x="10096500" y="66001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45591" y="2437225"/>
            <a:ext cx="78867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 b="1">
                <a:solidFill>
                  <a:srgbClr val="E2E6E9"/>
                </a:solidFill>
                <a:latin typeface="Cambria"/>
                <a:cs typeface="Cambria"/>
              </a:rPr>
              <a:t>Función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77509" y="2437225"/>
            <a:ext cx="114109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55" b="1">
                <a:solidFill>
                  <a:srgbClr val="E2E6E9"/>
                </a:solidFill>
                <a:latin typeface="Cambria"/>
                <a:cs typeface="Cambria"/>
              </a:rPr>
              <a:t>Descripción</a:t>
            </a:r>
            <a:endParaRPr sz="1450">
              <a:latin typeface="Cambria"/>
              <a:cs typeface="Cambria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666750" y="2857499"/>
          <a:ext cx="10172700" cy="273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3395"/>
                <a:gridCol w="7062470"/>
              </a:tblGrid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7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Definición</a:t>
                      </a:r>
                      <a:r>
                        <a:rPr dirty="0" sz="1450" spc="6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-20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(DDL)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5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Crear,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modificar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3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y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eliminar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8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estructuras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7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de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7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datos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80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Manipulación</a:t>
                      </a:r>
                      <a:r>
                        <a:rPr dirty="0" sz="1450" spc="7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6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(DML)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SELECT,</a:t>
                      </a:r>
                      <a:r>
                        <a:rPr dirty="0" sz="1450" spc="5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9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INSERT,</a:t>
                      </a:r>
                      <a:r>
                        <a:rPr dirty="0" sz="1450" spc="5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UPDATE,</a:t>
                      </a:r>
                      <a:r>
                        <a:rPr dirty="0" sz="1450" spc="5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DELETE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60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Control</a:t>
                      </a:r>
                      <a:r>
                        <a:rPr dirty="0" sz="1450" spc="3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5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(DCL)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Permisos</a:t>
                      </a:r>
                      <a:r>
                        <a:rPr dirty="0" sz="1450" spc="4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1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con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7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GRANT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-1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/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REVOKE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70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Transacciones </a:t>
                      </a:r>
                      <a:r>
                        <a:rPr dirty="0" sz="1450" spc="75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ACID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9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Atomicidad,</a:t>
                      </a:r>
                      <a:r>
                        <a:rPr dirty="0" sz="1450" spc="6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9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Consistencia,</a:t>
                      </a:r>
                      <a:r>
                        <a:rPr dirty="0" sz="1450" spc="7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9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Aislamiento,</a:t>
                      </a:r>
                      <a:r>
                        <a:rPr dirty="0" sz="1450" spc="6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7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Durabilidad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50" b="1">
                          <a:solidFill>
                            <a:srgbClr val="5F9CFF"/>
                          </a:solidFill>
                          <a:latin typeface="Cambria"/>
                          <a:cs typeface="Cambria"/>
                        </a:rPr>
                        <a:t>Recuperación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9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Restauración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8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ante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8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fallos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mediante</a:t>
                      </a:r>
                      <a:r>
                        <a:rPr dirty="0" sz="1450" spc="5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8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logs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845591" y="5723351"/>
            <a:ext cx="129095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0" b="1">
                <a:solidFill>
                  <a:srgbClr val="5F9CFF"/>
                </a:solidFill>
                <a:latin typeface="Cambria"/>
                <a:cs typeface="Cambria"/>
              </a:rPr>
              <a:t>Optimización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77513" y="5723351"/>
            <a:ext cx="26962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Planes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ejecución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eficientes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13" name="object 1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154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886700"/>
          </a:xfrm>
          <a:custGeom>
            <a:avLst/>
            <a:gdLst/>
            <a:ahLst/>
            <a:cxnLst/>
            <a:rect l="l" t="t" r="r" b="b"/>
            <a:pathLst>
              <a:path w="11430000" h="7886700">
                <a:moveTo>
                  <a:pt x="11430000" y="0"/>
                </a:moveTo>
                <a:lnTo>
                  <a:pt x="0" y="0"/>
                </a:lnTo>
                <a:lnTo>
                  <a:pt x="0" y="7886700"/>
                </a:lnTo>
                <a:lnTo>
                  <a:pt x="11430000" y="7886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00"/>
              <a:t>Integridad</a:t>
            </a:r>
            <a:r>
              <a:rPr dirty="0" spc="80"/>
              <a:t> </a:t>
            </a:r>
            <a:r>
              <a:rPr dirty="0" spc="170"/>
              <a:t>de</a:t>
            </a:r>
            <a:r>
              <a:rPr dirty="0" spc="80"/>
              <a:t> </a:t>
            </a:r>
            <a:r>
              <a:rPr dirty="0" spc="180"/>
              <a:t>los</a:t>
            </a:r>
            <a:r>
              <a:rPr dirty="0" spc="80"/>
              <a:t> </a:t>
            </a:r>
            <a:r>
              <a:rPr dirty="0" spc="175"/>
              <a:t>Datos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33425" y="2331198"/>
            <a:ext cx="283845" cy="244475"/>
          </a:xfrm>
          <a:custGeom>
            <a:avLst/>
            <a:gdLst/>
            <a:ahLst/>
            <a:cxnLst/>
            <a:rect l="l" t="t" r="r" b="b"/>
            <a:pathLst>
              <a:path w="283844" h="244475">
                <a:moveTo>
                  <a:pt x="164821" y="0"/>
                </a:moveTo>
                <a:lnTo>
                  <a:pt x="158382" y="0"/>
                </a:lnTo>
                <a:lnTo>
                  <a:pt x="150554" y="7835"/>
                </a:lnTo>
                <a:lnTo>
                  <a:pt x="150554" y="14274"/>
                </a:lnTo>
                <a:lnTo>
                  <a:pt x="248339" y="112052"/>
                </a:lnTo>
                <a:lnTo>
                  <a:pt x="4544" y="112052"/>
                </a:lnTo>
                <a:lnTo>
                  <a:pt x="0" y="116598"/>
                </a:lnTo>
                <a:lnTo>
                  <a:pt x="0" y="127711"/>
                </a:lnTo>
                <a:lnTo>
                  <a:pt x="4544" y="132257"/>
                </a:lnTo>
                <a:lnTo>
                  <a:pt x="248339" y="132257"/>
                </a:lnTo>
                <a:lnTo>
                  <a:pt x="150554" y="230035"/>
                </a:lnTo>
                <a:lnTo>
                  <a:pt x="150554" y="236474"/>
                </a:lnTo>
                <a:lnTo>
                  <a:pt x="158382" y="244309"/>
                </a:lnTo>
                <a:lnTo>
                  <a:pt x="164821" y="244309"/>
                </a:lnTo>
                <a:lnTo>
                  <a:pt x="283751" y="125374"/>
                </a:lnTo>
                <a:lnTo>
                  <a:pt x="283751" y="118935"/>
                </a:lnTo>
                <a:lnTo>
                  <a:pt x="164821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33425" y="3417061"/>
            <a:ext cx="283845" cy="244475"/>
          </a:xfrm>
          <a:custGeom>
            <a:avLst/>
            <a:gdLst/>
            <a:ahLst/>
            <a:cxnLst/>
            <a:rect l="l" t="t" r="r" b="b"/>
            <a:pathLst>
              <a:path w="283844" h="244475">
                <a:moveTo>
                  <a:pt x="164821" y="0"/>
                </a:moveTo>
                <a:lnTo>
                  <a:pt x="158382" y="0"/>
                </a:lnTo>
                <a:lnTo>
                  <a:pt x="150554" y="7823"/>
                </a:lnTo>
                <a:lnTo>
                  <a:pt x="150554" y="14262"/>
                </a:lnTo>
                <a:lnTo>
                  <a:pt x="248339" y="112039"/>
                </a:lnTo>
                <a:lnTo>
                  <a:pt x="4544" y="112039"/>
                </a:lnTo>
                <a:lnTo>
                  <a:pt x="0" y="116586"/>
                </a:lnTo>
                <a:lnTo>
                  <a:pt x="0" y="127698"/>
                </a:lnTo>
                <a:lnTo>
                  <a:pt x="4544" y="132245"/>
                </a:lnTo>
                <a:lnTo>
                  <a:pt x="248339" y="132245"/>
                </a:lnTo>
                <a:lnTo>
                  <a:pt x="150554" y="230022"/>
                </a:lnTo>
                <a:lnTo>
                  <a:pt x="150554" y="236461"/>
                </a:lnTo>
                <a:lnTo>
                  <a:pt x="158382" y="244297"/>
                </a:lnTo>
                <a:lnTo>
                  <a:pt x="164821" y="244297"/>
                </a:lnTo>
                <a:lnTo>
                  <a:pt x="283751" y="125361"/>
                </a:lnTo>
                <a:lnTo>
                  <a:pt x="283751" y="118922"/>
                </a:lnTo>
                <a:lnTo>
                  <a:pt x="164821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33425" y="4502899"/>
            <a:ext cx="283845" cy="244475"/>
          </a:xfrm>
          <a:custGeom>
            <a:avLst/>
            <a:gdLst/>
            <a:ahLst/>
            <a:cxnLst/>
            <a:rect l="l" t="t" r="r" b="b"/>
            <a:pathLst>
              <a:path w="283844" h="244475">
                <a:moveTo>
                  <a:pt x="164821" y="0"/>
                </a:moveTo>
                <a:lnTo>
                  <a:pt x="158382" y="0"/>
                </a:lnTo>
                <a:lnTo>
                  <a:pt x="150554" y="7835"/>
                </a:lnTo>
                <a:lnTo>
                  <a:pt x="150554" y="14274"/>
                </a:lnTo>
                <a:lnTo>
                  <a:pt x="248339" y="112052"/>
                </a:lnTo>
                <a:lnTo>
                  <a:pt x="4544" y="112052"/>
                </a:lnTo>
                <a:lnTo>
                  <a:pt x="0" y="116598"/>
                </a:lnTo>
                <a:lnTo>
                  <a:pt x="0" y="127711"/>
                </a:lnTo>
                <a:lnTo>
                  <a:pt x="4544" y="132257"/>
                </a:lnTo>
                <a:lnTo>
                  <a:pt x="248339" y="132257"/>
                </a:lnTo>
                <a:lnTo>
                  <a:pt x="150554" y="230035"/>
                </a:lnTo>
                <a:lnTo>
                  <a:pt x="150554" y="236474"/>
                </a:lnTo>
                <a:lnTo>
                  <a:pt x="158382" y="244309"/>
                </a:lnTo>
                <a:lnTo>
                  <a:pt x="164821" y="244309"/>
                </a:lnTo>
                <a:lnTo>
                  <a:pt x="283751" y="125374"/>
                </a:lnTo>
                <a:lnTo>
                  <a:pt x="283751" y="118935"/>
                </a:lnTo>
                <a:lnTo>
                  <a:pt x="164821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33425" y="5588761"/>
            <a:ext cx="283845" cy="244475"/>
          </a:xfrm>
          <a:custGeom>
            <a:avLst/>
            <a:gdLst/>
            <a:ahLst/>
            <a:cxnLst/>
            <a:rect l="l" t="t" r="r" b="b"/>
            <a:pathLst>
              <a:path w="283844" h="244475">
                <a:moveTo>
                  <a:pt x="164821" y="0"/>
                </a:moveTo>
                <a:lnTo>
                  <a:pt x="158382" y="0"/>
                </a:lnTo>
                <a:lnTo>
                  <a:pt x="150554" y="7823"/>
                </a:lnTo>
                <a:lnTo>
                  <a:pt x="150554" y="14262"/>
                </a:lnTo>
                <a:lnTo>
                  <a:pt x="248339" y="112039"/>
                </a:lnTo>
                <a:lnTo>
                  <a:pt x="4544" y="112039"/>
                </a:lnTo>
                <a:lnTo>
                  <a:pt x="0" y="116586"/>
                </a:lnTo>
                <a:lnTo>
                  <a:pt x="0" y="127698"/>
                </a:lnTo>
                <a:lnTo>
                  <a:pt x="4544" y="132245"/>
                </a:lnTo>
                <a:lnTo>
                  <a:pt x="248339" y="132245"/>
                </a:lnTo>
                <a:lnTo>
                  <a:pt x="150554" y="230022"/>
                </a:lnTo>
                <a:lnTo>
                  <a:pt x="150554" y="236461"/>
                </a:lnTo>
                <a:lnTo>
                  <a:pt x="158382" y="244297"/>
                </a:lnTo>
                <a:lnTo>
                  <a:pt x="164821" y="244297"/>
                </a:lnTo>
                <a:lnTo>
                  <a:pt x="283751" y="125361"/>
                </a:lnTo>
                <a:lnTo>
                  <a:pt x="283751" y="118922"/>
                </a:lnTo>
                <a:lnTo>
                  <a:pt x="164821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33425" y="6674609"/>
            <a:ext cx="283845" cy="244475"/>
          </a:xfrm>
          <a:custGeom>
            <a:avLst/>
            <a:gdLst/>
            <a:ahLst/>
            <a:cxnLst/>
            <a:rect l="l" t="t" r="r" b="b"/>
            <a:pathLst>
              <a:path w="283844" h="244475">
                <a:moveTo>
                  <a:pt x="164821" y="0"/>
                </a:moveTo>
                <a:lnTo>
                  <a:pt x="158382" y="0"/>
                </a:lnTo>
                <a:lnTo>
                  <a:pt x="150554" y="7824"/>
                </a:lnTo>
                <a:lnTo>
                  <a:pt x="150554" y="14263"/>
                </a:lnTo>
                <a:lnTo>
                  <a:pt x="248339" y="112048"/>
                </a:lnTo>
                <a:lnTo>
                  <a:pt x="4544" y="112048"/>
                </a:lnTo>
                <a:lnTo>
                  <a:pt x="0" y="116592"/>
                </a:lnTo>
                <a:lnTo>
                  <a:pt x="0" y="127699"/>
                </a:lnTo>
                <a:lnTo>
                  <a:pt x="4544" y="132248"/>
                </a:lnTo>
                <a:lnTo>
                  <a:pt x="248339" y="132248"/>
                </a:lnTo>
                <a:lnTo>
                  <a:pt x="150554" y="230028"/>
                </a:lnTo>
                <a:lnTo>
                  <a:pt x="150554" y="236468"/>
                </a:lnTo>
                <a:lnTo>
                  <a:pt x="158382" y="244297"/>
                </a:lnTo>
                <a:lnTo>
                  <a:pt x="164821" y="244297"/>
                </a:lnTo>
                <a:lnTo>
                  <a:pt x="279836" y="129282"/>
                </a:lnTo>
                <a:lnTo>
                  <a:pt x="283751" y="125368"/>
                </a:lnTo>
                <a:lnTo>
                  <a:pt x="283751" y="118929"/>
                </a:lnTo>
                <a:lnTo>
                  <a:pt x="164821" y="0"/>
                </a:lnTo>
                <a:close/>
              </a:path>
            </a:pathLst>
          </a:custGeom>
          <a:solidFill>
            <a:srgbClr val="E2E6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47353" y="1434699"/>
            <a:ext cx="9731375" cy="5883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SGBD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garantiza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que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sean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correctos,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consistentes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válidos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todo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0">
                <a:solidFill>
                  <a:srgbClr val="E2E6E9"/>
                </a:solidFill>
                <a:latin typeface="Cambria"/>
                <a:cs typeface="Cambria"/>
              </a:rPr>
              <a:t>momento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mediante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múltiples 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mecanismos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control.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4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</a:pPr>
            <a:r>
              <a:rPr dirty="0" sz="1850" spc="95">
                <a:solidFill>
                  <a:srgbClr val="E2E6E9"/>
                </a:solidFill>
                <a:latin typeface="Cambria"/>
                <a:cs typeface="Cambria"/>
              </a:rPr>
              <a:t>Restricciones</a:t>
            </a:r>
            <a:r>
              <a:rPr dirty="0" sz="18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90">
                <a:solidFill>
                  <a:srgbClr val="E2E6E9"/>
                </a:solidFill>
                <a:latin typeface="Cambria"/>
                <a:cs typeface="Cambria"/>
              </a:rPr>
              <a:t>Entidad</a:t>
            </a:r>
            <a:endParaRPr sz="18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  <a:spcBef>
                <a:spcPts val="1330"/>
              </a:spcBef>
            </a:pPr>
            <a:r>
              <a:rPr dirty="0" sz="1450" spc="130">
                <a:solidFill>
                  <a:srgbClr val="E2E6E9"/>
                </a:solidFill>
                <a:latin typeface="Cambria"/>
                <a:cs typeface="Cambria"/>
              </a:rPr>
              <a:t>La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clave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primaria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no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puede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ser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nula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ni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duplicada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4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</a:pPr>
            <a:r>
              <a:rPr dirty="0" sz="1850" spc="95">
                <a:solidFill>
                  <a:srgbClr val="E2E6E9"/>
                </a:solidFill>
                <a:latin typeface="Cambria"/>
                <a:cs typeface="Cambria"/>
              </a:rPr>
              <a:t>Integridad</a:t>
            </a:r>
            <a:r>
              <a:rPr dirty="0" sz="1850" spc="7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0">
                <a:solidFill>
                  <a:srgbClr val="E2E6E9"/>
                </a:solidFill>
                <a:latin typeface="Cambria"/>
                <a:cs typeface="Cambria"/>
              </a:rPr>
              <a:t>Referencial</a:t>
            </a:r>
            <a:endParaRPr sz="18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  <a:spcBef>
                <a:spcPts val="1330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Las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claves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foráneas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deben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apuntar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registros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existentes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4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</a:pPr>
            <a:r>
              <a:rPr dirty="0" sz="1850" spc="95">
                <a:solidFill>
                  <a:srgbClr val="E2E6E9"/>
                </a:solidFill>
                <a:latin typeface="Cambria"/>
                <a:cs typeface="Cambria"/>
              </a:rPr>
              <a:t>Restricciones</a:t>
            </a:r>
            <a:r>
              <a:rPr dirty="0" sz="18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35">
                <a:solidFill>
                  <a:srgbClr val="E2E6E9"/>
                </a:solidFill>
                <a:latin typeface="Cambria"/>
                <a:cs typeface="Cambria"/>
              </a:rPr>
              <a:t>Dominio</a:t>
            </a:r>
            <a:endParaRPr sz="18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  <a:spcBef>
                <a:spcPts val="1330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Los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valores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deben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pertenecer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un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conjunto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válido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definido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4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</a:pPr>
            <a:r>
              <a:rPr dirty="0" sz="1850" spc="105">
                <a:solidFill>
                  <a:srgbClr val="E2E6E9"/>
                </a:solidFill>
                <a:latin typeface="Cambria"/>
                <a:cs typeface="Cambria"/>
              </a:rPr>
              <a:t>Triggers</a:t>
            </a:r>
            <a:endParaRPr sz="18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  <a:spcBef>
                <a:spcPts val="1330"/>
              </a:spcBef>
            </a:pP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Reglas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automáticas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antes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o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después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operaciones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5">
                <a:solidFill>
                  <a:srgbClr val="E2E6E9"/>
                </a:solidFill>
                <a:latin typeface="Cambria"/>
                <a:cs typeface="Cambria"/>
              </a:rPr>
              <a:t>DML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4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</a:pPr>
            <a:r>
              <a:rPr dirty="0" sz="1850" spc="105">
                <a:solidFill>
                  <a:srgbClr val="E2E6E9"/>
                </a:solidFill>
                <a:latin typeface="Cambria"/>
                <a:cs typeface="Cambria"/>
              </a:rPr>
              <a:t>Procedimientos</a:t>
            </a:r>
            <a:r>
              <a:rPr dirty="0" sz="18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Almacenados</a:t>
            </a:r>
            <a:endParaRPr sz="1850">
              <a:latin typeface="Cambria"/>
              <a:cs typeface="Cambria"/>
            </a:endParaRPr>
          </a:p>
          <a:p>
            <a:pPr marL="625475">
              <a:lnSpc>
                <a:spcPct val="100000"/>
              </a:lnSpc>
              <a:spcBef>
                <a:spcPts val="1330"/>
              </a:spcBef>
            </a:pP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Lógica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negocio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encapsulada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dentro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SGBD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10" name="object 10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3738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200900"/>
          </a:xfrm>
          <a:custGeom>
            <a:avLst/>
            <a:gdLst/>
            <a:ahLst/>
            <a:cxnLst/>
            <a:rect l="l" t="t" r="r" b="b"/>
            <a:pathLst>
              <a:path w="11430000" h="7200900">
                <a:moveTo>
                  <a:pt x="11430000" y="0"/>
                </a:moveTo>
                <a:lnTo>
                  <a:pt x="0" y="0"/>
                </a:lnTo>
                <a:lnTo>
                  <a:pt x="0" y="7200900"/>
                </a:lnTo>
                <a:lnTo>
                  <a:pt x="11430000" y="7200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35"/>
              <a:t>Seguridad</a:t>
            </a:r>
            <a:r>
              <a:rPr dirty="0" spc="65"/>
              <a:t> </a:t>
            </a:r>
            <a:r>
              <a:rPr dirty="0" spc="295"/>
              <a:t>y</a:t>
            </a:r>
            <a:r>
              <a:rPr dirty="0" spc="70"/>
              <a:t> </a:t>
            </a:r>
            <a:r>
              <a:rPr dirty="0" spc="204"/>
              <a:t>Concurrencia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23875" y="1390649"/>
            <a:ext cx="5095875" cy="5295900"/>
            <a:chOff x="523875" y="1390649"/>
            <a:chExt cx="5095875" cy="5295900"/>
          </a:xfrm>
        </p:grpSpPr>
        <p:sp>
          <p:nvSpPr>
            <p:cNvPr id="5" name="object 5" descr=""/>
            <p:cNvSpPr/>
            <p:nvPr/>
          </p:nvSpPr>
          <p:spPr>
            <a:xfrm>
              <a:off x="523875" y="1390649"/>
              <a:ext cx="5095875" cy="5295900"/>
            </a:xfrm>
            <a:custGeom>
              <a:avLst/>
              <a:gdLst/>
              <a:ahLst/>
              <a:cxnLst/>
              <a:rect l="l" t="t" r="r" b="b"/>
              <a:pathLst>
                <a:path w="5095875" h="5295900">
                  <a:moveTo>
                    <a:pt x="4990147" y="0"/>
                  </a:moveTo>
                  <a:lnTo>
                    <a:pt x="105727" y="0"/>
                  </a:lnTo>
                  <a:lnTo>
                    <a:pt x="98370" y="723"/>
                  </a:lnTo>
                  <a:lnTo>
                    <a:pt x="56470" y="14947"/>
                  </a:lnTo>
                  <a:lnTo>
                    <a:pt x="23197" y="44119"/>
                  </a:lnTo>
                  <a:lnTo>
                    <a:pt x="3622" y="83794"/>
                  </a:lnTo>
                  <a:lnTo>
                    <a:pt x="0" y="105727"/>
                  </a:lnTo>
                  <a:lnTo>
                    <a:pt x="0" y="5182741"/>
                  </a:lnTo>
                  <a:lnTo>
                    <a:pt x="0" y="5190173"/>
                  </a:lnTo>
                  <a:lnTo>
                    <a:pt x="11455" y="5232906"/>
                  </a:lnTo>
                  <a:lnTo>
                    <a:pt x="38397" y="5268010"/>
                  </a:lnTo>
                  <a:lnTo>
                    <a:pt x="76715" y="5290126"/>
                  </a:lnTo>
                  <a:lnTo>
                    <a:pt x="105727" y="5295896"/>
                  </a:lnTo>
                  <a:lnTo>
                    <a:pt x="4990147" y="5295896"/>
                  </a:lnTo>
                  <a:lnTo>
                    <a:pt x="5032883" y="5284440"/>
                  </a:lnTo>
                  <a:lnTo>
                    <a:pt x="5067985" y="5257502"/>
                  </a:lnTo>
                  <a:lnTo>
                    <a:pt x="5090109" y="5219180"/>
                  </a:lnTo>
                  <a:lnTo>
                    <a:pt x="5095875" y="5190173"/>
                  </a:lnTo>
                  <a:lnTo>
                    <a:pt x="5095875" y="105727"/>
                  </a:lnTo>
                  <a:lnTo>
                    <a:pt x="5084419" y="62992"/>
                  </a:lnTo>
                  <a:lnTo>
                    <a:pt x="5057482" y="27889"/>
                  </a:lnTo>
                  <a:lnTo>
                    <a:pt x="5019154" y="5765"/>
                  </a:lnTo>
                  <a:lnTo>
                    <a:pt x="4997500" y="723"/>
                  </a:lnTo>
                  <a:lnTo>
                    <a:pt x="4990147" y="0"/>
                  </a:lnTo>
                  <a:close/>
                </a:path>
              </a:pathLst>
            </a:custGeom>
            <a:solidFill>
              <a:srgbClr val="031837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" y="2191270"/>
              <a:ext cx="95250" cy="9525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00186" y="1540960"/>
            <a:ext cx="1822450" cy="11099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361950" algn="l"/>
              </a:tabLst>
            </a:pP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850" spc="105">
                <a:solidFill>
                  <a:srgbClr val="F5F0F0"/>
                </a:solidFill>
                <a:latin typeface="Cambria"/>
                <a:cs typeface="Cambria"/>
              </a:rPr>
              <a:t>Seguridad</a:t>
            </a:r>
            <a:endParaRPr sz="1850">
              <a:latin typeface="Cambria"/>
              <a:cs typeface="Cambria"/>
            </a:endParaRPr>
          </a:p>
          <a:p>
            <a:pPr marL="295275" marR="5080" indent="-635">
              <a:lnSpc>
                <a:spcPct val="137900"/>
              </a:lnSpc>
              <a:spcBef>
                <a:spcPts val="1420"/>
              </a:spcBef>
            </a:pP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Autenticación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de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usuarios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14375" y="2191270"/>
            <a:ext cx="2571750" cy="1076325"/>
            <a:chOff x="714375" y="2191270"/>
            <a:chExt cx="2571750" cy="107632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0875" y="2191270"/>
              <a:ext cx="95250" cy="952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75" y="3172345"/>
              <a:ext cx="95250" cy="952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0875" y="3172345"/>
              <a:ext cx="95250" cy="9525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460305" y="2015725"/>
            <a:ext cx="1566545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-635">
              <a:lnSpc>
                <a:spcPct val="137900"/>
              </a:lnSpc>
              <a:spcBef>
                <a:spcPts val="90"/>
              </a:spcBef>
            </a:pP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Autorización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con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GRANT/REVOKE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82959" y="2996800"/>
            <a:ext cx="176657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Cifrado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reposo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y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tránsito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60305" y="2996800"/>
            <a:ext cx="112903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-635">
              <a:lnSpc>
                <a:spcPct val="137900"/>
              </a:lnSpc>
              <a:spcBef>
                <a:spcPts val="90"/>
              </a:spcBef>
            </a:pP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Auditoría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de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operaciones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41758" y="1528529"/>
            <a:ext cx="1892300" cy="3365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61950" algn="l"/>
              </a:tabLst>
            </a:pPr>
            <a:r>
              <a:rPr dirty="0" sz="2000" spc="-880">
                <a:latin typeface="Times New Roman"/>
                <a:cs typeface="Times New Roman"/>
              </a:rPr>
              <a:t>¿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1850" spc="95">
                <a:solidFill>
                  <a:srgbClr val="F5F0F0"/>
                </a:solidFill>
                <a:latin typeface="Cambria"/>
                <a:cs typeface="Cambria"/>
              </a:rPr>
              <a:t>Concurrencia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953125" y="2085974"/>
            <a:ext cx="2324100" cy="2695575"/>
            <a:chOff x="5953125" y="2085974"/>
            <a:chExt cx="2324100" cy="2695575"/>
          </a:xfrm>
        </p:grpSpPr>
        <p:sp>
          <p:nvSpPr>
            <p:cNvPr id="17" name="object 17" descr=""/>
            <p:cNvSpPr/>
            <p:nvPr/>
          </p:nvSpPr>
          <p:spPr>
            <a:xfrm>
              <a:off x="5962650" y="2095499"/>
              <a:ext cx="2305050" cy="2676525"/>
            </a:xfrm>
            <a:custGeom>
              <a:avLst/>
              <a:gdLst/>
              <a:ahLst/>
              <a:cxnLst/>
              <a:rect l="l" t="t" r="r" b="b"/>
              <a:pathLst>
                <a:path w="2305050" h="2676525">
                  <a:moveTo>
                    <a:pt x="2252281" y="0"/>
                  </a:moveTo>
                  <a:lnTo>
                    <a:pt x="52768" y="0"/>
                  </a:lnTo>
                  <a:lnTo>
                    <a:pt x="49098" y="368"/>
                  </a:lnTo>
                  <a:lnTo>
                    <a:pt x="13919" y="19164"/>
                  </a:lnTo>
                  <a:lnTo>
                    <a:pt x="0" y="52781"/>
                  </a:lnTo>
                  <a:lnTo>
                    <a:pt x="0" y="2620035"/>
                  </a:lnTo>
                  <a:lnTo>
                    <a:pt x="0" y="2623756"/>
                  </a:lnTo>
                  <a:lnTo>
                    <a:pt x="19164" y="2662605"/>
                  </a:lnTo>
                  <a:lnTo>
                    <a:pt x="52768" y="2676525"/>
                  </a:lnTo>
                  <a:lnTo>
                    <a:pt x="2252281" y="2676525"/>
                  </a:lnTo>
                  <a:lnTo>
                    <a:pt x="2291130" y="2657360"/>
                  </a:lnTo>
                  <a:lnTo>
                    <a:pt x="2305050" y="2623756"/>
                  </a:lnTo>
                  <a:lnTo>
                    <a:pt x="2305050" y="52781"/>
                  </a:lnTo>
                  <a:lnTo>
                    <a:pt x="2285885" y="13919"/>
                  </a:lnTo>
                  <a:lnTo>
                    <a:pt x="2255951" y="368"/>
                  </a:lnTo>
                  <a:lnTo>
                    <a:pt x="2252281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962650" y="2095499"/>
              <a:ext cx="2305050" cy="2676525"/>
            </a:xfrm>
            <a:custGeom>
              <a:avLst/>
              <a:gdLst/>
              <a:ahLst/>
              <a:cxnLst/>
              <a:rect l="l" t="t" r="r" b="b"/>
              <a:pathLst>
                <a:path w="2305050" h="2676525">
                  <a:moveTo>
                    <a:pt x="0" y="2620035"/>
                  </a:moveTo>
                  <a:lnTo>
                    <a:pt x="0" y="56476"/>
                  </a:lnTo>
                  <a:lnTo>
                    <a:pt x="0" y="52781"/>
                  </a:lnTo>
                  <a:lnTo>
                    <a:pt x="368" y="49098"/>
                  </a:lnTo>
                  <a:lnTo>
                    <a:pt x="1092" y="45466"/>
                  </a:lnTo>
                  <a:lnTo>
                    <a:pt x="1803" y="41821"/>
                  </a:lnTo>
                  <a:lnTo>
                    <a:pt x="2882" y="38290"/>
                  </a:lnTo>
                  <a:lnTo>
                    <a:pt x="4292" y="34861"/>
                  </a:lnTo>
                  <a:lnTo>
                    <a:pt x="5715" y="31432"/>
                  </a:lnTo>
                  <a:lnTo>
                    <a:pt x="7454" y="28181"/>
                  </a:lnTo>
                  <a:lnTo>
                    <a:pt x="9525" y="25107"/>
                  </a:lnTo>
                  <a:lnTo>
                    <a:pt x="11582" y="22021"/>
                  </a:lnTo>
                  <a:lnTo>
                    <a:pt x="45466" y="1079"/>
                  </a:lnTo>
                  <a:lnTo>
                    <a:pt x="52768" y="0"/>
                  </a:lnTo>
                  <a:lnTo>
                    <a:pt x="56489" y="0"/>
                  </a:lnTo>
                  <a:lnTo>
                    <a:pt x="2248560" y="0"/>
                  </a:lnTo>
                  <a:lnTo>
                    <a:pt x="2252281" y="0"/>
                  </a:lnTo>
                  <a:lnTo>
                    <a:pt x="2255951" y="368"/>
                  </a:lnTo>
                  <a:lnTo>
                    <a:pt x="2291130" y="19164"/>
                  </a:lnTo>
                  <a:lnTo>
                    <a:pt x="2295525" y="25107"/>
                  </a:lnTo>
                  <a:lnTo>
                    <a:pt x="2297595" y="28181"/>
                  </a:lnTo>
                  <a:lnTo>
                    <a:pt x="2299335" y="31432"/>
                  </a:lnTo>
                  <a:lnTo>
                    <a:pt x="2300744" y="34861"/>
                  </a:lnTo>
                  <a:lnTo>
                    <a:pt x="2302167" y="38290"/>
                  </a:lnTo>
                  <a:lnTo>
                    <a:pt x="2303233" y="41821"/>
                  </a:lnTo>
                  <a:lnTo>
                    <a:pt x="2303957" y="45466"/>
                  </a:lnTo>
                  <a:lnTo>
                    <a:pt x="2304681" y="49098"/>
                  </a:lnTo>
                  <a:lnTo>
                    <a:pt x="2305050" y="52781"/>
                  </a:lnTo>
                  <a:lnTo>
                    <a:pt x="2305050" y="56476"/>
                  </a:lnTo>
                  <a:lnTo>
                    <a:pt x="2305050" y="2620035"/>
                  </a:lnTo>
                  <a:lnTo>
                    <a:pt x="2305050" y="2623756"/>
                  </a:lnTo>
                  <a:lnTo>
                    <a:pt x="2304681" y="2627426"/>
                  </a:lnTo>
                  <a:lnTo>
                    <a:pt x="2303957" y="2631059"/>
                  </a:lnTo>
                  <a:lnTo>
                    <a:pt x="2303233" y="2634691"/>
                  </a:lnTo>
                  <a:lnTo>
                    <a:pt x="2302167" y="2638221"/>
                  </a:lnTo>
                  <a:lnTo>
                    <a:pt x="2300744" y="2641650"/>
                  </a:lnTo>
                  <a:lnTo>
                    <a:pt x="2299335" y="2645079"/>
                  </a:lnTo>
                  <a:lnTo>
                    <a:pt x="2297595" y="2648343"/>
                  </a:lnTo>
                  <a:lnTo>
                    <a:pt x="2295525" y="2651429"/>
                  </a:lnTo>
                  <a:lnTo>
                    <a:pt x="2293467" y="2654503"/>
                  </a:lnTo>
                  <a:lnTo>
                    <a:pt x="2291130" y="2657360"/>
                  </a:lnTo>
                  <a:lnTo>
                    <a:pt x="2288501" y="2659976"/>
                  </a:lnTo>
                  <a:lnTo>
                    <a:pt x="2285885" y="2662605"/>
                  </a:lnTo>
                  <a:lnTo>
                    <a:pt x="2283028" y="2664942"/>
                  </a:lnTo>
                  <a:lnTo>
                    <a:pt x="2279942" y="2667000"/>
                  </a:lnTo>
                  <a:lnTo>
                    <a:pt x="2276856" y="2669070"/>
                  </a:lnTo>
                  <a:lnTo>
                    <a:pt x="2273604" y="2670810"/>
                  </a:lnTo>
                  <a:lnTo>
                    <a:pt x="2270175" y="2672219"/>
                  </a:lnTo>
                  <a:lnTo>
                    <a:pt x="2266746" y="2673642"/>
                  </a:lnTo>
                  <a:lnTo>
                    <a:pt x="2263228" y="2674708"/>
                  </a:lnTo>
                  <a:lnTo>
                    <a:pt x="2259584" y="2675445"/>
                  </a:lnTo>
                  <a:lnTo>
                    <a:pt x="2255951" y="2676169"/>
                  </a:lnTo>
                  <a:lnTo>
                    <a:pt x="2252281" y="2676525"/>
                  </a:lnTo>
                  <a:lnTo>
                    <a:pt x="2248560" y="2676525"/>
                  </a:lnTo>
                  <a:lnTo>
                    <a:pt x="56489" y="2676525"/>
                  </a:lnTo>
                  <a:lnTo>
                    <a:pt x="52768" y="2676525"/>
                  </a:lnTo>
                  <a:lnTo>
                    <a:pt x="49098" y="2676169"/>
                  </a:lnTo>
                  <a:lnTo>
                    <a:pt x="45466" y="2675445"/>
                  </a:lnTo>
                  <a:lnTo>
                    <a:pt x="41821" y="2674708"/>
                  </a:lnTo>
                  <a:lnTo>
                    <a:pt x="38290" y="2673642"/>
                  </a:lnTo>
                  <a:lnTo>
                    <a:pt x="34861" y="2672219"/>
                  </a:lnTo>
                  <a:lnTo>
                    <a:pt x="31445" y="2670810"/>
                  </a:lnTo>
                  <a:lnTo>
                    <a:pt x="28181" y="2669070"/>
                  </a:lnTo>
                  <a:lnTo>
                    <a:pt x="25107" y="2667000"/>
                  </a:lnTo>
                  <a:lnTo>
                    <a:pt x="22021" y="2664942"/>
                  </a:lnTo>
                  <a:lnTo>
                    <a:pt x="19164" y="2662605"/>
                  </a:lnTo>
                  <a:lnTo>
                    <a:pt x="16548" y="2659976"/>
                  </a:lnTo>
                  <a:lnTo>
                    <a:pt x="13919" y="2657360"/>
                  </a:lnTo>
                  <a:lnTo>
                    <a:pt x="11582" y="2654503"/>
                  </a:lnTo>
                  <a:lnTo>
                    <a:pt x="9525" y="2651417"/>
                  </a:lnTo>
                  <a:lnTo>
                    <a:pt x="7454" y="2648343"/>
                  </a:lnTo>
                  <a:lnTo>
                    <a:pt x="1092" y="2631059"/>
                  </a:lnTo>
                  <a:lnTo>
                    <a:pt x="368" y="2627426"/>
                  </a:lnTo>
                  <a:lnTo>
                    <a:pt x="0" y="2623756"/>
                  </a:lnTo>
                  <a:lnTo>
                    <a:pt x="0" y="2620035"/>
                  </a:lnTo>
                  <a:close/>
                </a:path>
              </a:pathLst>
            </a:custGeom>
            <a:ln w="19050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149189" y="2266156"/>
            <a:ext cx="1889760" cy="1670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829944">
              <a:lnSpc>
                <a:spcPct val="104700"/>
              </a:lnSpc>
            </a:pP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Bloqueos </a:t>
            </a:r>
            <a:r>
              <a:rPr dirty="0" sz="1850" spc="70">
                <a:solidFill>
                  <a:srgbClr val="E2E6E9"/>
                </a:solidFill>
                <a:latin typeface="Cambria"/>
                <a:cs typeface="Cambria"/>
              </a:rPr>
              <a:t>(Locks)</a:t>
            </a:r>
            <a:endParaRPr sz="1850">
              <a:latin typeface="Cambria"/>
              <a:cs typeface="Cambria"/>
            </a:endParaRPr>
          </a:p>
          <a:p>
            <a:pPr marL="12700" marR="5080" indent="-635">
              <a:lnSpc>
                <a:spcPct val="137900"/>
              </a:lnSpc>
              <a:spcBef>
                <a:spcPts val="1195"/>
              </a:spcBef>
            </a:pP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fila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tabla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para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controlar</a:t>
            </a:r>
            <a:r>
              <a:rPr dirty="0" sz="1450" spc="50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acceso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simultáneo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458200" y="2085974"/>
            <a:ext cx="2324100" cy="2695575"/>
            <a:chOff x="8458200" y="2085974"/>
            <a:chExt cx="2324100" cy="2695575"/>
          </a:xfrm>
        </p:grpSpPr>
        <p:sp>
          <p:nvSpPr>
            <p:cNvPr id="21" name="object 21" descr=""/>
            <p:cNvSpPr/>
            <p:nvPr/>
          </p:nvSpPr>
          <p:spPr>
            <a:xfrm>
              <a:off x="8467725" y="2095499"/>
              <a:ext cx="2305050" cy="2676525"/>
            </a:xfrm>
            <a:custGeom>
              <a:avLst/>
              <a:gdLst/>
              <a:ahLst/>
              <a:cxnLst/>
              <a:rect l="l" t="t" r="r" b="b"/>
              <a:pathLst>
                <a:path w="2305050" h="2676525">
                  <a:moveTo>
                    <a:pt x="2252281" y="0"/>
                  </a:moveTo>
                  <a:lnTo>
                    <a:pt x="52768" y="0"/>
                  </a:lnTo>
                  <a:lnTo>
                    <a:pt x="49098" y="368"/>
                  </a:lnTo>
                  <a:lnTo>
                    <a:pt x="13919" y="19164"/>
                  </a:lnTo>
                  <a:lnTo>
                    <a:pt x="0" y="52781"/>
                  </a:lnTo>
                  <a:lnTo>
                    <a:pt x="0" y="2620035"/>
                  </a:lnTo>
                  <a:lnTo>
                    <a:pt x="0" y="2623756"/>
                  </a:lnTo>
                  <a:lnTo>
                    <a:pt x="19164" y="2662605"/>
                  </a:lnTo>
                  <a:lnTo>
                    <a:pt x="52768" y="2676525"/>
                  </a:lnTo>
                  <a:lnTo>
                    <a:pt x="2252281" y="2676525"/>
                  </a:lnTo>
                  <a:lnTo>
                    <a:pt x="2291130" y="2657360"/>
                  </a:lnTo>
                  <a:lnTo>
                    <a:pt x="2305050" y="2623756"/>
                  </a:lnTo>
                  <a:lnTo>
                    <a:pt x="2305050" y="52781"/>
                  </a:lnTo>
                  <a:lnTo>
                    <a:pt x="2285885" y="13919"/>
                  </a:lnTo>
                  <a:lnTo>
                    <a:pt x="2255951" y="368"/>
                  </a:lnTo>
                  <a:lnTo>
                    <a:pt x="2252281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467725" y="2095499"/>
              <a:ext cx="2305050" cy="2676525"/>
            </a:xfrm>
            <a:custGeom>
              <a:avLst/>
              <a:gdLst/>
              <a:ahLst/>
              <a:cxnLst/>
              <a:rect l="l" t="t" r="r" b="b"/>
              <a:pathLst>
                <a:path w="2305050" h="2676525">
                  <a:moveTo>
                    <a:pt x="0" y="2620035"/>
                  </a:moveTo>
                  <a:lnTo>
                    <a:pt x="0" y="56476"/>
                  </a:lnTo>
                  <a:lnTo>
                    <a:pt x="0" y="52781"/>
                  </a:lnTo>
                  <a:lnTo>
                    <a:pt x="368" y="49098"/>
                  </a:lnTo>
                  <a:lnTo>
                    <a:pt x="9525" y="25107"/>
                  </a:lnTo>
                  <a:lnTo>
                    <a:pt x="11582" y="22021"/>
                  </a:lnTo>
                  <a:lnTo>
                    <a:pt x="45466" y="1079"/>
                  </a:lnTo>
                  <a:lnTo>
                    <a:pt x="52768" y="0"/>
                  </a:lnTo>
                  <a:lnTo>
                    <a:pt x="56489" y="0"/>
                  </a:lnTo>
                  <a:lnTo>
                    <a:pt x="2248560" y="0"/>
                  </a:lnTo>
                  <a:lnTo>
                    <a:pt x="2252281" y="0"/>
                  </a:lnTo>
                  <a:lnTo>
                    <a:pt x="2255951" y="368"/>
                  </a:lnTo>
                  <a:lnTo>
                    <a:pt x="2288501" y="16535"/>
                  </a:lnTo>
                  <a:lnTo>
                    <a:pt x="2291130" y="19164"/>
                  </a:lnTo>
                  <a:lnTo>
                    <a:pt x="2293467" y="22021"/>
                  </a:lnTo>
                  <a:lnTo>
                    <a:pt x="2295525" y="25107"/>
                  </a:lnTo>
                  <a:lnTo>
                    <a:pt x="2297595" y="28181"/>
                  </a:lnTo>
                  <a:lnTo>
                    <a:pt x="2299335" y="31432"/>
                  </a:lnTo>
                  <a:lnTo>
                    <a:pt x="2300744" y="34861"/>
                  </a:lnTo>
                  <a:lnTo>
                    <a:pt x="2302167" y="38290"/>
                  </a:lnTo>
                  <a:lnTo>
                    <a:pt x="2303233" y="41821"/>
                  </a:lnTo>
                  <a:lnTo>
                    <a:pt x="2303957" y="45466"/>
                  </a:lnTo>
                  <a:lnTo>
                    <a:pt x="2304681" y="49098"/>
                  </a:lnTo>
                  <a:lnTo>
                    <a:pt x="2305050" y="52781"/>
                  </a:lnTo>
                  <a:lnTo>
                    <a:pt x="2305050" y="56476"/>
                  </a:lnTo>
                  <a:lnTo>
                    <a:pt x="2305050" y="2620035"/>
                  </a:lnTo>
                  <a:lnTo>
                    <a:pt x="2305050" y="2623756"/>
                  </a:lnTo>
                  <a:lnTo>
                    <a:pt x="2304681" y="2627426"/>
                  </a:lnTo>
                  <a:lnTo>
                    <a:pt x="2303957" y="2631059"/>
                  </a:lnTo>
                  <a:lnTo>
                    <a:pt x="2303233" y="2634691"/>
                  </a:lnTo>
                  <a:lnTo>
                    <a:pt x="2302167" y="2638221"/>
                  </a:lnTo>
                  <a:lnTo>
                    <a:pt x="2300744" y="2641650"/>
                  </a:lnTo>
                  <a:lnTo>
                    <a:pt x="2299335" y="2645079"/>
                  </a:lnTo>
                  <a:lnTo>
                    <a:pt x="2297595" y="2648343"/>
                  </a:lnTo>
                  <a:lnTo>
                    <a:pt x="2295525" y="2651429"/>
                  </a:lnTo>
                  <a:lnTo>
                    <a:pt x="2293467" y="2654503"/>
                  </a:lnTo>
                  <a:lnTo>
                    <a:pt x="2291130" y="2657360"/>
                  </a:lnTo>
                  <a:lnTo>
                    <a:pt x="2288501" y="2659976"/>
                  </a:lnTo>
                  <a:lnTo>
                    <a:pt x="2285885" y="2662605"/>
                  </a:lnTo>
                  <a:lnTo>
                    <a:pt x="2283028" y="2664942"/>
                  </a:lnTo>
                  <a:lnTo>
                    <a:pt x="2279942" y="2667000"/>
                  </a:lnTo>
                  <a:lnTo>
                    <a:pt x="2276856" y="2669070"/>
                  </a:lnTo>
                  <a:lnTo>
                    <a:pt x="2273604" y="2670810"/>
                  </a:lnTo>
                  <a:lnTo>
                    <a:pt x="2270175" y="2672219"/>
                  </a:lnTo>
                  <a:lnTo>
                    <a:pt x="2266746" y="2673642"/>
                  </a:lnTo>
                  <a:lnTo>
                    <a:pt x="2263228" y="2674708"/>
                  </a:lnTo>
                  <a:lnTo>
                    <a:pt x="2259584" y="2675445"/>
                  </a:lnTo>
                  <a:lnTo>
                    <a:pt x="2255951" y="2676169"/>
                  </a:lnTo>
                  <a:lnTo>
                    <a:pt x="2252281" y="2676525"/>
                  </a:lnTo>
                  <a:lnTo>
                    <a:pt x="2248560" y="2676525"/>
                  </a:lnTo>
                  <a:lnTo>
                    <a:pt x="56489" y="2676525"/>
                  </a:lnTo>
                  <a:lnTo>
                    <a:pt x="52768" y="2676525"/>
                  </a:lnTo>
                  <a:lnTo>
                    <a:pt x="49098" y="2676169"/>
                  </a:lnTo>
                  <a:lnTo>
                    <a:pt x="45466" y="2675445"/>
                  </a:lnTo>
                  <a:lnTo>
                    <a:pt x="41821" y="2674708"/>
                  </a:lnTo>
                  <a:lnTo>
                    <a:pt x="38290" y="2673642"/>
                  </a:lnTo>
                  <a:lnTo>
                    <a:pt x="34861" y="2672219"/>
                  </a:lnTo>
                  <a:lnTo>
                    <a:pt x="31445" y="2670810"/>
                  </a:lnTo>
                  <a:lnTo>
                    <a:pt x="28181" y="2669070"/>
                  </a:lnTo>
                  <a:lnTo>
                    <a:pt x="25107" y="2667000"/>
                  </a:lnTo>
                  <a:lnTo>
                    <a:pt x="22021" y="2664942"/>
                  </a:lnTo>
                  <a:lnTo>
                    <a:pt x="19164" y="2662605"/>
                  </a:lnTo>
                  <a:lnTo>
                    <a:pt x="16548" y="2659976"/>
                  </a:lnTo>
                  <a:lnTo>
                    <a:pt x="13919" y="2657360"/>
                  </a:lnTo>
                  <a:lnTo>
                    <a:pt x="11582" y="2654503"/>
                  </a:lnTo>
                  <a:lnTo>
                    <a:pt x="9525" y="2651417"/>
                  </a:lnTo>
                  <a:lnTo>
                    <a:pt x="7454" y="2648343"/>
                  </a:lnTo>
                  <a:lnTo>
                    <a:pt x="1092" y="2631059"/>
                  </a:lnTo>
                  <a:lnTo>
                    <a:pt x="368" y="2627426"/>
                  </a:lnTo>
                  <a:lnTo>
                    <a:pt x="0" y="2623756"/>
                  </a:lnTo>
                  <a:lnTo>
                    <a:pt x="0" y="2620035"/>
                  </a:lnTo>
                  <a:close/>
                </a:path>
              </a:pathLst>
            </a:custGeom>
            <a:ln w="19050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655853" y="2266156"/>
            <a:ext cx="1787525" cy="2261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600710">
              <a:lnSpc>
                <a:spcPct val="104700"/>
              </a:lnSpc>
            </a:pPr>
            <a:r>
              <a:rPr dirty="0" sz="1850" spc="90">
                <a:solidFill>
                  <a:srgbClr val="E2E6E9"/>
                </a:solidFill>
                <a:latin typeface="Cambria"/>
                <a:cs typeface="Cambria"/>
              </a:rPr>
              <a:t>Control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60">
                <a:solidFill>
                  <a:srgbClr val="E2E6E9"/>
                </a:solidFill>
                <a:latin typeface="Cambria"/>
                <a:cs typeface="Cambria"/>
              </a:rPr>
              <a:t>de </a:t>
            </a:r>
            <a:r>
              <a:rPr dirty="0" sz="1850" spc="70">
                <a:solidFill>
                  <a:srgbClr val="E2E6E9"/>
                </a:solidFill>
                <a:latin typeface="Cambria"/>
                <a:cs typeface="Cambria"/>
              </a:rPr>
              <a:t>Versiones </a:t>
            </a:r>
            <a:r>
              <a:rPr dirty="0" sz="1850" spc="105">
                <a:solidFill>
                  <a:srgbClr val="E2E6E9"/>
                </a:solidFill>
                <a:latin typeface="Cambria"/>
                <a:cs typeface="Cambria"/>
              </a:rPr>
              <a:t>(MVCC)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6500"/>
              </a:lnSpc>
              <a:spcBef>
                <a:spcPts val="122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Múltiples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versiones de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datos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para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lecturas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no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bloqueantes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953125" y="4972050"/>
            <a:ext cx="4829175" cy="1495425"/>
            <a:chOff x="5953125" y="4972050"/>
            <a:chExt cx="4829175" cy="1495425"/>
          </a:xfrm>
        </p:grpSpPr>
        <p:sp>
          <p:nvSpPr>
            <p:cNvPr id="25" name="object 25" descr=""/>
            <p:cNvSpPr/>
            <p:nvPr/>
          </p:nvSpPr>
          <p:spPr>
            <a:xfrm>
              <a:off x="5962650" y="4981575"/>
              <a:ext cx="4810125" cy="1476375"/>
            </a:xfrm>
            <a:custGeom>
              <a:avLst/>
              <a:gdLst/>
              <a:ahLst/>
              <a:cxnLst/>
              <a:rect l="l" t="t" r="r" b="b"/>
              <a:pathLst>
                <a:path w="4810125" h="1476375">
                  <a:moveTo>
                    <a:pt x="4757356" y="0"/>
                  </a:moveTo>
                  <a:lnTo>
                    <a:pt x="52768" y="0"/>
                  </a:lnTo>
                  <a:lnTo>
                    <a:pt x="49098" y="368"/>
                  </a:lnTo>
                  <a:lnTo>
                    <a:pt x="13919" y="19164"/>
                  </a:lnTo>
                  <a:lnTo>
                    <a:pt x="0" y="52781"/>
                  </a:lnTo>
                  <a:lnTo>
                    <a:pt x="0" y="1419890"/>
                  </a:lnTo>
                  <a:lnTo>
                    <a:pt x="0" y="1423601"/>
                  </a:lnTo>
                  <a:lnTo>
                    <a:pt x="19164" y="1462450"/>
                  </a:lnTo>
                  <a:lnTo>
                    <a:pt x="52768" y="1476376"/>
                  </a:lnTo>
                  <a:lnTo>
                    <a:pt x="4757356" y="1476376"/>
                  </a:lnTo>
                  <a:lnTo>
                    <a:pt x="4796205" y="1457206"/>
                  </a:lnTo>
                  <a:lnTo>
                    <a:pt x="4810125" y="1423601"/>
                  </a:lnTo>
                  <a:lnTo>
                    <a:pt x="4810125" y="52781"/>
                  </a:lnTo>
                  <a:lnTo>
                    <a:pt x="4790960" y="13919"/>
                  </a:lnTo>
                  <a:lnTo>
                    <a:pt x="4761026" y="368"/>
                  </a:lnTo>
                  <a:lnTo>
                    <a:pt x="4757356" y="0"/>
                  </a:lnTo>
                  <a:close/>
                </a:path>
              </a:pathLst>
            </a:custGeom>
            <a:solidFill>
              <a:srgbClr val="09151A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962650" y="4981575"/>
              <a:ext cx="4810125" cy="1476375"/>
            </a:xfrm>
            <a:custGeom>
              <a:avLst/>
              <a:gdLst/>
              <a:ahLst/>
              <a:cxnLst/>
              <a:rect l="l" t="t" r="r" b="b"/>
              <a:pathLst>
                <a:path w="4810125" h="1476375">
                  <a:moveTo>
                    <a:pt x="0" y="1419890"/>
                  </a:moveTo>
                  <a:lnTo>
                    <a:pt x="0" y="56476"/>
                  </a:lnTo>
                  <a:lnTo>
                    <a:pt x="0" y="52781"/>
                  </a:lnTo>
                  <a:lnTo>
                    <a:pt x="368" y="49098"/>
                  </a:lnTo>
                  <a:lnTo>
                    <a:pt x="1092" y="45466"/>
                  </a:lnTo>
                  <a:lnTo>
                    <a:pt x="1803" y="41821"/>
                  </a:lnTo>
                  <a:lnTo>
                    <a:pt x="2882" y="38290"/>
                  </a:lnTo>
                  <a:lnTo>
                    <a:pt x="4292" y="34861"/>
                  </a:lnTo>
                  <a:lnTo>
                    <a:pt x="5715" y="31432"/>
                  </a:lnTo>
                  <a:lnTo>
                    <a:pt x="7454" y="28181"/>
                  </a:lnTo>
                  <a:lnTo>
                    <a:pt x="9525" y="25107"/>
                  </a:lnTo>
                  <a:lnTo>
                    <a:pt x="11582" y="22021"/>
                  </a:lnTo>
                  <a:lnTo>
                    <a:pt x="45466" y="1079"/>
                  </a:lnTo>
                  <a:lnTo>
                    <a:pt x="52768" y="0"/>
                  </a:lnTo>
                  <a:lnTo>
                    <a:pt x="56489" y="0"/>
                  </a:lnTo>
                  <a:lnTo>
                    <a:pt x="4753635" y="0"/>
                  </a:lnTo>
                  <a:lnTo>
                    <a:pt x="4757356" y="0"/>
                  </a:lnTo>
                  <a:lnTo>
                    <a:pt x="4761026" y="368"/>
                  </a:lnTo>
                  <a:lnTo>
                    <a:pt x="4793576" y="16535"/>
                  </a:lnTo>
                  <a:lnTo>
                    <a:pt x="4796205" y="19164"/>
                  </a:lnTo>
                  <a:lnTo>
                    <a:pt x="4798542" y="22021"/>
                  </a:lnTo>
                  <a:lnTo>
                    <a:pt x="4800600" y="25107"/>
                  </a:lnTo>
                  <a:lnTo>
                    <a:pt x="4802670" y="28181"/>
                  </a:lnTo>
                  <a:lnTo>
                    <a:pt x="4804410" y="31432"/>
                  </a:lnTo>
                  <a:lnTo>
                    <a:pt x="4805819" y="34861"/>
                  </a:lnTo>
                  <a:lnTo>
                    <a:pt x="4807242" y="38290"/>
                  </a:lnTo>
                  <a:lnTo>
                    <a:pt x="4808308" y="41821"/>
                  </a:lnTo>
                  <a:lnTo>
                    <a:pt x="4809032" y="45466"/>
                  </a:lnTo>
                  <a:lnTo>
                    <a:pt x="4809756" y="49098"/>
                  </a:lnTo>
                  <a:lnTo>
                    <a:pt x="4810125" y="52781"/>
                  </a:lnTo>
                  <a:lnTo>
                    <a:pt x="4810125" y="56476"/>
                  </a:lnTo>
                  <a:lnTo>
                    <a:pt x="4810125" y="1419890"/>
                  </a:lnTo>
                  <a:lnTo>
                    <a:pt x="4810125" y="1423601"/>
                  </a:lnTo>
                  <a:lnTo>
                    <a:pt x="4809756" y="1427273"/>
                  </a:lnTo>
                  <a:lnTo>
                    <a:pt x="4809032" y="1430909"/>
                  </a:lnTo>
                  <a:lnTo>
                    <a:pt x="4808308" y="1434545"/>
                  </a:lnTo>
                  <a:lnTo>
                    <a:pt x="4807242" y="1438078"/>
                  </a:lnTo>
                  <a:lnTo>
                    <a:pt x="4805819" y="1441505"/>
                  </a:lnTo>
                  <a:lnTo>
                    <a:pt x="4804410" y="1444933"/>
                  </a:lnTo>
                  <a:lnTo>
                    <a:pt x="4802670" y="1448187"/>
                  </a:lnTo>
                  <a:lnTo>
                    <a:pt x="4800600" y="1451268"/>
                  </a:lnTo>
                  <a:lnTo>
                    <a:pt x="4798542" y="1454354"/>
                  </a:lnTo>
                  <a:lnTo>
                    <a:pt x="4796205" y="1457206"/>
                  </a:lnTo>
                  <a:lnTo>
                    <a:pt x="4793576" y="1459830"/>
                  </a:lnTo>
                  <a:lnTo>
                    <a:pt x="4790960" y="1462450"/>
                  </a:lnTo>
                  <a:lnTo>
                    <a:pt x="4764659" y="1475289"/>
                  </a:lnTo>
                  <a:lnTo>
                    <a:pt x="4761026" y="1476014"/>
                  </a:lnTo>
                  <a:lnTo>
                    <a:pt x="4757356" y="1476376"/>
                  </a:lnTo>
                  <a:lnTo>
                    <a:pt x="4753635" y="1476376"/>
                  </a:lnTo>
                  <a:lnTo>
                    <a:pt x="56489" y="1476376"/>
                  </a:lnTo>
                  <a:lnTo>
                    <a:pt x="52768" y="1476376"/>
                  </a:lnTo>
                  <a:lnTo>
                    <a:pt x="49098" y="1476014"/>
                  </a:lnTo>
                  <a:lnTo>
                    <a:pt x="45466" y="1475289"/>
                  </a:lnTo>
                  <a:lnTo>
                    <a:pt x="41821" y="1474565"/>
                  </a:lnTo>
                  <a:lnTo>
                    <a:pt x="25107" y="1466856"/>
                  </a:lnTo>
                  <a:lnTo>
                    <a:pt x="22021" y="1464792"/>
                  </a:lnTo>
                  <a:lnTo>
                    <a:pt x="19164" y="1462450"/>
                  </a:lnTo>
                  <a:lnTo>
                    <a:pt x="16548" y="1459830"/>
                  </a:lnTo>
                  <a:lnTo>
                    <a:pt x="13919" y="1457206"/>
                  </a:lnTo>
                  <a:lnTo>
                    <a:pt x="11582" y="1454354"/>
                  </a:lnTo>
                  <a:lnTo>
                    <a:pt x="9525" y="1451268"/>
                  </a:lnTo>
                  <a:lnTo>
                    <a:pt x="7454" y="1448187"/>
                  </a:lnTo>
                  <a:lnTo>
                    <a:pt x="1092" y="1430909"/>
                  </a:lnTo>
                  <a:lnTo>
                    <a:pt x="368" y="1427273"/>
                  </a:lnTo>
                  <a:lnTo>
                    <a:pt x="0" y="1423601"/>
                  </a:lnTo>
                  <a:lnTo>
                    <a:pt x="0" y="1419890"/>
                  </a:lnTo>
                  <a:close/>
                </a:path>
              </a:pathLst>
            </a:custGeom>
            <a:ln w="19050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149378" y="5142706"/>
            <a:ext cx="3543300" cy="1080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5">
                <a:solidFill>
                  <a:srgbClr val="E2E6E9"/>
                </a:solidFill>
                <a:latin typeface="Cambria"/>
                <a:cs typeface="Cambria"/>
              </a:rPr>
              <a:t>Detección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05">
                <a:solidFill>
                  <a:srgbClr val="E2E6E9"/>
                </a:solidFill>
                <a:latin typeface="Cambria"/>
                <a:cs typeface="Cambria"/>
              </a:rPr>
              <a:t>Deadlocks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1270"/>
              </a:spcBef>
            </a:pP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Identificación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resolución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5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bloqueos </a:t>
            </a:r>
            <a:r>
              <a:rPr dirty="0" sz="1450" spc="65">
                <a:solidFill>
                  <a:srgbClr val="E2E6E9"/>
                </a:solidFill>
                <a:latin typeface="Cambria"/>
                <a:cs typeface="Cambria"/>
              </a:rPr>
              <a:t>circulares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28" name="object 28" descr="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6688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2026-04-01T12:28:44Z</dcterms:created>
  <dcterms:modified xsi:type="dcterms:W3CDTF">2026-04-01T12:28:44Z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2026-04-01T00:00:00Z</vt:filetime>
  </property>
  <property fmtid="{D5CDD505-2E9C-101B-9397-08002B2CF9AE}" pid="5" name="Producer">
    <vt:lpwstr>GPL Ghostscript 9.56.1</vt:lpwstr>
  </property>
</Properties>
</file>