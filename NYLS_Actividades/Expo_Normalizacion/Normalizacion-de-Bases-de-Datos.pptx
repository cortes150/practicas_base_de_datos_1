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slideLayout" Target="../slideLayouts/slideLayout10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Normalización de Bases de Datos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962" y="718899"/>
            <a:ext cx="5268516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Dependencia Funcional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4962" y="1519357"/>
            <a:ext cx="78540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atributo B depende funcionalmente de un atributo A (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→ B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cuando, para cada valor de A, existe exactamente un valor de B asociado.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44962" y="2278261"/>
            <a:ext cx="422195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Dependencias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4962" y="2963585"/>
            <a:ext cx="7854077" cy="1415891"/>
          </a:xfrm>
          <a:prstGeom prst="roundRect">
            <a:avLst>
              <a:gd name="adj" fmla="val 775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2102" y="2963585"/>
            <a:ext cx="91440" cy="1415891"/>
          </a:xfrm>
          <a:prstGeom prst="roundRect">
            <a:avLst>
              <a:gd name="adj" fmla="val 84651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920591" y="3170634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Dependencia Parcial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0591" y="3548301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atributo no clave depende solo de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parte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clave primaria compuesta.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20591" y="3905250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Ej: Nombre_Producto depende solo de Producto_ID, no de (Pedido_ID, Producto_ID).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4962" y="4529138"/>
            <a:ext cx="7854077" cy="1415891"/>
          </a:xfrm>
          <a:prstGeom prst="roundRect">
            <a:avLst>
              <a:gd name="adj" fmla="val 775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2102" y="4529138"/>
            <a:ext cx="91440" cy="1415891"/>
          </a:xfrm>
          <a:prstGeom prst="roundRect">
            <a:avLst>
              <a:gd name="adj" fmla="val 84651"/>
            </a:avLst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920591" y="4736187"/>
            <a:ext cx="265688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Dependencia Transitiva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20591" y="5113853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atributo no clave depende de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otro atributo no clave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20591" y="5470803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Ej: Clave → A → B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4962" y="6094690"/>
            <a:ext cx="7854077" cy="1415891"/>
          </a:xfrm>
          <a:prstGeom prst="roundRect">
            <a:avLst>
              <a:gd name="adj" fmla="val 775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2102" y="6094690"/>
            <a:ext cx="91440" cy="1415891"/>
          </a:xfrm>
          <a:prstGeom prst="roundRect">
            <a:avLst>
              <a:gd name="adj" fmla="val 84651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920591" y="6301740"/>
            <a:ext cx="299918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Dependencia Multivaluada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20591" y="6679406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un valor de A, existe un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conjunto de valores de B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independientes de C.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20591" y="7036356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denota: A →→ B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483"/>
            <a:ext cx="108174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 No Normal (FNN) – Estado Inicial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63497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aplicar normalización, una tabla puede contener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grupos repetidos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valores múltiples en una sola celda y datos completamente denormalizados. La columna "Productos" contiene múltiples valores en una misma celda, lo que viola los principios básicos del modelo relacional.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696063"/>
            <a:ext cx="6244709" cy="1689616"/>
          </a:xfrm>
          <a:prstGeom prst="roundRect">
            <a:avLst>
              <a:gd name="adj" fmla="val 5638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040154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497955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valores múltiples en una celda hacen imposible consultar, ordenar o filtrar datos de forma confiable.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2286238"/>
            <a:ext cx="4472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 en Estado No Normalizado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599521" y="2895719"/>
            <a:ext cx="6244709" cy="4068128"/>
          </a:xfrm>
          <a:prstGeom prst="roundRect">
            <a:avLst>
              <a:gd name="adj" fmla="val 23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7141" y="2903339"/>
            <a:ext cx="6229469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834193" y="3047048"/>
            <a:ext cx="10998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Pedido_ID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395341" y="3047048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952678" y="3047048"/>
            <a:ext cx="12661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2680037" y="3047048"/>
            <a:ext cx="9297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607141" y="3916561"/>
            <a:ext cx="6229469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834193" y="4060269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395341" y="4060269"/>
            <a:ext cx="10960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0952678" y="4060269"/>
            <a:ext cx="12661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Laptop, Mouse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2680037" y="4060269"/>
            <a:ext cx="9297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01/01, 02/01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607141" y="4929783"/>
            <a:ext cx="6229469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834193" y="5073491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002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9395341" y="5073491"/>
            <a:ext cx="10960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Luis Pérez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10952678" y="5073491"/>
            <a:ext cx="12661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Teclado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12680037" y="5073491"/>
            <a:ext cx="9297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05/01</a:t>
            </a:r>
            <a:endParaRPr lang="en-US" sz="1750" dirty="0"/>
          </a:p>
        </p:txBody>
      </p:sp>
      <p:sp>
        <p:nvSpPr>
          <p:cNvPr id="24" name="Shape 21"/>
          <p:cNvSpPr/>
          <p:nvPr/>
        </p:nvSpPr>
        <p:spPr>
          <a:xfrm>
            <a:off x="7607141" y="5943005"/>
            <a:ext cx="6229469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834193" y="6086713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003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9395341" y="6086713"/>
            <a:ext cx="10960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10952678" y="6086713"/>
            <a:ext cx="12661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Monitor, Cable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12680037" y="6086713"/>
            <a:ext cx="9297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10/01, 10/01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3918"/>
            <a:ext cx="77727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Primera Forma Normal (1FN)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63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Eliminar grupos repetidos y atributos multivaluados. Cada celda debe contener un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único valor atómico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todas las filas deben ser distintas.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34095"/>
            <a:ext cx="37388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❌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Antes (No Normalizado)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843576"/>
            <a:ext cx="4749046" cy="1678781"/>
          </a:xfrm>
          <a:prstGeom prst="roundRect">
            <a:avLst>
              <a:gd name="adj" fmla="val 56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851196"/>
            <a:ext cx="4733806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8462" y="3994904"/>
            <a:ext cx="11207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Pedido_ID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610445" y="3994904"/>
            <a:ext cx="9952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066937" y="3994904"/>
            <a:ext cx="12414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501515"/>
            <a:ext cx="4733806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4645223"/>
            <a:ext cx="11207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610445" y="4645223"/>
            <a:ext cx="9952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066937" y="4645223"/>
            <a:ext cx="12414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Laptop, Mouse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103858" y="32340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Después (1FN)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03858" y="3843576"/>
            <a:ext cx="7740253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1478" y="3851196"/>
            <a:ext cx="7725013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38649" y="3994904"/>
            <a:ext cx="12782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Pedido_ID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078153" y="3994904"/>
            <a:ext cx="6888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228296" y="3994904"/>
            <a:ext cx="11516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841236" y="3994904"/>
            <a:ext cx="10644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2366903" y="3994904"/>
            <a:ext cx="12427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111478" y="4501515"/>
            <a:ext cx="7725013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38649" y="4645223"/>
            <a:ext cx="12782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078153" y="4645223"/>
            <a:ext cx="6888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228296" y="4645223"/>
            <a:ext cx="11516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0841236" y="4645223"/>
            <a:ext cx="10644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2366903" y="4645223"/>
            <a:ext cx="12427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01/01/2024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6111478" y="5151834"/>
            <a:ext cx="7725013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38649" y="5295543"/>
            <a:ext cx="12782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8078153" y="5295543"/>
            <a:ext cx="6888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9228296" y="5295543"/>
            <a:ext cx="11516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0841236" y="5295543"/>
            <a:ext cx="10644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Mouse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2366903" y="5295543"/>
            <a:ext cx="12427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02/01/2024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6111478" y="5802154"/>
            <a:ext cx="7725013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38649" y="5945862"/>
            <a:ext cx="12782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002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8078153" y="5945862"/>
            <a:ext cx="6888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9228296" y="5945862"/>
            <a:ext cx="11516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Luis Pérez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10841236" y="5945862"/>
            <a:ext cx="10644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Teclado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2366903" y="5945862"/>
            <a:ext cx="12427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05/01/2024</a:t>
            </a:r>
            <a:endParaRPr lang="en-US" sz="1750" dirty="0"/>
          </a:p>
        </p:txBody>
      </p:sp>
      <p:sp>
        <p:nvSpPr>
          <p:cNvPr id="40" name="Shape 38"/>
          <p:cNvSpPr/>
          <p:nvPr/>
        </p:nvSpPr>
        <p:spPr>
          <a:xfrm>
            <a:off x="6111478" y="6452473"/>
            <a:ext cx="7725013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38649" y="6596182"/>
            <a:ext cx="12782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003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8078153" y="6596182"/>
            <a:ext cx="6888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50" dirty="0"/>
          </a:p>
        </p:txBody>
      </p:sp>
      <p:sp>
        <p:nvSpPr>
          <p:cNvPr id="43" name="Text 41"/>
          <p:cNvSpPr/>
          <p:nvPr/>
        </p:nvSpPr>
        <p:spPr>
          <a:xfrm>
            <a:off x="9228296" y="6596182"/>
            <a:ext cx="11516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0841236" y="6596182"/>
            <a:ext cx="10644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750" dirty="0"/>
          </a:p>
        </p:txBody>
      </p:sp>
      <p:sp>
        <p:nvSpPr>
          <p:cNvPr id="45" name="Text 43"/>
          <p:cNvSpPr/>
          <p:nvPr/>
        </p:nvSpPr>
        <p:spPr>
          <a:xfrm>
            <a:off x="12366903" y="6596182"/>
            <a:ext cx="12427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10/01/2024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3049"/>
            <a:ext cx="820388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Segunda y Tercera Forma Normal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1686520"/>
            <a:ext cx="557927" cy="365522"/>
          </a:xfrm>
          <a:prstGeom prst="roundRect">
            <a:avLst>
              <a:gd name="adj" fmla="val 18570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828199" y="1747123"/>
            <a:ext cx="315516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2FN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06993" y="2123956"/>
            <a:ext cx="401276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Eliminar Dependencias Parciales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06993" y="2619494"/>
            <a:ext cx="636174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atributo "Cliente" depende solo de "Pedido_ID" y no de la combinación completa 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(Pedido_ID, Línea)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separa en dos tablas.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6993" y="3432929"/>
            <a:ext cx="6361748" cy="1624727"/>
          </a:xfrm>
          <a:prstGeom prst="roundRect">
            <a:avLst>
              <a:gd name="adj" fmla="val 522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4613" y="3440549"/>
            <a:ext cx="6345793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7258" y="3556040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Pedido_ID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036094" y="3556040"/>
            <a:ext cx="17035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151120" y="3556040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14613" y="3977045"/>
            <a:ext cx="6345793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7258" y="4092535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036094" y="4092535"/>
            <a:ext cx="17035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51120" y="4092535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01/01/2024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14613" y="4513540"/>
            <a:ext cx="6345793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7258" y="4629031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002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036094" y="4629031"/>
            <a:ext cx="17035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Luis Pérez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151120" y="4629031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05/01/2024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06993" y="5260062"/>
            <a:ext cx="6361748" cy="2184083"/>
          </a:xfrm>
          <a:prstGeom prst="roundRect">
            <a:avLst>
              <a:gd name="adj" fmla="val 388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543" y="5383173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Pedido_ID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506980" y="5383173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093607" y="5383173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680234" y="5383173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Cantidad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16543" y="5927288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506980" y="5927288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093607" y="5927288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680234" y="5927288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16543" y="6471404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506980" y="6471404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093607" y="6471404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Mouse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680234" y="6471404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16543" y="7015520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002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2506980" y="7015520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093607" y="7015520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Teclado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680234" y="7015520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569279" y="1686520"/>
            <a:ext cx="559118" cy="365522"/>
          </a:xfrm>
          <a:prstGeom prst="roundRect">
            <a:avLst>
              <a:gd name="adj" fmla="val 18570"/>
            </a:avLst>
          </a:prstGeom>
          <a:solidFill>
            <a:srgbClr val="DADBF1"/>
          </a:solidFill>
          <a:ln/>
        </p:spPr>
      </p:sp>
      <p:sp>
        <p:nvSpPr>
          <p:cNvPr id="38" name="Text 36"/>
          <p:cNvSpPr/>
          <p:nvPr/>
        </p:nvSpPr>
        <p:spPr>
          <a:xfrm>
            <a:off x="7690485" y="1747123"/>
            <a:ext cx="316706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3FN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569279" y="2123956"/>
            <a:ext cx="425029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Eliminar Dependencias Transitivas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7569279" y="2619494"/>
            <a:ext cx="636174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Email del cliente depende del Nombre del cliente: 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 → Cliente → Email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extrae la tabla CLIENTES.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7569279" y="3432929"/>
            <a:ext cx="6361748" cy="2161223"/>
          </a:xfrm>
          <a:prstGeom prst="roundRect">
            <a:avLst>
              <a:gd name="adj" fmla="val 392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76899" y="3440549"/>
            <a:ext cx="6346508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778829" y="3556040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Pedido_ID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9369266" y="3556040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Cliente_ID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10955893" y="3556040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12542520" y="3556040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7576899" y="3977045"/>
            <a:ext cx="6346508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78829" y="4092535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9369266" y="4092535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10955893" y="4092535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01/01/2024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12542520" y="4092535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$1200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7576899" y="4513540"/>
            <a:ext cx="6346508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778829" y="4629031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002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9369266" y="4629031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10955893" y="4629031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05/01/2024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12542520" y="4629031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</a:t>
            </a:r>
            <a:endParaRPr lang="en-US" sz="1550" dirty="0"/>
          </a:p>
        </p:txBody>
      </p:sp>
      <p:sp>
        <p:nvSpPr>
          <p:cNvPr id="57" name="Shape 55"/>
          <p:cNvSpPr/>
          <p:nvPr/>
        </p:nvSpPr>
        <p:spPr>
          <a:xfrm>
            <a:off x="7576899" y="5050036"/>
            <a:ext cx="6346508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778829" y="5165527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003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9369266" y="5165527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550" dirty="0"/>
          </a:p>
        </p:txBody>
      </p:sp>
      <p:sp>
        <p:nvSpPr>
          <p:cNvPr id="60" name="Text 58"/>
          <p:cNvSpPr/>
          <p:nvPr/>
        </p:nvSpPr>
        <p:spPr>
          <a:xfrm>
            <a:off x="10955893" y="5165527"/>
            <a:ext cx="11751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10/01/2024</a:t>
            </a:r>
            <a:endParaRPr lang="en-US" sz="1550" dirty="0"/>
          </a:p>
        </p:txBody>
      </p:sp>
      <p:sp>
        <p:nvSpPr>
          <p:cNvPr id="61" name="Text 59"/>
          <p:cNvSpPr/>
          <p:nvPr/>
        </p:nvSpPr>
        <p:spPr>
          <a:xfrm>
            <a:off x="12542520" y="5165527"/>
            <a:ext cx="117895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$350</a:t>
            </a:r>
            <a:endParaRPr lang="en-US" sz="1550" dirty="0"/>
          </a:p>
        </p:txBody>
      </p:sp>
      <p:sp>
        <p:nvSpPr>
          <p:cNvPr id="62" name="Shape 60"/>
          <p:cNvSpPr/>
          <p:nvPr/>
        </p:nvSpPr>
        <p:spPr>
          <a:xfrm>
            <a:off x="7569279" y="5796558"/>
            <a:ext cx="6361748" cy="1624727"/>
          </a:xfrm>
          <a:prstGeom prst="roundRect">
            <a:avLst>
              <a:gd name="adj" fmla="val 522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76899" y="5804178"/>
            <a:ext cx="6345793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779544" y="5919668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Cliente_ID</a:t>
            </a:r>
            <a:endParaRPr lang="en-US" sz="1550" dirty="0"/>
          </a:p>
        </p:txBody>
      </p:sp>
      <p:sp>
        <p:nvSpPr>
          <p:cNvPr id="65" name="Text 63"/>
          <p:cNvSpPr/>
          <p:nvPr/>
        </p:nvSpPr>
        <p:spPr>
          <a:xfrm>
            <a:off x="9898380" y="5919668"/>
            <a:ext cx="17035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</a:t>
            </a:r>
            <a:endParaRPr lang="en-US" sz="1550" dirty="0"/>
          </a:p>
        </p:txBody>
      </p:sp>
      <p:sp>
        <p:nvSpPr>
          <p:cNvPr id="66" name="Text 64"/>
          <p:cNvSpPr/>
          <p:nvPr/>
        </p:nvSpPr>
        <p:spPr>
          <a:xfrm>
            <a:off x="12013406" y="5919668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550" dirty="0"/>
          </a:p>
        </p:txBody>
      </p:sp>
      <p:sp>
        <p:nvSpPr>
          <p:cNvPr id="67" name="Shape 65"/>
          <p:cNvSpPr/>
          <p:nvPr/>
        </p:nvSpPr>
        <p:spPr>
          <a:xfrm>
            <a:off x="7576899" y="6340673"/>
            <a:ext cx="6345793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779544" y="6456164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1550" dirty="0"/>
          </a:p>
        </p:txBody>
      </p:sp>
      <p:sp>
        <p:nvSpPr>
          <p:cNvPr id="69" name="Text 67"/>
          <p:cNvSpPr/>
          <p:nvPr/>
        </p:nvSpPr>
        <p:spPr>
          <a:xfrm>
            <a:off x="9898380" y="6456164"/>
            <a:ext cx="17035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López</a:t>
            </a:r>
            <a:endParaRPr lang="en-US" sz="1550" dirty="0"/>
          </a:p>
        </p:txBody>
      </p:sp>
      <p:sp>
        <p:nvSpPr>
          <p:cNvPr id="70" name="Text 68"/>
          <p:cNvSpPr/>
          <p:nvPr/>
        </p:nvSpPr>
        <p:spPr>
          <a:xfrm>
            <a:off x="12013406" y="6456164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ana@email.com</a:t>
            </a:r>
            <a:endParaRPr lang="en-US" sz="1550" dirty="0"/>
          </a:p>
        </p:txBody>
      </p:sp>
      <p:sp>
        <p:nvSpPr>
          <p:cNvPr id="71" name="Shape 69"/>
          <p:cNvSpPr/>
          <p:nvPr/>
        </p:nvSpPr>
        <p:spPr>
          <a:xfrm>
            <a:off x="7576899" y="6877169"/>
            <a:ext cx="6345793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7779544" y="6992660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1550" dirty="0"/>
          </a:p>
        </p:txBody>
      </p:sp>
      <p:sp>
        <p:nvSpPr>
          <p:cNvPr id="73" name="Text 71"/>
          <p:cNvSpPr/>
          <p:nvPr/>
        </p:nvSpPr>
        <p:spPr>
          <a:xfrm>
            <a:off x="9898380" y="6992660"/>
            <a:ext cx="17035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Luis Pérez</a:t>
            </a:r>
            <a:endParaRPr lang="en-US" sz="1550" dirty="0"/>
          </a:p>
        </p:txBody>
      </p:sp>
      <p:sp>
        <p:nvSpPr>
          <p:cNvPr id="74" name="Text 72"/>
          <p:cNvSpPr/>
          <p:nvPr/>
        </p:nvSpPr>
        <p:spPr>
          <a:xfrm>
            <a:off x="12013406" y="6992660"/>
            <a:ext cx="170735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luis@email.com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776" y="705326"/>
            <a:ext cx="7306747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Formas Normales Avanzadas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05776" y="1626989"/>
            <a:ext cx="3759518" cy="3486269"/>
          </a:xfrm>
          <a:prstGeom prst="roundRect">
            <a:avLst>
              <a:gd name="adj" fmla="val 247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18898" y="184011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FNBC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18898" y="2272903"/>
            <a:ext cx="3333274" cy="156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 normal de Boyce-Codd. Trata casos con multiples claves candidatas superpuestas. Una relacion puede estar en 3FN pero no en FNBC.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18898" y="3952042"/>
            <a:ext cx="3333274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Ej: tabla (estudiante, materia profesor) donde profesor —&gt; materia.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51507" y="1626989"/>
            <a:ext cx="3759518" cy="3486269"/>
          </a:xfrm>
          <a:prstGeom prst="roundRect">
            <a:avLst>
              <a:gd name="adj" fmla="val 247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64629" y="184011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4FN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364629" y="2272903"/>
            <a:ext cx="3333274" cy="157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Aborda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dependencias multivaluadas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Si un empleado tiene múltiples habilidades e idiomas de forma independiente: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→→ Habilidad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→→ Idioma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64629" y="3959662"/>
            <a:ext cx="3333274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Solución: separar en Empleado_Habilidades e Empleado_Idiomas.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5776" y="5299472"/>
            <a:ext cx="7705249" cy="2224683"/>
          </a:xfrm>
          <a:prstGeom prst="roundRect">
            <a:avLst>
              <a:gd name="adj" fmla="val 388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8898" y="551259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5FN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18898" y="5945386"/>
            <a:ext cx="7279005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 redundancias no detectables por formas anteriores. Se aplica cuando una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relación ternaria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puede descomponerse sin pérdida de información.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18898" y="6997541"/>
            <a:ext cx="727900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la forma más avanzada y raramente aplicada en la práctica cotidiana.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96027"/>
            <a:ext cx="9039106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 Resumen – Formas Normales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659136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forma normal agrega un requisito adicional sobre la anterior, resolviendo un tipo específico de anomalía o redundancia en el diseño relacional.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2542461"/>
            <a:ext cx="13141881" cy="5091112"/>
          </a:xfrm>
          <a:prstGeom prst="roundRect">
            <a:avLst>
              <a:gd name="adj" fmla="val 175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1880" y="2550081"/>
            <a:ext cx="13125212" cy="5838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5954" y="2677239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 Normal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44358" y="2677239"/>
            <a:ext cx="394168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18953" y="2677239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que resuelve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1880" y="3133963"/>
            <a:ext cx="13125212" cy="5838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5954" y="3261122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1FN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44358" y="3261122"/>
            <a:ext cx="394168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atómicos, sin grupos repetidos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718953" y="3261122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multivaluados y repetidos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51880" y="3717846"/>
            <a:ext cx="13125212" cy="5838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65954" y="3845004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2FN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44358" y="3845004"/>
            <a:ext cx="394168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1FN + sin dependencias parciales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718953" y="3845004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Redundancia por clave compuesta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51880" y="4301728"/>
            <a:ext cx="13125212" cy="5838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5954" y="4428887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3FN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44358" y="4428887"/>
            <a:ext cx="394168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2FN + sin dependencias transitivas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718953" y="4428887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Anomalias de actualizacion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51880" y="4885611"/>
            <a:ext cx="13125212" cy="9134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5954" y="5012769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FNBC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44358" y="5012769"/>
            <a:ext cx="394168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3FN + todo determinante es superclave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718953" y="5012769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excepcionales de 3FN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51880" y="5799058"/>
            <a:ext cx="13125212" cy="9134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5954" y="5926217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4FN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344358" y="5926217"/>
            <a:ext cx="394168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FNBC + sin dependencias multivaluadas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718953" y="5926217"/>
            <a:ext cx="394549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Redundancia por múltiples atributos independientes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51880" y="6712506"/>
            <a:ext cx="13125212" cy="9134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65954" y="6839664"/>
            <a:ext cx="394549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5FN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344358" y="6839664"/>
            <a:ext cx="394168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4FN + sin dependencias de unión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718953" y="6839664"/>
            <a:ext cx="394549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Pérdida de información en descomposición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41496"/>
            <a:ext cx="7544752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Proceso de Normalización – Pasos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394222"/>
            <a:ext cx="12471916" cy="5612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7928" y="1486223"/>
            <a:ext cx="2182541" cy="67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Identificar entidades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957928" y="2256708"/>
            <a:ext cx="2182541" cy="484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Entidades y atributos clave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3481" y="3156294"/>
            <a:ext cx="483427" cy="4834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6485" y="5864047"/>
            <a:ext cx="2194533" cy="337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Tablas iniciales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116485" y="6297257"/>
            <a:ext cx="2194533" cy="484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sin normalizar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2038" y="4919116"/>
            <a:ext cx="483427" cy="4834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51058" y="1612888"/>
            <a:ext cx="2182542" cy="337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Aplicar 1NF–3NF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251058" y="2046099"/>
            <a:ext cx="2182542" cy="484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1NF, 2NF y 3NF sucesivamente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2588" y="3108326"/>
            <a:ext cx="483427" cy="4834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09615" y="5695410"/>
            <a:ext cx="2182541" cy="67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Claves y validación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9409615" y="6465895"/>
            <a:ext cx="2182541" cy="484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PK, FK, restricciones y pruebas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65169" y="4919116"/>
            <a:ext cx="483427" cy="48342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9183" y="7168396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Seguir este proceso de forma ordenada garantiza un diseño relacional sólido, libre de anomalías y preparado para escalar con las necesidades del sistema.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66261"/>
            <a:ext cx="997410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Ventajas y Desventajas de la Normalización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834628" y="1561386"/>
            <a:ext cx="1232773" cy="339923"/>
          </a:xfrm>
          <a:prstGeom prst="roundRect">
            <a:avLst>
              <a:gd name="adj" fmla="val 18567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947261" y="1617702"/>
            <a:ext cx="1007507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Ventajas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994" y="2081986"/>
            <a:ext cx="281702" cy="281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4943" y="2076212"/>
            <a:ext cx="315837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Eliminación de redundancia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44943" y="2525197"/>
            <a:ext cx="564106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datos se almacenan una sola vez, reduciendo el espacio y la inconsistencia.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994" y="3391436"/>
            <a:ext cx="281702" cy="2817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943" y="338566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Integridad de datos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44943" y="3834646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la consistencia e integridad referencial entre tablas.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994" y="4426208"/>
            <a:ext cx="281702" cy="2817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44943" y="4420433"/>
            <a:ext cx="328029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Flexibilidad y mantenimiento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444943" y="4869418"/>
            <a:ext cx="564106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fácil de modificar y ampliar el sistema sin efectos secundarios.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994" y="5735657"/>
            <a:ext cx="281702" cy="2817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44943" y="5729883"/>
            <a:ext cx="278534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Reducción de anomalías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444943" y="6178868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Minimiza errores al insertar, actualizar y eliminar registros.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4994" y="6770430"/>
            <a:ext cx="281702" cy="2817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44943" y="676465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Claridad del modelo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1444943" y="7213640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Refleja mejor las relaciones del mundo real en el diseño.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7551777" y="1561386"/>
            <a:ext cx="1543169" cy="355163"/>
          </a:xfrm>
          <a:prstGeom prst="roundRect">
            <a:avLst>
              <a:gd name="adj" fmla="val 1777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672030" y="1625322"/>
            <a:ext cx="1302663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Desventajas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2143" y="2097226"/>
            <a:ext cx="281702" cy="28170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62092" y="2091452"/>
            <a:ext cx="276427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Mayor número de tablas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8162092" y="2540437"/>
            <a:ext cx="564106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Complica algunas consultas SQL al requerir más relaciones.</a:t>
            </a:r>
            <a:endParaRPr lang="en-US" sz="14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2143" y="3131999"/>
            <a:ext cx="281702" cy="28170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162092" y="3126224"/>
            <a:ext cx="296441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Rendimiento en consultas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8162092" y="3575209"/>
            <a:ext cx="564106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JOIN entre múltiples tablas pueden ser costosos en tiempo de ejecución.</a:t>
            </a:r>
            <a:endParaRPr lang="en-US" sz="14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22143" y="4441448"/>
            <a:ext cx="281702" cy="28170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162092" y="4435673"/>
            <a:ext cx="261401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Complejidad de diseño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8162092" y="4884658"/>
            <a:ext cx="564106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experiencia y análisis detallado del dominio del problema.</a:t>
            </a:r>
            <a:endParaRPr lang="en-US" sz="14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22143" y="5750897"/>
            <a:ext cx="281702" cy="28170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62092" y="5745123"/>
            <a:ext cx="325147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Desnormalización necesaria</a:t>
            </a:r>
            <a:endParaRPr lang="en-US" sz="1800" dirty="0"/>
          </a:p>
        </p:txBody>
      </p:sp>
      <p:sp>
        <p:nvSpPr>
          <p:cNvPr id="33" name="Text 22"/>
          <p:cNvSpPr/>
          <p:nvPr/>
        </p:nvSpPr>
        <p:spPr>
          <a:xfrm>
            <a:off x="8162092" y="6194108"/>
            <a:ext cx="564106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sistemas OLAP puede ser necesario desnormalizar para mejorar el rendimiento.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516850"/>
            <a:ext cx="38100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3400" y="1146691"/>
            <a:ext cx="8077200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normalización de bases de datos es un proceso fundamental en el diseño de sistemas de información robustos y escalables. Aplicar correctamente las formas normales garantiza datos limpios, consistentes y fáciles de mantener.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3400" y="1873329"/>
            <a:ext cx="8077200" cy="1383030"/>
          </a:xfrm>
          <a:prstGeom prst="roundRect">
            <a:avLst>
              <a:gd name="adj" fmla="val 462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3420" y="2033349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50" y="2159079"/>
            <a:ext cx="205740" cy="2057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3420" y="2592943"/>
            <a:ext cx="21066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Integridad garantizada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93420" y="2892504"/>
            <a:ext cx="775716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consistentes y sin anomalías en todo el ciclo de vida.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33400" y="3358753"/>
            <a:ext cx="8077200" cy="1383030"/>
          </a:xfrm>
          <a:prstGeom prst="roundRect">
            <a:avLst>
              <a:gd name="adj" fmla="val 462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93420" y="3518773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4950B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" y="3644503"/>
            <a:ext cx="205740" cy="2057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3420" y="4078367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progresivo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93420" y="4377928"/>
            <a:ext cx="775716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forma normal construye sobre la anterior de manera sistemática.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33400" y="4844177"/>
            <a:ext cx="8077200" cy="1383030"/>
          </a:xfrm>
          <a:prstGeom prst="roundRect">
            <a:avLst>
              <a:gd name="adj" fmla="val 462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3420" y="5004197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4950B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" y="5129927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3420" y="5563791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Balance práctico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93420" y="5863352"/>
            <a:ext cx="775716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Evalúa hasta qué nivel normalizar según las necesidades reales del sistema.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33400" y="6329601"/>
            <a:ext cx="8077200" cy="1383030"/>
          </a:xfrm>
          <a:prstGeom prst="roundRect">
            <a:avLst>
              <a:gd name="adj" fmla="val 462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93420" y="6489621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4950B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" y="6615351"/>
            <a:ext cx="205740" cy="2057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3420" y="7049214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Escalabilidad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93420" y="7348776"/>
            <a:ext cx="775716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modelo bien normalizado facilita el crecimiento y la evolución del sistema.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2026-04-17T15:39:37Z</dcterms:created>
  <dcterms:modified xsi:type="dcterms:W3CDTF">2026-04-17T15:39:37Z</dcterms:modified>
</cp:coreProperties>
</file>