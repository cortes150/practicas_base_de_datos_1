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igra Extra-Light" panose="020B0604020202020204" charset="0"/>
      <p:regular r:id="rId16"/>
    </p:embeddedFont>
    <p:embeddedFont>
      <p:font typeface="Migra Ultra-Bold" panose="020B0604020202020204" charset="0"/>
      <p:regular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21943">
            <a:off x="13216109" y="-1183177"/>
            <a:ext cx="7085175" cy="10560558"/>
          </a:xfrm>
          <a:custGeom>
            <a:avLst/>
            <a:gdLst/>
            <a:ahLst/>
            <a:cxnLst/>
            <a:rect l="l" t="t" r="r" b="b"/>
            <a:pathLst>
              <a:path w="7085175" h="10560558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66129" y="-3221691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8" y="0"/>
                </a:lnTo>
                <a:lnTo>
                  <a:pt x="6903798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48134" y="6491289"/>
            <a:ext cx="2495341" cy="2767011"/>
          </a:xfrm>
          <a:custGeom>
            <a:avLst/>
            <a:gdLst/>
            <a:ahLst/>
            <a:cxnLst/>
            <a:rect l="l" t="t" r="r" b="b"/>
            <a:pathLst>
              <a:path w="2495341" h="276701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74258" y="2114697"/>
            <a:ext cx="9424526" cy="464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4"/>
              </a:lnSpc>
            </a:pPr>
            <a:r>
              <a:rPr lang="en-US" sz="11754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Arquitectura de Bases de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9579" y="7531895"/>
            <a:ext cx="4532916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99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Bismark Sucojayo</a:t>
            </a:r>
          </a:p>
          <a:p>
            <a:pPr algn="l">
              <a:lnSpc>
                <a:spcPts val="2999"/>
              </a:lnSpc>
            </a:pPr>
            <a:r>
              <a:rPr lang="en-US" sz="299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Beymar Condori</a:t>
            </a:r>
          </a:p>
        </p:txBody>
      </p:sp>
      <p:sp>
        <p:nvSpPr>
          <p:cNvPr id="7" name="Freeform 7"/>
          <p:cNvSpPr/>
          <p:nvPr/>
        </p:nvSpPr>
        <p:spPr>
          <a:xfrm>
            <a:off x="1236960" y="7124066"/>
            <a:ext cx="4116942" cy="456606"/>
          </a:xfrm>
          <a:custGeom>
            <a:avLst/>
            <a:gdLst/>
            <a:ahLst/>
            <a:cxnLst/>
            <a:rect l="l" t="t" r="r" b="b"/>
            <a:pathLst>
              <a:path w="4116942" h="456606">
                <a:moveTo>
                  <a:pt x="0" y="0"/>
                </a:moveTo>
                <a:lnTo>
                  <a:pt x="4116942" y="0"/>
                </a:lnTo>
                <a:lnTo>
                  <a:pt x="4116942" y="456606"/>
                </a:lnTo>
                <a:lnTo>
                  <a:pt x="0" y="456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96635" y="760605"/>
            <a:ext cx="11312060" cy="264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4"/>
              </a:lnSpc>
            </a:pPr>
            <a:r>
              <a:rPr lang="en-US" sz="6714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Introducción a la Arquitectura de Bases de Datos</a:t>
            </a:r>
          </a:p>
        </p:txBody>
      </p:sp>
      <p:sp>
        <p:nvSpPr>
          <p:cNvPr id="3" name="Freeform 3"/>
          <p:cNvSpPr/>
          <p:nvPr/>
        </p:nvSpPr>
        <p:spPr>
          <a:xfrm rot="-2853876">
            <a:off x="-1607723" y="5026392"/>
            <a:ext cx="5121852" cy="7634196"/>
          </a:xfrm>
          <a:custGeom>
            <a:avLst/>
            <a:gdLst/>
            <a:ahLst/>
            <a:cxnLst/>
            <a:rect l="l" t="t" r="r" b="b"/>
            <a:pathLst>
              <a:path w="5121852" h="7634196">
                <a:moveTo>
                  <a:pt x="0" y="0"/>
                </a:moveTo>
                <a:lnTo>
                  <a:pt x="5121852" y="0"/>
                </a:lnTo>
                <a:lnTo>
                  <a:pt x="5121852" y="7634197"/>
                </a:lnTo>
                <a:lnTo>
                  <a:pt x="0" y="763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121485" y="-2883998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32704" y="3407645"/>
            <a:ext cx="3371815" cy="3738907"/>
          </a:xfrm>
          <a:custGeom>
            <a:avLst/>
            <a:gdLst/>
            <a:ahLst/>
            <a:cxnLst/>
            <a:rect l="l" t="t" r="r" b="b"/>
            <a:pathLst>
              <a:path w="3371815" h="3738907">
                <a:moveTo>
                  <a:pt x="0" y="0"/>
                </a:moveTo>
                <a:lnTo>
                  <a:pt x="3371814" y="0"/>
                </a:lnTo>
                <a:lnTo>
                  <a:pt x="3371814" y="3738908"/>
                </a:lnTo>
                <a:lnTo>
                  <a:pt x="0" y="3738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96635" y="3917955"/>
            <a:ext cx="12162665" cy="514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8"/>
              </a:lnSpc>
            </a:pPr>
            <a:r>
              <a:rPr lang="en-US" sz="5778">
                <a:solidFill>
                  <a:srgbClr val="8C52FF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La arquitectura de bases de datos permite gestionar información de forma organizada, segura y eficiente. Su objetivo es simplificar la interacción entre usuarios, aplicaciones y almacenamiento mediante niveles de abstracción.</a:t>
            </a:r>
          </a:p>
          <a:p>
            <a:pPr algn="ctr">
              <a:lnSpc>
                <a:spcPts val="5778"/>
              </a:lnSpc>
            </a:pPr>
            <a:endParaRPr lang="en-US" sz="5778">
              <a:solidFill>
                <a:srgbClr val="8C52FF"/>
              </a:solidFill>
              <a:latin typeface="Migra Extra-Light"/>
              <a:ea typeface="Migra Extra-Light"/>
              <a:cs typeface="Migra Extra-Light"/>
              <a:sym typeface="Migra Extra-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07900">
            <a:off x="13441371" y="2495872"/>
            <a:ext cx="7085175" cy="10560558"/>
          </a:xfrm>
          <a:custGeom>
            <a:avLst/>
            <a:gdLst/>
            <a:ahLst/>
            <a:cxnLst/>
            <a:rect l="l" t="t" r="r" b="b"/>
            <a:pathLst>
              <a:path w="7085175" h="10560558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385956">
            <a:off x="12592149" y="-1488576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385956">
            <a:off x="11287324" y="4597619"/>
            <a:ext cx="2495341" cy="2767011"/>
          </a:xfrm>
          <a:custGeom>
            <a:avLst/>
            <a:gdLst/>
            <a:ahLst/>
            <a:cxnLst/>
            <a:rect l="l" t="t" r="r" b="b"/>
            <a:pathLst>
              <a:path w="2495341" h="276701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0366" y="7009481"/>
            <a:ext cx="8237440" cy="2531370"/>
          </a:xfrm>
          <a:custGeom>
            <a:avLst/>
            <a:gdLst/>
            <a:ahLst/>
            <a:cxnLst/>
            <a:rect l="l" t="t" r="r" b="b"/>
            <a:pathLst>
              <a:path w="8237440" h="2531370">
                <a:moveTo>
                  <a:pt x="0" y="0"/>
                </a:moveTo>
                <a:lnTo>
                  <a:pt x="8237441" y="0"/>
                </a:lnTo>
                <a:lnTo>
                  <a:pt x="8237441" y="2531370"/>
                </a:lnTo>
                <a:lnTo>
                  <a:pt x="0" y="2531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95375"/>
            <a:ext cx="9662292" cy="19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2"/>
              </a:lnSpc>
            </a:pPr>
            <a:r>
              <a:rPr lang="en-US" sz="7252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Arquitectura de Tres Niveles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277519"/>
            <a:ext cx="9200773" cy="376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LA ARQUITECTURA SE DIVIDE EN:</a:t>
            </a:r>
          </a:p>
          <a:p>
            <a:pPr marL="675379" lvl="1" indent="-337690" algn="l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EXTERNO (VISTAS DE USUARIO)</a:t>
            </a:r>
          </a:p>
          <a:p>
            <a:pPr marL="675379" lvl="1" indent="-337690" algn="l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CONCEPTUAL (ESTRUCTURA LÓGICA)</a:t>
            </a:r>
          </a:p>
          <a:p>
            <a:pPr marL="675379" lvl="1" indent="-337690" algn="l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INTERNO (ALMACENAMIENTO FÍSICO)</a:t>
            </a:r>
          </a:p>
          <a:p>
            <a:pPr algn="ctr">
              <a:lnSpc>
                <a:spcPts val="3697"/>
              </a:lnSpc>
            </a:pPr>
            <a:endParaRPr lang="en-US" sz="3128">
              <a:solidFill>
                <a:srgbClr val="061D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850062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Los 3 niveles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0057" y="4600293"/>
            <a:ext cx="2464076" cy="72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Externo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2377" y="3003723"/>
            <a:ext cx="493093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Conceptual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8605" y="5708167"/>
            <a:ext cx="3186981" cy="285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5511" lvl="1" indent="-247755" algn="l">
              <a:lnSpc>
                <a:spcPts val="4613"/>
              </a:lnSpc>
              <a:buFont typeface="Arial"/>
              <a:buChar char="•"/>
            </a:pPr>
            <a:r>
              <a:rPr lang="en-US" sz="2295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MUESTRA SOLO LA INFORMACIÓN RELEVANTE PARA CADA USUARIO.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2377" y="3843533"/>
            <a:ext cx="4527655" cy="348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401" lvl="1" indent="-251700" algn="l">
              <a:lnSpc>
                <a:spcPts val="4686"/>
              </a:lnSpc>
              <a:buFont typeface="Arial"/>
              <a:buChar char="•"/>
            </a:pPr>
            <a:r>
              <a:rPr lang="en-US" sz="2331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DEFINE ENTIDADES, ATRIBUTOS Y RELACIONES.</a:t>
            </a:r>
          </a:p>
          <a:p>
            <a:pPr marL="503401" lvl="1" indent="-251700" algn="l">
              <a:lnSpc>
                <a:spcPts val="4686"/>
              </a:lnSpc>
              <a:buFont typeface="Arial"/>
              <a:buChar char="•"/>
            </a:pPr>
            <a:r>
              <a:rPr lang="en-US" sz="2331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REPRESENTA EL DISEÑO LÓGICO GLOBAL DE LA BASE DE DATOS.</a:t>
            </a:r>
          </a:p>
        </p:txBody>
      </p:sp>
      <p:sp>
        <p:nvSpPr>
          <p:cNvPr id="7" name="AutoShape 7"/>
          <p:cNvSpPr/>
          <p:nvPr/>
        </p:nvSpPr>
        <p:spPr>
          <a:xfrm>
            <a:off x="5274248" y="3686225"/>
            <a:ext cx="0" cy="3846040"/>
          </a:xfrm>
          <a:prstGeom prst="line">
            <a:avLst/>
          </a:prstGeom>
          <a:ln w="857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2385956">
            <a:off x="13962366" y="-2983358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385956">
            <a:off x="6798513" y="7867782"/>
            <a:ext cx="3337263" cy="3700594"/>
          </a:xfrm>
          <a:custGeom>
            <a:avLst/>
            <a:gdLst/>
            <a:ahLst/>
            <a:cxnLst/>
            <a:rect l="l" t="t" r="r" b="b"/>
            <a:pathLst>
              <a:path w="3337263" h="3700594">
                <a:moveTo>
                  <a:pt x="0" y="0"/>
                </a:moveTo>
                <a:lnTo>
                  <a:pt x="3337263" y="0"/>
                </a:lnTo>
                <a:lnTo>
                  <a:pt x="3337263" y="3700594"/>
                </a:lnTo>
                <a:lnTo>
                  <a:pt x="0" y="3700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0977569" y="3686225"/>
            <a:ext cx="0" cy="3846040"/>
          </a:xfrm>
          <a:prstGeom prst="line">
            <a:avLst/>
          </a:prstGeom>
          <a:ln w="857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706231" y="4062608"/>
            <a:ext cx="493093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Interno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06231" y="4962525"/>
            <a:ext cx="5708033" cy="401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2304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ES EL NIVEL FÍSICO DONDE SE ALMACENAN LOS DATOS.</a:t>
            </a:r>
          </a:p>
          <a:p>
            <a:pPr algn="l">
              <a:lnSpc>
                <a:spcPts val="4632"/>
              </a:lnSpc>
            </a:pPr>
            <a:r>
              <a:rPr lang="en-US" sz="2304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INCLUYE:</a:t>
            </a:r>
          </a:p>
          <a:p>
            <a:pPr marL="497628" lvl="1" indent="-248814" algn="l">
              <a:lnSpc>
                <a:spcPts val="4632"/>
              </a:lnSpc>
              <a:buFont typeface="Arial"/>
              <a:buChar char="•"/>
            </a:pPr>
            <a:r>
              <a:rPr lang="en-US" sz="2304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ARCHIVOS DE BASE DE DATOS</a:t>
            </a:r>
          </a:p>
          <a:p>
            <a:pPr marL="497628" lvl="1" indent="-248814" algn="l">
              <a:lnSpc>
                <a:spcPts val="4632"/>
              </a:lnSpc>
              <a:buFont typeface="Arial"/>
              <a:buChar char="•"/>
            </a:pPr>
            <a:r>
              <a:rPr lang="en-US" sz="2304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ÍNDICES Y PUNTEROS</a:t>
            </a:r>
          </a:p>
          <a:p>
            <a:pPr marL="497628" lvl="1" indent="-248814" algn="l">
              <a:lnSpc>
                <a:spcPts val="4632"/>
              </a:lnSpc>
              <a:buFont typeface="Arial"/>
              <a:buChar char="•"/>
            </a:pPr>
            <a:r>
              <a:rPr lang="en-US" sz="2304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MÉTODOS DE ACCESO Y ALMACENAMIENTO EN DISCO.</a:t>
            </a:r>
          </a:p>
        </p:txBody>
      </p:sp>
      <p:pic>
        <p:nvPicPr>
          <p:cNvPr id="1026" name="Picture 2" descr="vector de dibujos animados de bancos">
            <a:extLst>
              <a:ext uri="{FF2B5EF4-FFF2-40B4-BE49-F238E27FC236}">
                <a16:creationId xmlns:a16="http://schemas.microsoft.com/office/drawing/2014/main" id="{EC43D705-07C7-4EDD-BE11-BE622739E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593" y="2939472"/>
            <a:ext cx="1882883" cy="149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ágenes de Disco duro dibujo - Descarga gratuita en Freepik">
            <a:extLst>
              <a:ext uri="{FF2B5EF4-FFF2-40B4-BE49-F238E27FC236}">
                <a16:creationId xmlns:a16="http://schemas.microsoft.com/office/drawing/2014/main" id="{169BF71C-11D3-4B8E-BAE0-A7035C29A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6198" y="1693142"/>
            <a:ext cx="2102022" cy="210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85956">
            <a:off x="8913379" y="8358048"/>
            <a:ext cx="4908423" cy="4908423"/>
          </a:xfrm>
          <a:custGeom>
            <a:avLst/>
            <a:gdLst/>
            <a:ahLst/>
            <a:cxnLst/>
            <a:rect l="l" t="t" r="r" b="b"/>
            <a:pathLst>
              <a:path w="4908423" h="4908423">
                <a:moveTo>
                  <a:pt x="0" y="0"/>
                </a:moveTo>
                <a:lnTo>
                  <a:pt x="4908423" y="0"/>
                </a:lnTo>
                <a:lnTo>
                  <a:pt x="4908423" y="4908423"/>
                </a:lnTo>
                <a:lnTo>
                  <a:pt x="0" y="4908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385956">
            <a:off x="12413621" y="8887954"/>
            <a:ext cx="4008772" cy="4008772"/>
          </a:xfrm>
          <a:custGeom>
            <a:avLst/>
            <a:gdLst/>
            <a:ahLst/>
            <a:cxnLst/>
            <a:rect l="l" t="t" r="r" b="b"/>
            <a:pathLst>
              <a:path w="4008772" h="4008772">
                <a:moveTo>
                  <a:pt x="0" y="0"/>
                </a:moveTo>
                <a:lnTo>
                  <a:pt x="4008772" y="0"/>
                </a:lnTo>
                <a:lnTo>
                  <a:pt x="4008772" y="4008772"/>
                </a:lnTo>
                <a:lnTo>
                  <a:pt x="0" y="4008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385956">
            <a:off x="15458379" y="9188718"/>
            <a:ext cx="3759001" cy="3759001"/>
          </a:xfrm>
          <a:custGeom>
            <a:avLst/>
            <a:gdLst/>
            <a:ahLst/>
            <a:cxnLst/>
            <a:rect l="l" t="t" r="r" b="b"/>
            <a:pathLst>
              <a:path w="3759001" h="3759001">
                <a:moveTo>
                  <a:pt x="0" y="0"/>
                </a:moveTo>
                <a:lnTo>
                  <a:pt x="3759000" y="0"/>
                </a:lnTo>
                <a:lnTo>
                  <a:pt x="3759000" y="3759001"/>
                </a:lnTo>
                <a:lnTo>
                  <a:pt x="0" y="375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2205" y="-906354"/>
            <a:ext cx="3316857" cy="3677966"/>
          </a:xfrm>
          <a:custGeom>
            <a:avLst/>
            <a:gdLst/>
            <a:ahLst/>
            <a:cxnLst/>
            <a:rect l="l" t="t" r="r" b="b"/>
            <a:pathLst>
              <a:path w="3316857" h="3677966">
                <a:moveTo>
                  <a:pt x="0" y="0"/>
                </a:moveTo>
                <a:lnTo>
                  <a:pt x="3316856" y="0"/>
                </a:lnTo>
                <a:lnTo>
                  <a:pt x="3316856" y="3677966"/>
                </a:lnTo>
                <a:lnTo>
                  <a:pt x="0" y="3677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2487" y="3793494"/>
            <a:ext cx="8845513" cy="4627793"/>
          </a:xfrm>
          <a:custGeom>
            <a:avLst/>
            <a:gdLst/>
            <a:ahLst/>
            <a:cxnLst/>
            <a:rect l="l" t="t" r="r" b="b"/>
            <a:pathLst>
              <a:path w="8845513" h="4627793">
                <a:moveTo>
                  <a:pt x="0" y="0"/>
                </a:moveTo>
                <a:lnTo>
                  <a:pt x="8845513" y="0"/>
                </a:lnTo>
                <a:lnTo>
                  <a:pt x="8845513" y="4627793"/>
                </a:lnTo>
                <a:lnTo>
                  <a:pt x="0" y="4627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907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8129" y="718132"/>
            <a:ext cx="12606310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Importancia de la Separación de Niveles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0440" y="3954190"/>
            <a:ext cx="9199542" cy="505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sz="2876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PERMITE LA INDEPENDENCIA DE DATOS:</a:t>
            </a:r>
          </a:p>
          <a:p>
            <a:pPr marL="621000" lvl="1" indent="-310500" algn="l">
              <a:lnSpc>
                <a:spcPts val="5781"/>
              </a:lnSpc>
              <a:buFont typeface="Arial"/>
              <a:buChar char="•"/>
            </a:pPr>
            <a:r>
              <a:rPr lang="en-US" sz="2876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INDEPENDENCIA FÍSICA: CAMBIOS EN HARDWARE SIN AFECTAR APLICACIONES.</a:t>
            </a:r>
          </a:p>
          <a:p>
            <a:pPr marL="621000" lvl="1" indent="-310500" algn="l">
              <a:lnSpc>
                <a:spcPts val="5781"/>
              </a:lnSpc>
              <a:buFont typeface="Arial"/>
              <a:buChar char="•"/>
            </a:pPr>
            <a:r>
              <a:rPr lang="en-US" sz="2876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INDEPENDENCIA LÓGICA: CAMBIOS EN ESTRUCTURA SIN AFECTAR USUARIOS.</a:t>
            </a:r>
          </a:p>
          <a:p>
            <a:pPr marL="621000" lvl="1" indent="-310500" algn="l">
              <a:lnSpc>
                <a:spcPts val="5781"/>
              </a:lnSpc>
              <a:buFont typeface="Arial"/>
              <a:buChar char="•"/>
            </a:pPr>
            <a:r>
              <a:rPr lang="en-US" sz="2876" dirty="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FACILITA MANTENIMIENTO, ESCALABILIDAD Y EVOLUCIÓN TECNOLÓGICA.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81544" y="2400300"/>
            <a:ext cx="13134245" cy="6337617"/>
          </a:xfrm>
          <a:custGeom>
            <a:avLst/>
            <a:gdLst/>
            <a:ahLst/>
            <a:cxnLst/>
            <a:rect l="l" t="t" r="r" b="b"/>
            <a:pathLst>
              <a:path w="13134245" h="6337617">
                <a:moveTo>
                  <a:pt x="0" y="0"/>
                </a:moveTo>
                <a:lnTo>
                  <a:pt x="13134246" y="0"/>
                </a:lnTo>
                <a:lnTo>
                  <a:pt x="13134246" y="6337617"/>
                </a:lnTo>
                <a:lnTo>
                  <a:pt x="0" y="6337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99" b="-609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04900"/>
            <a:ext cx="1091048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Ejemplo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1091048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Funciones del SGBD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75868" y="2943907"/>
            <a:ext cx="11459411" cy="583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Un Sistema de Gestión de Bases de Datos permite:</a:t>
            </a:r>
          </a:p>
          <a:p>
            <a:pPr marL="894448" lvl="1" indent="-447224" algn="l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Gestionar almacenamiento de datos</a:t>
            </a:r>
          </a:p>
          <a:p>
            <a:pPr marL="894448" lvl="1" indent="-447224" algn="l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Controlar acceso y seguridad</a:t>
            </a:r>
          </a:p>
          <a:p>
            <a:pPr marL="894448" lvl="1" indent="-447224" algn="l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Garantizar integridad de información</a:t>
            </a:r>
          </a:p>
          <a:p>
            <a:pPr marL="894448" lvl="1" indent="-447224" algn="l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Permitir acceso concurrente de múltiples usuarios.</a:t>
            </a:r>
          </a:p>
          <a:p>
            <a:pPr algn="l">
              <a:lnSpc>
                <a:spcPts val="5800"/>
              </a:lnSpc>
            </a:pPr>
            <a:endParaRPr lang="en-US" sz="4142">
              <a:solidFill>
                <a:srgbClr val="061D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Freeform 4"/>
          <p:cNvSpPr/>
          <p:nvPr/>
        </p:nvSpPr>
        <p:spPr>
          <a:xfrm rot="-1755142">
            <a:off x="13205101" y="939803"/>
            <a:ext cx="3129511" cy="3470224"/>
          </a:xfrm>
          <a:custGeom>
            <a:avLst/>
            <a:gdLst/>
            <a:ahLst/>
            <a:cxnLst/>
            <a:rect l="l" t="t" r="r" b="b"/>
            <a:pathLst>
              <a:path w="3129511" h="3470224">
                <a:moveTo>
                  <a:pt x="0" y="0"/>
                </a:moveTo>
                <a:lnTo>
                  <a:pt x="3129512" y="0"/>
                </a:lnTo>
                <a:lnTo>
                  <a:pt x="3129512" y="3470225"/>
                </a:lnTo>
                <a:lnTo>
                  <a:pt x="0" y="3470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0061" y="3263733"/>
            <a:ext cx="8600013" cy="424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COMPONENTES IMPORTANTES:</a:t>
            </a:r>
          </a:p>
          <a:p>
            <a:pPr marL="748240" lvl="1" indent="-374120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MOTOR DE BASE DE DATOS</a:t>
            </a:r>
          </a:p>
          <a:p>
            <a:pPr marL="748240" lvl="1" indent="-374120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INTERFAZ DE USUARIO (SQL, GUI)</a:t>
            </a:r>
          </a:p>
          <a:p>
            <a:pPr marL="748240" lvl="1" indent="-374120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HERRAMIENTAS DE ADMINISTRACIÓN (BACKUP, SEGURIDAD, MONITOREO)</a:t>
            </a:r>
          </a:p>
          <a:p>
            <a:pPr algn="ctr">
              <a:lnSpc>
                <a:spcPts val="4851"/>
              </a:lnSpc>
            </a:pPr>
            <a:endParaRPr lang="en-US" sz="3465">
              <a:solidFill>
                <a:srgbClr val="061D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Freeform 3"/>
          <p:cNvSpPr/>
          <p:nvPr/>
        </p:nvSpPr>
        <p:spPr>
          <a:xfrm rot="-2270815">
            <a:off x="8963674" y="7862132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077939">
            <a:off x="3821637" y="7268853"/>
            <a:ext cx="5121852" cy="7634196"/>
          </a:xfrm>
          <a:custGeom>
            <a:avLst/>
            <a:gdLst/>
            <a:ahLst/>
            <a:cxnLst/>
            <a:rect l="l" t="t" r="r" b="b"/>
            <a:pathLst>
              <a:path w="5121852" h="7634196">
                <a:moveTo>
                  <a:pt x="0" y="0"/>
                </a:moveTo>
                <a:lnTo>
                  <a:pt x="5121852" y="0"/>
                </a:lnTo>
                <a:lnTo>
                  <a:pt x="5121852" y="7634196"/>
                </a:lnTo>
                <a:lnTo>
                  <a:pt x="0" y="7634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70074" y="1714500"/>
            <a:ext cx="3714337" cy="1776921"/>
          </a:xfrm>
          <a:custGeom>
            <a:avLst/>
            <a:gdLst/>
            <a:ahLst/>
            <a:cxnLst/>
            <a:rect l="l" t="t" r="r" b="b"/>
            <a:pathLst>
              <a:path w="3714337" h="1776921">
                <a:moveTo>
                  <a:pt x="0" y="0"/>
                </a:moveTo>
                <a:lnTo>
                  <a:pt x="3714337" y="0"/>
                </a:lnTo>
                <a:lnTo>
                  <a:pt x="3714337" y="1776921"/>
                </a:lnTo>
                <a:lnTo>
                  <a:pt x="0" y="1776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45363" y="1357692"/>
            <a:ext cx="2490536" cy="2490536"/>
          </a:xfrm>
          <a:custGeom>
            <a:avLst/>
            <a:gdLst/>
            <a:ahLst/>
            <a:cxnLst/>
            <a:rect l="l" t="t" r="r" b="b"/>
            <a:pathLst>
              <a:path w="2490536" h="2490536">
                <a:moveTo>
                  <a:pt x="0" y="0"/>
                </a:moveTo>
                <a:lnTo>
                  <a:pt x="2490536" y="0"/>
                </a:lnTo>
                <a:lnTo>
                  <a:pt x="2490536" y="2490536"/>
                </a:lnTo>
                <a:lnTo>
                  <a:pt x="0" y="2490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9880" y="4211890"/>
            <a:ext cx="3214531" cy="2410898"/>
          </a:xfrm>
          <a:custGeom>
            <a:avLst/>
            <a:gdLst/>
            <a:ahLst/>
            <a:cxnLst/>
            <a:rect l="l" t="t" r="r" b="b"/>
            <a:pathLst>
              <a:path w="3214531" h="2410898">
                <a:moveTo>
                  <a:pt x="0" y="0"/>
                </a:moveTo>
                <a:lnTo>
                  <a:pt x="3214531" y="0"/>
                </a:lnTo>
                <a:lnTo>
                  <a:pt x="3214531" y="2410898"/>
                </a:lnTo>
                <a:lnTo>
                  <a:pt x="0" y="2410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45363" y="4806901"/>
            <a:ext cx="2697369" cy="2697369"/>
          </a:xfrm>
          <a:custGeom>
            <a:avLst/>
            <a:gdLst/>
            <a:ahLst/>
            <a:cxnLst/>
            <a:rect l="l" t="t" r="r" b="b"/>
            <a:pathLst>
              <a:path w="2697369" h="2697369">
                <a:moveTo>
                  <a:pt x="0" y="0"/>
                </a:moveTo>
                <a:lnTo>
                  <a:pt x="2697369" y="0"/>
                </a:lnTo>
                <a:lnTo>
                  <a:pt x="2697369" y="2697369"/>
                </a:lnTo>
                <a:lnTo>
                  <a:pt x="0" y="26973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104900"/>
            <a:ext cx="1022500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Componentes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0689" y="3062095"/>
            <a:ext cx="6887429" cy="136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6"/>
              </a:lnSpc>
            </a:pPr>
            <a:r>
              <a:rPr lang="en-US" sz="9566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Conclusión</a:t>
            </a:r>
          </a:p>
        </p:txBody>
      </p:sp>
      <p:sp>
        <p:nvSpPr>
          <p:cNvPr id="3" name="Freeform 3"/>
          <p:cNvSpPr/>
          <p:nvPr/>
        </p:nvSpPr>
        <p:spPr>
          <a:xfrm rot="-5124692">
            <a:off x="13064613" y="3421599"/>
            <a:ext cx="5121852" cy="7634196"/>
          </a:xfrm>
          <a:custGeom>
            <a:avLst/>
            <a:gdLst/>
            <a:ahLst/>
            <a:cxnLst/>
            <a:rect l="l" t="t" r="r" b="b"/>
            <a:pathLst>
              <a:path w="5121852" h="7634196">
                <a:moveTo>
                  <a:pt x="0" y="0"/>
                </a:moveTo>
                <a:lnTo>
                  <a:pt x="5121851" y="0"/>
                </a:lnTo>
                <a:lnTo>
                  <a:pt x="5121851" y="7634196"/>
                </a:lnTo>
                <a:lnTo>
                  <a:pt x="0" y="763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270815">
            <a:off x="6604331" y="-2365929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270815">
            <a:off x="11751457" y="2553033"/>
            <a:ext cx="3371815" cy="3738907"/>
          </a:xfrm>
          <a:custGeom>
            <a:avLst/>
            <a:gdLst/>
            <a:ahLst/>
            <a:cxnLst/>
            <a:rect l="l" t="t" r="r" b="b"/>
            <a:pathLst>
              <a:path w="3371815" h="3738907">
                <a:moveTo>
                  <a:pt x="0" y="0"/>
                </a:moveTo>
                <a:lnTo>
                  <a:pt x="3371815" y="0"/>
                </a:lnTo>
                <a:lnTo>
                  <a:pt x="3371815" y="3738907"/>
                </a:lnTo>
                <a:lnTo>
                  <a:pt x="0" y="3738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47876" y="5352002"/>
            <a:ext cx="8329251" cy="368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1"/>
              </a:lnSpc>
            </a:pPr>
            <a:r>
              <a:rPr lang="en-US" sz="422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LA ARQUITECTURA DE BASES DE DATOS ES CLAVE PARA CREAR SISTEMAS SEGUROS, EFICIENTES Y ESCALABLES.</a:t>
            </a:r>
          </a:p>
          <a:p>
            <a:pPr algn="ctr">
              <a:lnSpc>
                <a:spcPts val="5911"/>
              </a:lnSpc>
            </a:pPr>
            <a:endParaRPr lang="en-US" sz="4222">
              <a:solidFill>
                <a:srgbClr val="061D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75521" y="3424185"/>
            <a:ext cx="9936957" cy="245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9"/>
              </a:lnSpc>
            </a:pPr>
            <a:r>
              <a:rPr lang="en-US" sz="17219" b="1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Gracias</a:t>
            </a:r>
          </a:p>
        </p:txBody>
      </p:sp>
      <p:sp>
        <p:nvSpPr>
          <p:cNvPr id="3" name="Freeform 3"/>
          <p:cNvSpPr/>
          <p:nvPr/>
        </p:nvSpPr>
        <p:spPr>
          <a:xfrm rot="2121943">
            <a:off x="15596687" y="57005"/>
            <a:ext cx="7085175" cy="10560558"/>
          </a:xfrm>
          <a:custGeom>
            <a:avLst/>
            <a:gdLst/>
            <a:ahLst/>
            <a:cxnLst/>
            <a:rect l="l" t="t" r="r" b="b"/>
            <a:pathLst>
              <a:path w="7085175" h="10560558">
                <a:moveTo>
                  <a:pt x="0" y="0"/>
                </a:moveTo>
                <a:lnTo>
                  <a:pt x="7085175" y="0"/>
                </a:lnTo>
                <a:lnTo>
                  <a:pt x="7085175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423199" y="-1566513"/>
            <a:ext cx="6903797" cy="6903797"/>
          </a:xfrm>
          <a:custGeom>
            <a:avLst/>
            <a:gdLst/>
            <a:ahLst/>
            <a:cxnLst/>
            <a:rect l="l" t="t" r="r" b="b"/>
            <a:pathLst>
              <a:path w="6903797" h="6903797">
                <a:moveTo>
                  <a:pt x="0" y="0"/>
                </a:moveTo>
                <a:lnTo>
                  <a:pt x="6903798" y="0"/>
                </a:lnTo>
                <a:lnTo>
                  <a:pt x="6903798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15019" y="7721649"/>
            <a:ext cx="4626961" cy="5130703"/>
          </a:xfrm>
          <a:custGeom>
            <a:avLst/>
            <a:gdLst/>
            <a:ahLst/>
            <a:cxnLst/>
            <a:rect l="l" t="t" r="r" b="b"/>
            <a:pathLst>
              <a:path w="4626961" h="5130703">
                <a:moveTo>
                  <a:pt x="0" y="0"/>
                </a:moveTo>
                <a:lnTo>
                  <a:pt x="4626961" y="0"/>
                </a:lnTo>
                <a:lnTo>
                  <a:pt x="4626961" y="5130702"/>
                </a:lnTo>
                <a:lnTo>
                  <a:pt x="0" y="513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260</Words>
  <Application>Microsoft Office PowerPoint</Application>
  <PresentationFormat>Personalizado</PresentationFormat>
  <Paragraphs>42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Migra Extra-Light</vt:lpstr>
      <vt:lpstr>Montserrat</vt:lpstr>
      <vt:lpstr>Calibri</vt:lpstr>
      <vt:lpstr>Migra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Bases de Datos</dc:title>
  <cp:lastModifiedBy>MIMI</cp:lastModifiedBy>
  <cp:revision>3</cp:revision>
  <dcterms:created xsi:type="dcterms:W3CDTF">2006-08-16T00:00:00Z</dcterms:created>
  <dcterms:modified xsi:type="dcterms:W3CDTF">2026-04-01T15:55:51Z</dcterms:modified>
  <dc:identifier>DAHFlt9yTH0</dc:identifier>
</cp:coreProperties>
</file>