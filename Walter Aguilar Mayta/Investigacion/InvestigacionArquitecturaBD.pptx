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914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5087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3317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Tres Niveles de Arquitectura  ·  Funciones del SGBD  ·  Componentes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788920"/>
            <a:ext cx="3200400" cy="274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301752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Materia: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Bases de Datos 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31012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Docente: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ALEJANDRO MARCO CORTES MONTES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50" y="3602715"/>
            <a:ext cx="7863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Walter Fernando Aguilar Mayta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·  24245</a:t>
            </a:r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Paz, Abril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Universidad de Los Andes - UNANDES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105156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10698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60120" y="10058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Arquitectura de Tres Niveles (ANSI/SPARC)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176479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60120" y="171907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Interno — Almacenamiento físico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2478024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2496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60120" y="243230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Conceptual — Esquema lógico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3191256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32095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60120" y="314553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Externo — Vistas de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846320" y="1051560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846320" y="10698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349240" y="10058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Funciones del SGBD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46320" y="1764792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846320" y="17830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349240" y="1719072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Integridad, Seguridad y Concurrencia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846320" y="2478024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846320" y="2496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349240" y="2432304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Componentes: Motor de 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846320" y="3191256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46320" y="32095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49240" y="3145536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Componentes: Interfaz y Herramientas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846320" y="3904488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846320" y="3922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349240" y="3858768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Resumen y Conclusiones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Arquitectura de Tres Niveles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Modelo ANSI/SPARC (1975) — Separación de responsabilidades entre usuarios, lógica y almacenamiento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40080" y="114300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841248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NIVEL EXTERNO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41248" y="152704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Vistas personalizadas para cada usuario o aplicación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361688" y="2011680"/>
            <a:ext cx="54864" cy="20116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0080" y="2240280"/>
            <a:ext cx="54864" cy="8229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41248" y="2331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NIVEL CONCEPTUAL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41248" y="262432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Esquema lógico global: tablas, relaciones, restricciones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361688" y="3108960"/>
            <a:ext cx="54864" cy="20116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40080" y="333756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841248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INTERNO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41248" y="3721608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Almacenamiento físico: archivos, índices, bloques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63440" y="203911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Mapeo Externo / Conceptual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663440" y="3154680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Mapeo Conceptual / Interno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4251960"/>
            <a:ext cx="54864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13232" y="4343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Beneficio clave: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103120" y="43434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cambios físicos no afectan a las aplicaciones. Los cambios lógicos no rompen las vistas.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11430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Interno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43000" y="6400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Capa física — más cercana al 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65760" y="137160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365760" y="1371600"/>
            <a:ext cx="54864" cy="8686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Archivos físicos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17739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Almacenamiento en disco (.mdf, .ibd, data/base/)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65760" y="242316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65760" y="2423160"/>
            <a:ext cx="54864" cy="8686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94360" y="2514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Índices B+Tree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" y="282549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Estructuras para acceso rápido sin escanear toda la tabla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65760" y="347472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65760" y="3474720"/>
            <a:ext cx="54864" cy="8686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59436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Páginas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94360" y="3877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Bloques de 8 KB con filas de longitud fija o variable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754880" y="137160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754880" y="1371600"/>
            <a:ext cx="54864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98348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Buffer pool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83480" y="177393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Caché en memoria para reducir lecturas a disco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754880" y="242316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754880" y="2423160"/>
            <a:ext cx="54864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983480" y="2514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Compresión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983480" y="282549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Reduce espacio y mejora rendimiento de I/O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754880" y="3474720"/>
            <a:ext cx="4023360" cy="8686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754880" y="3474720"/>
            <a:ext cx="54864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98348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Independencia física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983480" y="38770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Las capas superiores no conocen estos detalles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Nivel Interno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11430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Conceptual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143000" y="6400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Corazón de la base de datos — </a:t>
            </a:r>
            <a:r>
              <a:rPr lang="en-US" sz="120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 existe y cómo se relaciona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¿Qué define?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11480" y="1847088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594360" y="175564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Entidades y atributos (tablas y columnas)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11480" y="2322576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94360" y="223113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Relaciones entre entidades (claves foráneas)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11480" y="2798064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94360" y="270662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Restricciones de integridad (PK, FK, CHECK)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11480" y="3273552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94360" y="318211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Tipos de datos abstractos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11480" y="3749040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94360" y="36576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Reglas de negocio (triggers, constraints)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54880" y="13258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754880" y="1691640"/>
            <a:ext cx="4023360" cy="28346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754880" y="1691640"/>
            <a:ext cx="54864" cy="2834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83480" y="182880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CREATE TABLE POLIZA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983480" y="214884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id_poliza   SERIAL PRIMARY KEY,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983480" y="246888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numero      VARCHAR(20) UNIQUE,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983480" y="278892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monto       NUMERIC(12,2),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983480" y="310896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id_asegurado 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983480" y="342900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  REFERENCES ASEGURADO(id),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983480" y="374904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  CHECK (monto &gt; 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983480" y="406908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B3A6B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Nivel Conceptual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1430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Externo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143000" y="6400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Perspectiva personalizada de cada usuario — principio de mínimo privilegio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65760" y="1371600"/>
            <a:ext cx="2651760" cy="192024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57200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75488" y="188366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Vista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75488" y="20848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columnas: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75488" y="233172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id_paciente, nombre, diagnóstico, medicación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291840" y="1371600"/>
            <a:ext cx="2651760" cy="192024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291840" y="1371600"/>
            <a:ext cx="265176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383280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401568" y="188366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Vista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401568" y="20848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columnas: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401568" y="233172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id_paciente, nombre, servicio, costo_total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17920" y="1371600"/>
            <a:ext cx="2651760" cy="192024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217920" y="1371600"/>
            <a:ext cx="265176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309360" y="143560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327648" y="188366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Vista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327648" y="2084832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columnas: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327648" y="233172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departamento, total_atenciones, costo_mes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3474720"/>
            <a:ext cx="822960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Todas las vistas leen las mismas tablas físicas — sin duplicar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57200" y="4069080"/>
            <a:ext cx="54864" cy="7315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685800" y="4187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Implementado con: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31720" y="418795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VIEW  ·  GRANT / REVOKE  ·  Roles y permisos por usuario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Nivel Externo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Funciones Principales del SGBD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 SGBD es mucho más que un "lugar para guardar datos"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65760" y="109728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75488" y="139903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75488" y="14173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60120" y="12070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Definición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60120" y="15544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DDL: CREATE, ALTER, DROP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663440" y="109728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773168" y="139903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4773168" y="14173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257800" y="12070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Manipulación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257800" y="15544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DML: SELECT, INSERT, UPDATE,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365760" y="228600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75488" y="258775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75488" y="2606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960120" y="23957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Control de acceso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60120" y="2743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DCL: GRANT, REVOKE,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663440" y="228600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773168" y="258775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773168" y="2606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257800" y="23957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Gestión de transacciones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257800" y="2743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TCL: COMMIT, ROLLBACK — propiedades ACID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65760" y="347472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75488" y="377647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75488" y="3794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960120" y="35844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Recuperación ante fallos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60120" y="3931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Write-Ahead Log, checkpoints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663440" y="3474720"/>
            <a:ext cx="3977640" cy="9601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773168" y="377647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773168" y="3794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257800" y="35844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Gestión de almacenamiento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257800" y="3931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Tablespaces, buffer pool, I/O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Funciones del SGBD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Integridad · Seguridad · Concurrencia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65760" y="8229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INTEGRIDAD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84048" y="1261872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66928" y="11612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Entidad: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PK única y no nula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84048" y="1682496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566928" y="158191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Referencial: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FK apunta a valor existente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84048" y="2103120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66928" y="2002536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Dominio: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Tipos, CHECK constraints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84048" y="2523744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66928" y="24231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Usuario: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Triggers, reglas de negocio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00400" y="8229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218688" y="1261872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401568" y="116128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Autenticación: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Contraseña, LDAP, certificados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218688" y="1682496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401568" y="158191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Autorización: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GRANT / REVOKE por 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218688" y="2103120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401568" y="200253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Auditoría: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 de accesos (ASFI, UIF)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218688" y="2523744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401568" y="24231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Cifrado: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TDE en reposo, SSL en tránsito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CONCURRENCIA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053328" y="1261872"/>
            <a:ext cx="73152" cy="7315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36208" y="116128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Lectura sucia: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READ COMMITTED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053328" y="1682496"/>
            <a:ext cx="73152" cy="7315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6236208" y="1581912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Lectura no repetible: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REPEATABLE READ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053328" y="2103120"/>
            <a:ext cx="73152" cy="7315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236208" y="2002536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Lectura fantasma: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SERIALIZABLE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053328" y="2523744"/>
            <a:ext cx="73152" cy="7315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236208" y="242316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Escritura perdida: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MVCC, X-locks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063240" y="804672"/>
            <a:ext cx="22860" cy="29260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5897880" y="804672"/>
            <a:ext cx="22860" cy="29260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65760" y="4041648"/>
            <a:ext cx="8412480" cy="777240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94360" y="418795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Propiedades ACID: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2377440" y="42062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2377440" y="422452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779776" y="42336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Atomicidad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023360" y="42062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023360" y="422452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425696" y="42336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Consistencia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69280" y="42062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669280" y="422452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071616" y="42336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Aislamiento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315200" y="4206240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315200" y="422452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717536" y="42336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Durabilidad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Funciones del SGBD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4688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114300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 Base de Datos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143000" y="640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Núcleo del SGBD — procesa cada consulta de inicio a fin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66344" y="1325880"/>
            <a:ext cx="1554480" cy="2468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66344" y="1325880"/>
            <a:ext cx="1554480" cy="3474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66344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39496" y="1828800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Parser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57784" y="22402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Verifica sintaxis SQL. Produce árbol de análisis.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039112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2130552" y="1325880"/>
            <a:ext cx="1554480" cy="2468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2130552" y="1325880"/>
            <a:ext cx="155448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130552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2203704" y="1828800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Semántico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2221992" y="22402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 tablas, columnas y tipos de datos.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703320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794760" y="1325880"/>
            <a:ext cx="1554480" cy="2468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794760" y="1325880"/>
            <a:ext cx="1554480" cy="3474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3794760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867912" y="1828800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Optimizador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3886200" y="22402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Elige el plan de ejecución más eficiente.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367528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458968" y="1325880"/>
            <a:ext cx="1554480" cy="2468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458968" y="1325880"/>
            <a:ext cx="155448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5458968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532120" y="1828800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550408" y="22402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Aplica el plan: índices, joins, filtros.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7031736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123176" y="1325880"/>
            <a:ext cx="1554480" cy="246888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123176" y="1325880"/>
            <a:ext cx="155448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7123176" y="137160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7196328" y="1828800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7214616" y="22402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Lee/escribe páginas en buffer pool y disco.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57200" y="39319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También incluye: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423160" y="4050792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2606040" y="3977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Gestor de Transacciones (ACID)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2423160" y="4352544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2606040" y="4279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Gestor de Bloqueos (concurrencia)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423160" y="4654296"/>
            <a:ext cx="73152" cy="7315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2606040" y="45811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Gestor de Recuperación (WAL)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Componentes del SGBD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4688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114300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Interfaz de Usuario del SGBD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143000" y="640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Distintos perfiles, distintas formas de interactuar con la 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365760" y="1325880"/>
            <a:ext cx="1463040" cy="5943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365760" y="14630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1965960" y="14356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psql, mysql, sqlcmd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400800" y="14904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DBA / Desarrollador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365760" y="2039112"/>
            <a:ext cx="8412480" cy="594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365760" y="2039112"/>
            <a:ext cx="1463040" cy="594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365760" y="217627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965960" y="21488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pgAdmin, SSMS, DBeaver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400800" y="22037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DBA / Analista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365760" y="2752344"/>
            <a:ext cx="8412480" cy="594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365760" y="2752344"/>
            <a:ext cx="1463040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365760" y="2889504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Driver/API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965960" y="286207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JDBC, PDO, psycopg2, Eloquent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400800" y="291693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365760" y="3465576"/>
            <a:ext cx="8412480" cy="594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365760" y="3465576"/>
            <a:ext cx="1463040" cy="5943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365760" y="3602736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965960" y="357530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ERP, CRM, sistemas empresariales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400800" y="363016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Usuario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365760" y="4178808"/>
            <a:ext cx="8412480" cy="59436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365760" y="4178808"/>
            <a:ext cx="1463040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365760" y="431596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 /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965960" y="428853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Power BI, Metabase, Tableau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400800" y="434340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Analista / Gerencia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Componentes del SGBD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46888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/>
          <p:nvPr/>
        </p:nvSpPr>
        <p:spPr>
          <a:xfrm>
            <a:off x="1143000" y="1828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de Administración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1143000" y="640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Esenciales para mantener salud, rendimiento y seguridad en producción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365760" y="1325880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365760" y="1325880"/>
            <a:ext cx="54864" cy="9144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585216" y="1417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Backup y Restauración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85216" y="17830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pg_dump, mysqldump, RDS Snapshots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4709160" y="1325880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4709160" y="1325880"/>
            <a:ext cx="54864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4928616" y="1417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Monitor de Rendimiento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928616" y="17830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EXPLAIN ANALYZE, Slow Query Log, pg_stat_activity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365760" y="2441448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65760" y="2441448"/>
            <a:ext cx="54864" cy="914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585216" y="25328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Gestión de 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585216" y="28986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CREATE USER, GRANT, REVOKE,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4709160" y="2441448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709160" y="2441448"/>
            <a:ext cx="54864" cy="9144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4928616" y="25328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Mantenimiento de Índices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928616" y="289864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REINDEX, VACUUM ANALYZE, OPTIMIZE 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65760" y="3557016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365760" y="3557016"/>
            <a:ext cx="54864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585216" y="36484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Migración de Esquemas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85216" y="4014216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Flyway, Liquibase, Laravel Migrations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4709160" y="3557016"/>
            <a:ext cx="406908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4709160" y="3557016"/>
            <a:ext cx="54864" cy="9144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4928616" y="36484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Alta Disponibilidad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928616" y="4014216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Replicación, failover automático, Multi-AZ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Componentes del SGBD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SGBD Populares — Comparativo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Todos comparten la misma arquitectura conceptual; difieren en implementación y casos de uso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457200" y="1097280"/>
            <a:ext cx="1645920" cy="4114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548640" y="1133856"/>
            <a:ext cx="15544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SGBD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2103120" y="1097280"/>
            <a:ext cx="2011680" cy="4114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194560" y="1133856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4114800" y="1097280"/>
            <a:ext cx="1463040" cy="4114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4206240" y="1133856"/>
            <a:ext cx="1371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5577840" y="1097280"/>
            <a:ext cx="3383280" cy="4114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5669280" y="1133856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Fortaleza principal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457200" y="1508760"/>
            <a:ext cx="164592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548640" y="158191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2103120" y="1508760"/>
            <a:ext cx="20116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2194560" y="1581912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114800" y="1508760"/>
            <a:ext cx="146304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4206240" y="1581912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5577840" y="1508760"/>
            <a:ext cx="33832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5669280" y="1581912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Cumplimiento estricto de SQL y ACID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57200" y="2075688"/>
            <a:ext cx="1645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548640" y="214884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2103120" y="2075688"/>
            <a:ext cx="2011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2194560" y="2148840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114800" y="2075688"/>
            <a:ext cx="14630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206240" y="214884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5577840" y="2075688"/>
            <a:ext cx="33832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5669280" y="2148840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Alta velocidad en lecturas 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457200" y="2642616"/>
            <a:ext cx="164592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548640" y="271576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SQL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2103120" y="2642616"/>
            <a:ext cx="20116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2194560" y="2715768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Microsoft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114800" y="2642616"/>
            <a:ext cx="146304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4206240" y="2715768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Propietaria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577840" y="2642616"/>
            <a:ext cx="33832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669280" y="271576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Integración con ecosistema Microsoft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457200" y="3209544"/>
            <a:ext cx="16459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548640" y="3282696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Oracle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2103120" y="3209544"/>
            <a:ext cx="2011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2194560" y="3282696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Oracle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4114800" y="3209544"/>
            <a:ext cx="14630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4206240" y="3282696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Propietaria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5577840" y="3209544"/>
            <a:ext cx="33832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5669280" y="3282696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Escalabilidad empresarial máxima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457200" y="3776472"/>
            <a:ext cx="164592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548640" y="3849624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2103120" y="3776472"/>
            <a:ext cx="20116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2194560" y="3849624"/>
            <a:ext cx="1874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SQLite Engine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4114800" y="3776472"/>
            <a:ext cx="146304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4206240" y="384962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577840" y="3776472"/>
            <a:ext cx="3383280" cy="53035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669280" y="3849624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BD embebida, sin servidor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Ejemplo Integrador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Sistema de Seguros — los tres niveles en acción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365760" y="1005840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594360" y="1078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NIVEL EXTERNO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2514600" y="1078992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 pólizas activas de sus clientes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Gerente: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 siniestros y reservas totales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 solo indicadores regulatorios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365760" y="2148840"/>
            <a:ext cx="8412480" cy="960120"/>
          </a:xfrm>
          <a:prstGeom prst="rect">
            <a:avLst/>
          </a:prstGeom>
          <a:solidFill>
            <a:srgbClr val="CCFBF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365760" y="2148840"/>
            <a:ext cx="54864" cy="9601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594360" y="22219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NIVEL CONCEPTUAL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2514600" y="2221992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Tablas: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ASEGURADO, POLIZA, SINIESTRO, COBERTURA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Relaciones: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FK entre POLIZA y ASEGURADO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Reglas: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monto_prima &gt; 0, vigencia futura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65760" y="3291840"/>
            <a:ext cx="8412480" cy="960120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365760" y="3291840"/>
            <a:ext cx="54864" cy="9601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594360" y="336499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NIVEL INTERNO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2514600" y="3364992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poliza.ibd en /data/seguros/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Índices: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B+Tree sobre (id_asegurado, vigencia)  </a:t>
            </a:r>
            <a:r>
              <a:rPr b="1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Páginas: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8KB con compresión InnoDB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4297680" y="1993392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4297680" y="3136392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  ·  Ejemplo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6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Resumen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365760" y="91440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502920" y="130759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1005840" y="10058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Arquitectura de 3 Niveles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1005840" y="14173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Interno (físico), Conceptual (lógico), Externo (vistas). Cada nivel es independiente.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4709160" y="91440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/>
          <p:nvPr/>
        </p:nvSpPr>
        <p:spPr>
          <a:xfrm>
            <a:off x="4846320" y="130759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"/>
          <p:cNvSpPr/>
          <p:nvPr/>
        </p:nvSpPr>
        <p:spPr>
          <a:xfrm>
            <a:off x="4846320" y="13258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5349240" y="10058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Independencia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5349240" y="141732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Cambios físicos no rompen aplicaciones. Cambios lógicos no rompen vistas.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365760" y="224028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502920" y="2633472"/>
            <a:ext cx="347472" cy="34747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6"/>
          <p:cNvSpPr/>
          <p:nvPr/>
        </p:nvSpPr>
        <p:spPr>
          <a:xfrm>
            <a:off x="5029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1005840" y="23317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Funciones del SGBD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005840" y="274320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Definición, manipulación, control, transacciones, recuperación y almacenamiento.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4709160" y="224028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4846320" y="2633472"/>
            <a:ext cx="347472" cy="34747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4846320" y="2651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5349240" y="23317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Garantías del SGBD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349240" y="274320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Integridad de 4 tipos, seguridad multicapa, control de concurrencia ACID.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365760" y="356616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02920" y="3959352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502920" y="39776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005840" y="36576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Motor de BD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1005840" y="406908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Parser → Semántico → Optimizador → Ejecución → Almacenamiento.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4709160" y="3566160"/>
            <a:ext cx="4069080" cy="1143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"/>
          <p:cNvSpPr/>
          <p:nvPr/>
        </p:nvSpPr>
        <p:spPr>
          <a:xfrm>
            <a:off x="4846320" y="3959352"/>
            <a:ext cx="347472" cy="347472"/>
          </a:xfrm>
          <a:prstGeom prst="ellipse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4846320" y="39776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5349240" y="36576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Interfaces y Herramientas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5349240" y="4069080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CLI, GUI, Driver/API, formularios, BI. Administración con backup, monitor y migración.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365760" y="480060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Arquitectura de Sistemas de Bases de Datos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502920" y="1078992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749808" y="960120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 separación en tres niveles hace posible la independencia de datos: cambiar el hardware no rompe las aplicaciones.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502920" y="1737360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"/>
          <p:cNvSpPr/>
          <p:nvPr/>
        </p:nvSpPr>
        <p:spPr>
          <a:xfrm>
            <a:off x="749808" y="1618488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SGBD no guarda datos solamente; garantiza integridad, seguridad y consistencia mediante mecanismos ACID.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502920" y="2395728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"/>
          <p:cNvSpPr/>
          <p:nvPr/>
        </p:nvSpPr>
        <p:spPr>
          <a:xfrm>
            <a:off x="749808" y="2276856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motor optimiza cada consulta antes de ejecutarla; entenderlo permite escribir software más eficiente.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502920" y="3054096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/>
          <p:nvPr/>
        </p:nvSpPr>
        <p:spPr>
          <a:xfrm>
            <a:off x="749808" y="2935224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Las herramientas de administración son críticas en producción: sin backup, sin monitoreo, el riesgo es alto.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502920" y="3712464"/>
            <a:ext cx="73152" cy="73152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749808" y="3593592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Estos conceptos aplican a cualquier SGBD moderno (PostgreSQL, MySQL, SQL Server, Oracle).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FDBFE"/>
                </a:solidFill>
                <a:latin typeface="Calibri"/>
                <a:ea typeface="Calibri"/>
                <a:cs typeface="Calibri"/>
                <a:sym typeface="Calibri"/>
              </a:rPr>
              <a:t>Bases de Datos I  ·  Arquitectura de Sistemas de Bases de Datos  ·  La Paz,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