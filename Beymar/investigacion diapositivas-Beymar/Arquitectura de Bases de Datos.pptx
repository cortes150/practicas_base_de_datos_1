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igra Ultra-Bold" charset="1" panose="00000900000000000000"/>
      <p:regular r:id="rId16"/>
    </p:embeddedFont>
    <p:embeddedFont>
      <p:font typeface="Montserrat" charset="1" panose="00000500000000000000"/>
      <p:regular r:id="rId17"/>
    </p:embeddedFont>
    <p:embeddedFont>
      <p:font typeface="Migra Extra-Light" charset="1" panose="000003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121943">
            <a:off x="13216109" y="-1183177"/>
            <a:ext cx="7085175" cy="10560558"/>
          </a:xfrm>
          <a:custGeom>
            <a:avLst/>
            <a:gdLst/>
            <a:ahLst/>
            <a:cxnLst/>
            <a:rect r="r" b="b" t="t" l="l"/>
            <a:pathLst>
              <a:path h="10560558" w="7085175">
                <a:moveTo>
                  <a:pt x="0" y="0"/>
                </a:moveTo>
                <a:lnTo>
                  <a:pt x="7085174" y="0"/>
                </a:lnTo>
                <a:lnTo>
                  <a:pt x="7085174" y="10560558"/>
                </a:lnTo>
                <a:lnTo>
                  <a:pt x="0" y="1056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66129" y="-3221691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8" y="0"/>
                </a:lnTo>
                <a:lnTo>
                  <a:pt x="6903798" y="6903798"/>
                </a:lnTo>
                <a:lnTo>
                  <a:pt x="0" y="6903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48134" y="6491289"/>
            <a:ext cx="2495341" cy="2767011"/>
          </a:xfrm>
          <a:custGeom>
            <a:avLst/>
            <a:gdLst/>
            <a:ahLst/>
            <a:cxnLst/>
            <a:rect r="r" b="b" t="t" l="l"/>
            <a:pathLst>
              <a:path h="2767011" w="2495341">
                <a:moveTo>
                  <a:pt x="0" y="0"/>
                </a:moveTo>
                <a:lnTo>
                  <a:pt x="2495341" y="0"/>
                </a:lnTo>
                <a:lnTo>
                  <a:pt x="2495341" y="2767011"/>
                </a:lnTo>
                <a:lnTo>
                  <a:pt x="0" y="2767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74258" y="2114697"/>
            <a:ext cx="9424526" cy="464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54"/>
              </a:lnSpc>
            </a:pPr>
            <a:r>
              <a:rPr lang="en-US" b="true" sz="11754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Arquitectura de Bases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69579" y="7531895"/>
            <a:ext cx="4532916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99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Bismark Sucojayo</a:t>
            </a:r>
          </a:p>
          <a:p>
            <a:pPr algn="l">
              <a:lnSpc>
                <a:spcPts val="2999"/>
              </a:lnSpc>
            </a:pPr>
            <a:r>
              <a:rPr lang="en-US" sz="2999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Beymar Condori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36960" y="7124066"/>
            <a:ext cx="4116942" cy="456606"/>
          </a:xfrm>
          <a:custGeom>
            <a:avLst/>
            <a:gdLst/>
            <a:ahLst/>
            <a:cxnLst/>
            <a:rect r="r" b="b" t="t" l="l"/>
            <a:pathLst>
              <a:path h="456606" w="4116942">
                <a:moveTo>
                  <a:pt x="0" y="0"/>
                </a:moveTo>
                <a:lnTo>
                  <a:pt x="4116942" y="0"/>
                </a:lnTo>
                <a:lnTo>
                  <a:pt x="4116942" y="456606"/>
                </a:lnTo>
                <a:lnTo>
                  <a:pt x="0" y="4566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96635" y="760605"/>
            <a:ext cx="11312060" cy="2647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4"/>
              </a:lnSpc>
            </a:pPr>
            <a:r>
              <a:rPr lang="en-US" b="true" sz="6714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Introducción a la Arquitectura de Bases de Datos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2853876">
            <a:off x="-1607723" y="5026392"/>
            <a:ext cx="5121852" cy="7634196"/>
          </a:xfrm>
          <a:custGeom>
            <a:avLst/>
            <a:gdLst/>
            <a:ahLst/>
            <a:cxnLst/>
            <a:rect r="r" b="b" t="t" l="l"/>
            <a:pathLst>
              <a:path h="7634196" w="5121852">
                <a:moveTo>
                  <a:pt x="0" y="0"/>
                </a:moveTo>
                <a:lnTo>
                  <a:pt x="5121852" y="0"/>
                </a:lnTo>
                <a:lnTo>
                  <a:pt x="5121852" y="7634197"/>
                </a:lnTo>
                <a:lnTo>
                  <a:pt x="0" y="7634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121485" y="-2883998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7" y="0"/>
                </a:lnTo>
                <a:lnTo>
                  <a:pt x="6903797" y="6903797"/>
                </a:lnTo>
                <a:lnTo>
                  <a:pt x="0" y="6903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32704" y="3407645"/>
            <a:ext cx="3371815" cy="3738907"/>
          </a:xfrm>
          <a:custGeom>
            <a:avLst/>
            <a:gdLst/>
            <a:ahLst/>
            <a:cxnLst/>
            <a:rect r="r" b="b" t="t" l="l"/>
            <a:pathLst>
              <a:path h="3738907" w="3371815">
                <a:moveTo>
                  <a:pt x="0" y="0"/>
                </a:moveTo>
                <a:lnTo>
                  <a:pt x="3371814" y="0"/>
                </a:lnTo>
                <a:lnTo>
                  <a:pt x="3371814" y="3738908"/>
                </a:lnTo>
                <a:lnTo>
                  <a:pt x="0" y="37389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96635" y="3917955"/>
            <a:ext cx="12162665" cy="5145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8"/>
              </a:lnSpc>
            </a:pPr>
            <a:r>
              <a:rPr lang="en-US" sz="5778">
                <a:solidFill>
                  <a:srgbClr val="8C52FF"/>
                </a:solidFill>
                <a:latin typeface="Migra Extra-Light"/>
                <a:ea typeface="Migra Extra-Light"/>
                <a:cs typeface="Migra Extra-Light"/>
                <a:sym typeface="Migra Extra-Light"/>
              </a:rPr>
              <a:t>La arquitectura de bases de datos permite gestionar información de forma organizada, segura y eficiente. Su objetivo es simplificar la interacción entre usuarios, aplicaciones y almacenamiento mediante niveles de abstracción.</a:t>
            </a:r>
          </a:p>
          <a:p>
            <a:pPr algn="ctr">
              <a:lnSpc>
                <a:spcPts val="577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07900">
            <a:off x="13441371" y="2495872"/>
            <a:ext cx="7085175" cy="10560558"/>
          </a:xfrm>
          <a:custGeom>
            <a:avLst/>
            <a:gdLst/>
            <a:ahLst/>
            <a:cxnLst/>
            <a:rect r="r" b="b" t="t" l="l"/>
            <a:pathLst>
              <a:path h="10560558" w="7085175">
                <a:moveTo>
                  <a:pt x="0" y="0"/>
                </a:moveTo>
                <a:lnTo>
                  <a:pt x="7085174" y="0"/>
                </a:lnTo>
                <a:lnTo>
                  <a:pt x="7085174" y="10560558"/>
                </a:lnTo>
                <a:lnTo>
                  <a:pt x="0" y="1056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385956">
            <a:off x="12592149" y="-1488576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7" y="0"/>
                </a:lnTo>
                <a:lnTo>
                  <a:pt x="6903797" y="6903798"/>
                </a:lnTo>
                <a:lnTo>
                  <a:pt x="0" y="69037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85956">
            <a:off x="11287324" y="4597619"/>
            <a:ext cx="2495341" cy="2767011"/>
          </a:xfrm>
          <a:custGeom>
            <a:avLst/>
            <a:gdLst/>
            <a:ahLst/>
            <a:cxnLst/>
            <a:rect r="r" b="b" t="t" l="l"/>
            <a:pathLst>
              <a:path h="2767011" w="2495341">
                <a:moveTo>
                  <a:pt x="0" y="0"/>
                </a:moveTo>
                <a:lnTo>
                  <a:pt x="2495341" y="0"/>
                </a:lnTo>
                <a:lnTo>
                  <a:pt x="2495341" y="2767011"/>
                </a:lnTo>
                <a:lnTo>
                  <a:pt x="0" y="2767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0366" y="7009481"/>
            <a:ext cx="8237440" cy="2531370"/>
          </a:xfrm>
          <a:custGeom>
            <a:avLst/>
            <a:gdLst/>
            <a:ahLst/>
            <a:cxnLst/>
            <a:rect r="r" b="b" t="t" l="l"/>
            <a:pathLst>
              <a:path h="2531370" w="8237440">
                <a:moveTo>
                  <a:pt x="0" y="0"/>
                </a:moveTo>
                <a:lnTo>
                  <a:pt x="8237441" y="0"/>
                </a:lnTo>
                <a:lnTo>
                  <a:pt x="8237441" y="2531370"/>
                </a:lnTo>
                <a:lnTo>
                  <a:pt x="0" y="25313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95375"/>
            <a:ext cx="9662292" cy="194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2"/>
              </a:lnSpc>
            </a:pPr>
            <a:r>
              <a:rPr lang="en-US" b="true" sz="7252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Arquitectura de Tres Niveles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77519"/>
            <a:ext cx="9200773" cy="376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9"/>
              </a:lnSpc>
            </a:pPr>
            <a:r>
              <a:rPr lang="en-US" sz="3128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LA ARQUITECTURA SE DIVIDE EN:</a:t>
            </a:r>
          </a:p>
          <a:p>
            <a:pPr algn="l" marL="675379" indent="-337690" lvl="1">
              <a:lnSpc>
                <a:spcPts val="4379"/>
              </a:lnSpc>
              <a:buFont typeface="Arial"/>
              <a:buChar char="•"/>
            </a:pPr>
            <a:r>
              <a:rPr lang="en-US" sz="3128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NIVEL EXTERNO (VISTAS DE USUARIO)</a:t>
            </a:r>
          </a:p>
          <a:p>
            <a:pPr algn="l" marL="675379" indent="-337690" lvl="1">
              <a:lnSpc>
                <a:spcPts val="4379"/>
              </a:lnSpc>
              <a:buFont typeface="Arial"/>
              <a:buChar char="•"/>
            </a:pPr>
            <a:r>
              <a:rPr lang="en-US" sz="3128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NIVEL CONCEPTUAL (ESTRUCTURA LÓGICA)</a:t>
            </a:r>
          </a:p>
          <a:p>
            <a:pPr algn="l" marL="675379" indent="-337690" lvl="1">
              <a:lnSpc>
                <a:spcPts val="4379"/>
              </a:lnSpc>
              <a:buFont typeface="Arial"/>
              <a:buChar char="•"/>
            </a:pPr>
            <a:r>
              <a:rPr lang="en-US" sz="3128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NIVEL INTERNO (ALMACENAMIENTO FÍSICO)</a:t>
            </a:r>
          </a:p>
          <a:p>
            <a:pPr algn="ctr">
              <a:lnSpc>
                <a:spcPts val="369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04900"/>
            <a:ext cx="850062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Los 3 niveles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0057" y="4600293"/>
            <a:ext cx="2464076" cy="72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5100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Externo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02377" y="3003723"/>
            <a:ext cx="493093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Conceptual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8605" y="5708167"/>
            <a:ext cx="3186981" cy="285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511" indent="-247755" lvl="1">
              <a:lnSpc>
                <a:spcPts val="4613"/>
              </a:lnSpc>
              <a:buFont typeface="Arial"/>
              <a:buChar char="•"/>
            </a:pPr>
            <a:r>
              <a:rPr lang="en-US" sz="2295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MUESTRA SOLO LA INFORMACIÓN RELEVANTE PARA CADA USUARIO.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02377" y="3843533"/>
            <a:ext cx="4527655" cy="348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3401" indent="-251700" lvl="1">
              <a:lnSpc>
                <a:spcPts val="4686"/>
              </a:lnSpc>
              <a:buFont typeface="Arial"/>
              <a:buChar char="•"/>
            </a:pPr>
            <a:r>
              <a:rPr lang="en-US" sz="2331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DEFINE ENTIDADES, ATRIBUTOS Y RELACIONES.</a:t>
            </a:r>
          </a:p>
          <a:p>
            <a:pPr algn="l" marL="503401" indent="-251700" lvl="1">
              <a:lnSpc>
                <a:spcPts val="4686"/>
              </a:lnSpc>
              <a:buFont typeface="Arial"/>
              <a:buChar char="•"/>
            </a:pPr>
            <a:r>
              <a:rPr lang="en-US" sz="2331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REPRESENTA EL DISEÑO LÓGICO GLOBAL DE LA BASE DE DATOS.</a:t>
            </a:r>
          </a:p>
        </p:txBody>
      </p:sp>
      <p:sp>
        <p:nvSpPr>
          <p:cNvPr name="AutoShape 7" id="7"/>
          <p:cNvSpPr/>
          <p:nvPr/>
        </p:nvSpPr>
        <p:spPr>
          <a:xfrm>
            <a:off x="5274248" y="3686225"/>
            <a:ext cx="0" cy="3846040"/>
          </a:xfrm>
          <a:prstGeom prst="line">
            <a:avLst/>
          </a:prstGeom>
          <a:ln cap="flat" w="85725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2385956">
            <a:off x="13962366" y="-2983358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7" y="0"/>
                </a:lnTo>
                <a:lnTo>
                  <a:pt x="6903797" y="6903798"/>
                </a:lnTo>
                <a:lnTo>
                  <a:pt x="0" y="6903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385956">
            <a:off x="6798513" y="7867782"/>
            <a:ext cx="3337263" cy="3700594"/>
          </a:xfrm>
          <a:custGeom>
            <a:avLst/>
            <a:gdLst/>
            <a:ahLst/>
            <a:cxnLst/>
            <a:rect r="r" b="b" t="t" l="l"/>
            <a:pathLst>
              <a:path h="3700594" w="3337263">
                <a:moveTo>
                  <a:pt x="0" y="0"/>
                </a:moveTo>
                <a:lnTo>
                  <a:pt x="3337263" y="0"/>
                </a:lnTo>
                <a:lnTo>
                  <a:pt x="3337263" y="3700594"/>
                </a:lnTo>
                <a:lnTo>
                  <a:pt x="0" y="3700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0977569" y="3686225"/>
            <a:ext cx="0" cy="3846040"/>
          </a:xfrm>
          <a:prstGeom prst="line">
            <a:avLst/>
          </a:prstGeom>
          <a:ln cap="flat" w="85725">
            <a:solidFill>
              <a:srgbClr val="8C52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1706231" y="4062608"/>
            <a:ext cx="4930931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Interno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06231" y="4962525"/>
            <a:ext cx="5708033" cy="401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2"/>
              </a:lnSpc>
            </a:pPr>
            <a:r>
              <a:rPr lang="en-US" sz="2304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ES EL NIVEL FÍSICO DONDE SE ALMACENAN LOS DATOS.</a:t>
            </a:r>
          </a:p>
          <a:p>
            <a:pPr algn="l">
              <a:lnSpc>
                <a:spcPts val="4632"/>
              </a:lnSpc>
            </a:pPr>
            <a:r>
              <a:rPr lang="en-US" sz="2304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INCLUYE:</a:t>
            </a:r>
          </a:p>
          <a:p>
            <a:pPr algn="l" marL="497628" indent="-248814" lvl="1">
              <a:lnSpc>
                <a:spcPts val="4632"/>
              </a:lnSpc>
              <a:buFont typeface="Arial"/>
              <a:buChar char="•"/>
            </a:pPr>
            <a:r>
              <a:rPr lang="en-US" sz="2304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ARCHIVOS DE BASE DE DATOS</a:t>
            </a:r>
          </a:p>
          <a:p>
            <a:pPr algn="l" marL="497628" indent="-248814" lvl="1">
              <a:lnSpc>
                <a:spcPts val="4632"/>
              </a:lnSpc>
              <a:buFont typeface="Arial"/>
              <a:buChar char="•"/>
            </a:pPr>
            <a:r>
              <a:rPr lang="en-US" sz="2304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ÍNDICES Y PUNTEROS</a:t>
            </a:r>
          </a:p>
          <a:p>
            <a:pPr algn="l" marL="497628" indent="-248814" lvl="1">
              <a:lnSpc>
                <a:spcPts val="4632"/>
              </a:lnSpc>
              <a:buFont typeface="Arial"/>
              <a:buChar char="•"/>
            </a:pPr>
            <a:r>
              <a:rPr lang="en-US" sz="2304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MÉTODOS DE ACCESO Y ALMACENAMIENTO EN DISCO.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385956">
            <a:off x="8913379" y="8358048"/>
            <a:ext cx="4908423" cy="4908423"/>
          </a:xfrm>
          <a:custGeom>
            <a:avLst/>
            <a:gdLst/>
            <a:ahLst/>
            <a:cxnLst/>
            <a:rect r="r" b="b" t="t" l="l"/>
            <a:pathLst>
              <a:path h="4908423" w="4908423">
                <a:moveTo>
                  <a:pt x="0" y="0"/>
                </a:moveTo>
                <a:lnTo>
                  <a:pt x="4908423" y="0"/>
                </a:lnTo>
                <a:lnTo>
                  <a:pt x="4908423" y="4908423"/>
                </a:lnTo>
                <a:lnTo>
                  <a:pt x="0" y="4908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385956">
            <a:off x="12413621" y="8887954"/>
            <a:ext cx="4008772" cy="4008772"/>
          </a:xfrm>
          <a:custGeom>
            <a:avLst/>
            <a:gdLst/>
            <a:ahLst/>
            <a:cxnLst/>
            <a:rect r="r" b="b" t="t" l="l"/>
            <a:pathLst>
              <a:path h="4008772" w="4008772">
                <a:moveTo>
                  <a:pt x="0" y="0"/>
                </a:moveTo>
                <a:lnTo>
                  <a:pt x="4008772" y="0"/>
                </a:lnTo>
                <a:lnTo>
                  <a:pt x="4008772" y="4008772"/>
                </a:lnTo>
                <a:lnTo>
                  <a:pt x="0" y="4008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85956">
            <a:off x="15458379" y="9188718"/>
            <a:ext cx="3759001" cy="3759001"/>
          </a:xfrm>
          <a:custGeom>
            <a:avLst/>
            <a:gdLst/>
            <a:ahLst/>
            <a:cxnLst/>
            <a:rect r="r" b="b" t="t" l="l"/>
            <a:pathLst>
              <a:path h="3759001" w="3759001">
                <a:moveTo>
                  <a:pt x="0" y="0"/>
                </a:moveTo>
                <a:lnTo>
                  <a:pt x="3759000" y="0"/>
                </a:lnTo>
                <a:lnTo>
                  <a:pt x="3759000" y="3759001"/>
                </a:lnTo>
                <a:lnTo>
                  <a:pt x="0" y="3759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32205" y="-906354"/>
            <a:ext cx="3316857" cy="3677966"/>
          </a:xfrm>
          <a:custGeom>
            <a:avLst/>
            <a:gdLst/>
            <a:ahLst/>
            <a:cxnLst/>
            <a:rect r="r" b="b" t="t" l="l"/>
            <a:pathLst>
              <a:path h="3677966" w="3316857">
                <a:moveTo>
                  <a:pt x="0" y="0"/>
                </a:moveTo>
                <a:lnTo>
                  <a:pt x="3316856" y="0"/>
                </a:lnTo>
                <a:lnTo>
                  <a:pt x="3316856" y="3677966"/>
                </a:lnTo>
                <a:lnTo>
                  <a:pt x="0" y="3677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2487" y="3793494"/>
            <a:ext cx="8845513" cy="4627793"/>
          </a:xfrm>
          <a:custGeom>
            <a:avLst/>
            <a:gdLst/>
            <a:ahLst/>
            <a:cxnLst/>
            <a:rect r="r" b="b" t="t" l="l"/>
            <a:pathLst>
              <a:path h="4627793" w="8845513">
                <a:moveTo>
                  <a:pt x="0" y="0"/>
                </a:moveTo>
                <a:lnTo>
                  <a:pt x="8845513" y="0"/>
                </a:lnTo>
                <a:lnTo>
                  <a:pt x="8845513" y="4627793"/>
                </a:lnTo>
                <a:lnTo>
                  <a:pt x="0" y="46277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907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08129" y="718132"/>
            <a:ext cx="12606310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b="true" sz="9000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Importancia de la Separación de Niveles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0440" y="3954190"/>
            <a:ext cx="9199542" cy="505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1"/>
              </a:lnSpc>
            </a:pPr>
            <a:r>
              <a:rPr lang="en-US" sz="2876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PERMITE LA INDEPENDENCIA DE DATOS:</a:t>
            </a:r>
          </a:p>
          <a:p>
            <a:pPr algn="l" marL="621000" indent="-310500" lvl="1">
              <a:lnSpc>
                <a:spcPts val="5781"/>
              </a:lnSpc>
              <a:buFont typeface="Arial"/>
              <a:buChar char="•"/>
            </a:pPr>
            <a:r>
              <a:rPr lang="en-US" sz="2876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INDEPENDENCIA FÍSICA: CAMBIOS EN HARDWARE SIN AFECTAR APLICACIONES.</a:t>
            </a:r>
          </a:p>
          <a:p>
            <a:pPr algn="l" marL="621000" indent="-310500" lvl="1">
              <a:lnSpc>
                <a:spcPts val="5781"/>
              </a:lnSpc>
              <a:buFont typeface="Arial"/>
              <a:buChar char="•"/>
            </a:pPr>
            <a:r>
              <a:rPr lang="en-US" sz="2876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INDEPENDENCIA LÓGICA: CAMBIOS EN ESTRUCTURA SIN AFECTAR USUARIOS.</a:t>
            </a:r>
          </a:p>
          <a:p>
            <a:pPr algn="l" marL="621000" indent="-310500" lvl="1">
              <a:lnSpc>
                <a:spcPts val="5781"/>
              </a:lnSpc>
              <a:buFont typeface="Arial"/>
              <a:buChar char="•"/>
            </a:pPr>
            <a:r>
              <a:rPr lang="en-US" sz="2876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FACILITA MANTENIMIENTO, ESCALABILIDAD Y EVOLUCIÓN TECNOLÓGICA.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81544" y="2400300"/>
            <a:ext cx="13134245" cy="6337617"/>
          </a:xfrm>
          <a:custGeom>
            <a:avLst/>
            <a:gdLst/>
            <a:ahLst/>
            <a:cxnLst/>
            <a:rect r="r" b="b" t="t" l="l"/>
            <a:pathLst>
              <a:path h="6337617" w="13134245">
                <a:moveTo>
                  <a:pt x="0" y="0"/>
                </a:moveTo>
                <a:lnTo>
                  <a:pt x="13134246" y="0"/>
                </a:lnTo>
                <a:lnTo>
                  <a:pt x="13134246" y="6337617"/>
                </a:lnTo>
                <a:lnTo>
                  <a:pt x="0" y="6337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99" r="0" b="-609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04900"/>
            <a:ext cx="1091048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Ejemplo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04900"/>
            <a:ext cx="1091048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Funciones del SGBD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75868" y="2943907"/>
            <a:ext cx="11459411" cy="583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14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Un Sistema de Gestión de Bases de Datos permite:</a:t>
            </a:r>
          </a:p>
          <a:p>
            <a:pPr algn="l" marL="894448" indent="-447224" lvl="1">
              <a:lnSpc>
                <a:spcPts val="5800"/>
              </a:lnSpc>
              <a:buFont typeface="Arial"/>
              <a:buChar char="•"/>
            </a:pPr>
            <a:r>
              <a:rPr lang="en-US" sz="414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Gestionar almacenamiento de datos</a:t>
            </a:r>
          </a:p>
          <a:p>
            <a:pPr algn="l" marL="894448" indent="-447224" lvl="1">
              <a:lnSpc>
                <a:spcPts val="5800"/>
              </a:lnSpc>
              <a:buFont typeface="Arial"/>
              <a:buChar char="•"/>
            </a:pPr>
            <a:r>
              <a:rPr lang="en-US" sz="414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Controlar acceso y seguridad</a:t>
            </a:r>
          </a:p>
          <a:p>
            <a:pPr algn="l" marL="894448" indent="-447224" lvl="1">
              <a:lnSpc>
                <a:spcPts val="5800"/>
              </a:lnSpc>
              <a:buFont typeface="Arial"/>
              <a:buChar char="•"/>
            </a:pPr>
            <a:r>
              <a:rPr lang="en-US" sz="414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Garantizar integridad de información</a:t>
            </a:r>
          </a:p>
          <a:p>
            <a:pPr algn="l" marL="894448" indent="-447224" lvl="1">
              <a:lnSpc>
                <a:spcPts val="5800"/>
              </a:lnSpc>
              <a:buFont typeface="Arial"/>
              <a:buChar char="•"/>
            </a:pPr>
            <a:r>
              <a:rPr lang="en-US" sz="414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Permitir acceso concurrente de múltiples usuarios.</a:t>
            </a:r>
          </a:p>
          <a:p>
            <a:pPr algn="l">
              <a:lnSpc>
                <a:spcPts val="5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1755142">
            <a:off x="13205101" y="939803"/>
            <a:ext cx="3129511" cy="3470224"/>
          </a:xfrm>
          <a:custGeom>
            <a:avLst/>
            <a:gdLst/>
            <a:ahLst/>
            <a:cxnLst/>
            <a:rect r="r" b="b" t="t" l="l"/>
            <a:pathLst>
              <a:path h="3470224" w="3129511">
                <a:moveTo>
                  <a:pt x="0" y="0"/>
                </a:moveTo>
                <a:lnTo>
                  <a:pt x="3129512" y="0"/>
                </a:lnTo>
                <a:lnTo>
                  <a:pt x="3129512" y="3470225"/>
                </a:lnTo>
                <a:lnTo>
                  <a:pt x="0" y="3470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0061" y="3263733"/>
            <a:ext cx="8600013" cy="424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1"/>
              </a:lnSpc>
            </a:pPr>
            <a:r>
              <a:rPr lang="en-US" sz="3465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COMPONENTES IMPORTANTES:</a:t>
            </a:r>
          </a:p>
          <a:p>
            <a:pPr algn="l" marL="748240" indent="-374120" lvl="1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MOTOR DE BASE DE DATOS</a:t>
            </a:r>
          </a:p>
          <a:p>
            <a:pPr algn="l" marL="748240" indent="-374120" lvl="1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INTERFAZ DE USUARIO (SQL, GUI)</a:t>
            </a:r>
          </a:p>
          <a:p>
            <a:pPr algn="l" marL="748240" indent="-374120" lvl="1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HERRAMIENTAS DE ADMINISTRACIÓN (BACKUP, SEGURIDAD, MONITOREO)</a:t>
            </a:r>
          </a:p>
          <a:p>
            <a:pPr algn="ctr">
              <a:lnSpc>
                <a:spcPts val="485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2270815">
            <a:off x="8963674" y="7862132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7" y="0"/>
                </a:lnTo>
                <a:lnTo>
                  <a:pt x="6903797" y="6903797"/>
                </a:lnTo>
                <a:lnTo>
                  <a:pt x="0" y="690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077939">
            <a:off x="3821637" y="7268853"/>
            <a:ext cx="5121852" cy="7634196"/>
          </a:xfrm>
          <a:custGeom>
            <a:avLst/>
            <a:gdLst/>
            <a:ahLst/>
            <a:cxnLst/>
            <a:rect r="r" b="b" t="t" l="l"/>
            <a:pathLst>
              <a:path h="7634196" w="5121852">
                <a:moveTo>
                  <a:pt x="0" y="0"/>
                </a:moveTo>
                <a:lnTo>
                  <a:pt x="5121852" y="0"/>
                </a:lnTo>
                <a:lnTo>
                  <a:pt x="5121852" y="7634196"/>
                </a:lnTo>
                <a:lnTo>
                  <a:pt x="0" y="7634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70074" y="1714500"/>
            <a:ext cx="3714337" cy="1776921"/>
          </a:xfrm>
          <a:custGeom>
            <a:avLst/>
            <a:gdLst/>
            <a:ahLst/>
            <a:cxnLst/>
            <a:rect r="r" b="b" t="t" l="l"/>
            <a:pathLst>
              <a:path h="1776921" w="3714337">
                <a:moveTo>
                  <a:pt x="0" y="0"/>
                </a:moveTo>
                <a:lnTo>
                  <a:pt x="3714337" y="0"/>
                </a:lnTo>
                <a:lnTo>
                  <a:pt x="3714337" y="1776921"/>
                </a:lnTo>
                <a:lnTo>
                  <a:pt x="0" y="17769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45363" y="1357692"/>
            <a:ext cx="2490536" cy="2490536"/>
          </a:xfrm>
          <a:custGeom>
            <a:avLst/>
            <a:gdLst/>
            <a:ahLst/>
            <a:cxnLst/>
            <a:rect r="r" b="b" t="t" l="l"/>
            <a:pathLst>
              <a:path h="2490536" w="2490536">
                <a:moveTo>
                  <a:pt x="0" y="0"/>
                </a:moveTo>
                <a:lnTo>
                  <a:pt x="2490536" y="0"/>
                </a:lnTo>
                <a:lnTo>
                  <a:pt x="2490536" y="2490536"/>
                </a:lnTo>
                <a:lnTo>
                  <a:pt x="0" y="24905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69880" y="4211890"/>
            <a:ext cx="3214531" cy="2410898"/>
          </a:xfrm>
          <a:custGeom>
            <a:avLst/>
            <a:gdLst/>
            <a:ahLst/>
            <a:cxnLst/>
            <a:rect r="r" b="b" t="t" l="l"/>
            <a:pathLst>
              <a:path h="2410898" w="3214531">
                <a:moveTo>
                  <a:pt x="0" y="0"/>
                </a:moveTo>
                <a:lnTo>
                  <a:pt x="3214531" y="0"/>
                </a:lnTo>
                <a:lnTo>
                  <a:pt x="3214531" y="2410898"/>
                </a:lnTo>
                <a:lnTo>
                  <a:pt x="0" y="24108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45363" y="4806901"/>
            <a:ext cx="2697369" cy="2697369"/>
          </a:xfrm>
          <a:custGeom>
            <a:avLst/>
            <a:gdLst/>
            <a:ahLst/>
            <a:cxnLst/>
            <a:rect r="r" b="b" t="t" l="l"/>
            <a:pathLst>
              <a:path h="2697369" w="2697369">
                <a:moveTo>
                  <a:pt x="0" y="0"/>
                </a:moveTo>
                <a:lnTo>
                  <a:pt x="2697369" y="0"/>
                </a:lnTo>
                <a:lnTo>
                  <a:pt x="2697369" y="2697369"/>
                </a:lnTo>
                <a:lnTo>
                  <a:pt x="0" y="26973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104900"/>
            <a:ext cx="1022500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Componentes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0689" y="3062095"/>
            <a:ext cx="6887429" cy="1360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6"/>
              </a:lnSpc>
            </a:pPr>
            <a:r>
              <a:rPr lang="en-US" sz="9566" b="true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Conclusión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124692">
            <a:off x="13064613" y="3421599"/>
            <a:ext cx="5121852" cy="7634196"/>
          </a:xfrm>
          <a:custGeom>
            <a:avLst/>
            <a:gdLst/>
            <a:ahLst/>
            <a:cxnLst/>
            <a:rect r="r" b="b" t="t" l="l"/>
            <a:pathLst>
              <a:path h="7634196" w="5121852">
                <a:moveTo>
                  <a:pt x="0" y="0"/>
                </a:moveTo>
                <a:lnTo>
                  <a:pt x="5121851" y="0"/>
                </a:lnTo>
                <a:lnTo>
                  <a:pt x="5121851" y="7634196"/>
                </a:lnTo>
                <a:lnTo>
                  <a:pt x="0" y="7634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270815">
            <a:off x="6604331" y="-2365929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7" y="0"/>
                </a:lnTo>
                <a:lnTo>
                  <a:pt x="6903797" y="6903797"/>
                </a:lnTo>
                <a:lnTo>
                  <a:pt x="0" y="6903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270815">
            <a:off x="11751457" y="2553033"/>
            <a:ext cx="3371815" cy="3738907"/>
          </a:xfrm>
          <a:custGeom>
            <a:avLst/>
            <a:gdLst/>
            <a:ahLst/>
            <a:cxnLst/>
            <a:rect r="r" b="b" t="t" l="l"/>
            <a:pathLst>
              <a:path h="3738907" w="3371815">
                <a:moveTo>
                  <a:pt x="0" y="0"/>
                </a:moveTo>
                <a:lnTo>
                  <a:pt x="3371815" y="0"/>
                </a:lnTo>
                <a:lnTo>
                  <a:pt x="3371815" y="3738907"/>
                </a:lnTo>
                <a:lnTo>
                  <a:pt x="0" y="37389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7876" y="5352002"/>
            <a:ext cx="8329251" cy="368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1"/>
              </a:lnSpc>
            </a:pPr>
            <a:r>
              <a:rPr lang="en-US" sz="422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LA ARQUITEC</a:t>
            </a:r>
            <a:r>
              <a:rPr lang="en-US" sz="4222">
                <a:solidFill>
                  <a:srgbClr val="061D3D"/>
                </a:solidFill>
                <a:latin typeface="Montserrat"/>
                <a:ea typeface="Montserrat"/>
                <a:cs typeface="Montserrat"/>
                <a:sym typeface="Montserrat"/>
              </a:rPr>
              <a:t>TURA DE BASES DE DATOS ES CLAVE PARA CREAR SISTEMAS SEGUROS, EFICIENTES Y ESCALABLES.</a:t>
            </a:r>
          </a:p>
          <a:p>
            <a:pPr algn="ctr">
              <a:lnSpc>
                <a:spcPts val="591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75521" y="3424185"/>
            <a:ext cx="9936957" cy="2456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19"/>
              </a:lnSpc>
            </a:pPr>
            <a:r>
              <a:rPr lang="en-US" b="true" sz="17219">
                <a:solidFill>
                  <a:srgbClr val="061D3D"/>
                </a:solidFill>
                <a:latin typeface="Migra Ultra-Bold"/>
                <a:ea typeface="Migra Ultra-Bold"/>
                <a:cs typeface="Migra Ultra-Bold"/>
                <a:sym typeface="Migra Ultra-Bold"/>
              </a:rPr>
              <a:t>Gracias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121943">
            <a:off x="15596687" y="57005"/>
            <a:ext cx="7085175" cy="10560558"/>
          </a:xfrm>
          <a:custGeom>
            <a:avLst/>
            <a:gdLst/>
            <a:ahLst/>
            <a:cxnLst/>
            <a:rect r="r" b="b" t="t" l="l"/>
            <a:pathLst>
              <a:path h="10560558" w="7085175">
                <a:moveTo>
                  <a:pt x="0" y="0"/>
                </a:moveTo>
                <a:lnTo>
                  <a:pt x="7085175" y="0"/>
                </a:lnTo>
                <a:lnTo>
                  <a:pt x="7085175" y="10560558"/>
                </a:lnTo>
                <a:lnTo>
                  <a:pt x="0" y="10560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23199" y="-1566513"/>
            <a:ext cx="6903797" cy="6903797"/>
          </a:xfrm>
          <a:custGeom>
            <a:avLst/>
            <a:gdLst/>
            <a:ahLst/>
            <a:cxnLst/>
            <a:rect r="r" b="b" t="t" l="l"/>
            <a:pathLst>
              <a:path h="6903797" w="6903797">
                <a:moveTo>
                  <a:pt x="0" y="0"/>
                </a:moveTo>
                <a:lnTo>
                  <a:pt x="6903798" y="0"/>
                </a:lnTo>
                <a:lnTo>
                  <a:pt x="6903798" y="6903797"/>
                </a:lnTo>
                <a:lnTo>
                  <a:pt x="0" y="6903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15019" y="7721649"/>
            <a:ext cx="4626961" cy="5130703"/>
          </a:xfrm>
          <a:custGeom>
            <a:avLst/>
            <a:gdLst/>
            <a:ahLst/>
            <a:cxnLst/>
            <a:rect r="r" b="b" t="t" l="l"/>
            <a:pathLst>
              <a:path h="5130703" w="4626961">
                <a:moveTo>
                  <a:pt x="0" y="0"/>
                </a:moveTo>
                <a:lnTo>
                  <a:pt x="4626961" y="0"/>
                </a:lnTo>
                <a:lnTo>
                  <a:pt x="4626961" y="5130702"/>
                </a:lnTo>
                <a:lnTo>
                  <a:pt x="0" y="51307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DAHFlt9yTH0</dc:identifier>
  <dcterms:modified xsi:type="dcterms:W3CDTF">2011-08-01T06:04:30Z</dcterms:modified>
  <cp:revision>1</cp:revision>
  <dc:title>Arquitectura de Bases de Datos</dc:title>
</cp:coreProperties>
</file>