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78" r:id="rId4"/>
    <p:sldId id="279" r:id="rId5"/>
    <p:sldId id="280" r:id="rId6"/>
    <p:sldId id="28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Bree Serif" panose="020B0604020202020204" charset="0"/>
      <p:regular r:id="rId24"/>
    </p:embeddedFont>
    <p:embeddedFont>
      <p:font typeface="Canva Sans Bold" panose="020B0604020202020204" charset="0"/>
      <p:regular r:id="rId25"/>
    </p:embeddedFont>
    <p:embeddedFont>
      <p:font typeface="Glacial Indifference Bold" panose="020B0604020202020204" charset="0"/>
      <p:regular r:id="rId26"/>
    </p:embeddedFont>
    <p:embeddedFont>
      <p:font typeface="TT Chocolates" panose="020B0604020202020204" charset="0"/>
      <p:regular r:id="rId27"/>
    </p:embeddedFont>
    <p:embeddedFont>
      <p:font typeface="TT Chocolates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4073" autoAdjust="0"/>
  </p:normalViewPr>
  <p:slideViewPr>
    <p:cSldViewPr>
      <p:cViewPr>
        <p:scale>
          <a:sx n="39" d="100"/>
          <a:sy n="39" d="100"/>
        </p:scale>
        <p:origin x="96"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B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B7682-9837-4312-8B6B-BACF3F15AF27}" type="datetimeFigureOut">
              <a:rPr lang="es-BO" smtClean="0"/>
              <a:t>17/4/2026</a:t>
            </a:fld>
            <a:endParaRPr lang="es-B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B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B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A0CAE-8252-4345-9EA5-90C498AB8F91}" type="slidenum">
              <a:rPr lang="es-BO" smtClean="0"/>
              <a:t>‹Nº›</a:t>
            </a:fld>
            <a:endParaRPr lang="es-BO"/>
          </a:p>
        </p:txBody>
      </p:sp>
    </p:spTree>
    <p:extLst>
      <p:ext uri="{BB962C8B-B14F-4D97-AF65-F5344CB8AC3E}">
        <p14:creationId xmlns:p14="http://schemas.microsoft.com/office/powerpoint/2010/main" val="3948638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Este principio asegura que la normativa sea coherente y no aislada.</a:t>
            </a:r>
          </a:p>
          <a:p>
            <a:r>
              <a:rPr lang="es-ES" dirty="0"/>
              <a:t>Cuando se elabora o adapta una norma, esta debe </a:t>
            </a:r>
            <a:r>
              <a:rPr lang="es-ES" b="1" dirty="0"/>
              <a:t>integrarse perfectamente</a:t>
            </a:r>
            <a:r>
              <a:rPr lang="es-ES" dirty="0"/>
              <a:t> con las normas ya existentes que traten sobre el mismo objeto.</a:t>
            </a:r>
          </a:p>
          <a:p>
            <a:r>
              <a:rPr lang="es-ES" b="1" dirty="0"/>
              <a:t>Equilibrio</a:t>
            </a:r>
          </a:p>
          <a:p>
            <a:r>
              <a:rPr lang="es-ES" dirty="0"/>
              <a:t>La normalización no puede ignorar la realidad financiera de su entorno.</a:t>
            </a:r>
          </a:p>
          <a:p>
            <a:r>
              <a:rPr lang="es-ES" dirty="0"/>
              <a:t>Debe existir un balance real entre el </a:t>
            </a:r>
            <a:r>
              <a:rPr lang="es-ES" b="1" dirty="0"/>
              <a:t>avance tecnológico mundial</a:t>
            </a:r>
            <a:r>
              <a:rPr lang="es-ES" dirty="0"/>
              <a:t> y las capacidades económicas del país, región o empresa donde se aplicará.</a:t>
            </a:r>
          </a:p>
          <a:p>
            <a:r>
              <a:rPr lang="es-ES" b="1" dirty="0"/>
              <a:t>Cooperación</a:t>
            </a:r>
          </a:p>
          <a:p>
            <a:r>
              <a:rPr lang="es-ES" dirty="0"/>
              <a:t>La normalización se entiende como un </a:t>
            </a:r>
            <a:r>
              <a:rPr lang="es-ES" b="1" dirty="0"/>
              <a:t>trabajo de conjunto</a:t>
            </a:r>
            <a:r>
              <a:rPr lang="es-ES" dirty="0"/>
              <a:t>, no como una imposición unilateral.</a:t>
            </a:r>
          </a:p>
          <a:p>
            <a:r>
              <a:rPr lang="es-ES" dirty="0"/>
              <a:t>Las normas deben establecerse mediante el </a:t>
            </a:r>
            <a:r>
              <a:rPr lang="es-ES" b="1" dirty="0"/>
              <a:t>acuerdo y la colaboración</a:t>
            </a:r>
            <a:r>
              <a:rPr lang="es-ES" dirty="0"/>
              <a:t> de todas las partes que se ven afectadas por ellas.</a:t>
            </a:r>
          </a:p>
          <a:p>
            <a:endParaRPr lang="es-ES" dirty="0"/>
          </a:p>
          <a:p>
            <a:endParaRPr lang="es-BO" dirty="0"/>
          </a:p>
        </p:txBody>
      </p:sp>
      <p:sp>
        <p:nvSpPr>
          <p:cNvPr id="4" name="Marcador de número de diapositiva 3"/>
          <p:cNvSpPr>
            <a:spLocks noGrp="1"/>
          </p:cNvSpPr>
          <p:nvPr>
            <p:ph type="sldNum" sz="quarter" idx="5"/>
          </p:nvPr>
        </p:nvSpPr>
        <p:spPr/>
        <p:txBody>
          <a:bodyPr/>
          <a:lstStyle/>
          <a:p>
            <a:fld id="{7B7A0CAE-8252-4345-9EA5-90C498AB8F91}" type="slidenum">
              <a:rPr lang="es-BO" smtClean="0"/>
              <a:t>10</a:t>
            </a:fld>
            <a:endParaRPr lang="es-BO"/>
          </a:p>
        </p:txBody>
      </p:sp>
    </p:spTree>
    <p:extLst>
      <p:ext uri="{BB962C8B-B14F-4D97-AF65-F5344CB8AC3E}">
        <p14:creationId xmlns:p14="http://schemas.microsoft.com/office/powerpoint/2010/main" val="3821820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sv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a:off x="-583258" y="2682950"/>
            <a:ext cx="19454515" cy="8045780"/>
          </a:xfrm>
          <a:custGeom>
            <a:avLst/>
            <a:gdLst/>
            <a:ahLst/>
            <a:cxnLst/>
            <a:rect l="l" t="t" r="r" b="b"/>
            <a:pathLst>
              <a:path w="19454515" h="8045780">
                <a:moveTo>
                  <a:pt x="0" y="0"/>
                </a:moveTo>
                <a:lnTo>
                  <a:pt x="19454516" y="0"/>
                </a:lnTo>
                <a:lnTo>
                  <a:pt x="19454516" y="8045780"/>
                </a:lnTo>
                <a:lnTo>
                  <a:pt x="0" y="804578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a:off x="-1230281" y="9210929"/>
            <a:ext cx="19454515" cy="8045780"/>
          </a:xfrm>
          <a:custGeom>
            <a:avLst/>
            <a:gdLst/>
            <a:ahLst/>
            <a:cxnLst/>
            <a:rect l="l" t="t" r="r" b="b"/>
            <a:pathLst>
              <a:path w="19454515" h="8045780">
                <a:moveTo>
                  <a:pt x="0" y="0"/>
                </a:moveTo>
                <a:lnTo>
                  <a:pt x="19454515" y="0"/>
                </a:lnTo>
                <a:lnTo>
                  <a:pt x="19454515" y="8045780"/>
                </a:lnTo>
                <a:lnTo>
                  <a:pt x="0" y="80457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Freeform 4"/>
          <p:cNvSpPr/>
          <p:nvPr/>
        </p:nvSpPr>
        <p:spPr>
          <a:xfrm>
            <a:off x="16383365" y="-23470"/>
            <a:ext cx="1840869" cy="2376005"/>
          </a:xfrm>
          <a:custGeom>
            <a:avLst/>
            <a:gdLst/>
            <a:ahLst/>
            <a:cxnLst/>
            <a:rect l="l" t="t" r="r" b="b"/>
            <a:pathLst>
              <a:path w="1840869" h="2376005">
                <a:moveTo>
                  <a:pt x="0" y="0"/>
                </a:moveTo>
                <a:lnTo>
                  <a:pt x="1840869" y="0"/>
                </a:lnTo>
                <a:lnTo>
                  <a:pt x="1840869" y="2376005"/>
                </a:lnTo>
                <a:lnTo>
                  <a:pt x="0" y="2376005"/>
                </a:lnTo>
                <a:lnTo>
                  <a:pt x="0" y="0"/>
                </a:lnTo>
                <a:close/>
              </a:path>
            </a:pathLst>
          </a:custGeom>
          <a:blipFill>
            <a:blip r:embed="rId4"/>
            <a:stretch>
              <a:fillRect/>
            </a:stretch>
          </a:blipFill>
        </p:spPr>
        <p:txBody>
          <a:bodyPr/>
          <a:lstStyle/>
          <a:p>
            <a:endParaRPr lang="es-BO"/>
          </a:p>
        </p:txBody>
      </p:sp>
      <p:sp>
        <p:nvSpPr>
          <p:cNvPr id="5" name="TextBox 5"/>
          <p:cNvSpPr txBox="1"/>
          <p:nvPr/>
        </p:nvSpPr>
        <p:spPr>
          <a:xfrm>
            <a:off x="2160632" y="2095016"/>
            <a:ext cx="13966737" cy="1461618"/>
          </a:xfrm>
          <a:prstGeom prst="rect">
            <a:avLst/>
          </a:prstGeom>
        </p:spPr>
        <p:txBody>
          <a:bodyPr lIns="0" tIns="0" rIns="0" bIns="0" rtlCol="0" anchor="t">
            <a:spAutoFit/>
          </a:bodyPr>
          <a:lstStyle/>
          <a:p>
            <a:pPr algn="ctr">
              <a:lnSpc>
                <a:spcPts val="10708"/>
              </a:lnSpc>
            </a:pPr>
            <a:r>
              <a:rPr lang="en-US" sz="11514" b="1">
                <a:solidFill>
                  <a:srgbClr val="F6E7D8"/>
                </a:solidFill>
                <a:latin typeface="TT Chocolates Bold"/>
                <a:ea typeface="TT Chocolates Bold"/>
                <a:cs typeface="TT Chocolates Bold"/>
                <a:sym typeface="TT Chocolates Bold"/>
              </a:rPr>
              <a:t>NORMALIZACIÓN </a:t>
            </a:r>
          </a:p>
        </p:txBody>
      </p:sp>
      <p:sp>
        <p:nvSpPr>
          <p:cNvPr id="6" name="TextBox 6"/>
          <p:cNvSpPr txBox="1"/>
          <p:nvPr/>
        </p:nvSpPr>
        <p:spPr>
          <a:xfrm>
            <a:off x="0" y="-85725"/>
            <a:ext cx="7685856" cy="830373"/>
          </a:xfrm>
          <a:prstGeom prst="rect">
            <a:avLst/>
          </a:prstGeom>
        </p:spPr>
        <p:txBody>
          <a:bodyPr lIns="0" tIns="0" rIns="0" bIns="0" rtlCol="0" anchor="t">
            <a:spAutoFit/>
          </a:bodyPr>
          <a:lstStyle/>
          <a:p>
            <a:pPr algn="ctr">
              <a:lnSpc>
                <a:spcPts val="6874"/>
              </a:lnSpc>
            </a:pPr>
            <a:r>
              <a:rPr lang="en-US" sz="4910" b="1">
                <a:solidFill>
                  <a:srgbClr val="F6E7D8"/>
                </a:solidFill>
                <a:latin typeface="Canva Sans Bold"/>
                <a:ea typeface="Canva Sans Bold"/>
                <a:cs typeface="Canva Sans Bold"/>
                <a:sym typeface="Canva Sans Bold"/>
              </a:rPr>
              <a:t>Universidad de los Andes</a:t>
            </a:r>
          </a:p>
        </p:txBody>
      </p:sp>
      <p:sp>
        <p:nvSpPr>
          <p:cNvPr id="7" name="TextBox 7"/>
          <p:cNvSpPr txBox="1"/>
          <p:nvPr/>
        </p:nvSpPr>
        <p:spPr>
          <a:xfrm>
            <a:off x="117983" y="3846644"/>
            <a:ext cx="7449889" cy="2527037"/>
          </a:xfrm>
          <a:prstGeom prst="rect">
            <a:avLst/>
          </a:prstGeom>
        </p:spPr>
        <p:txBody>
          <a:bodyPr lIns="0" tIns="0" rIns="0" bIns="0" rtlCol="0" anchor="t">
            <a:spAutoFit/>
          </a:bodyPr>
          <a:lstStyle/>
          <a:p>
            <a:pPr algn="l">
              <a:lnSpc>
                <a:spcPts val="5089"/>
              </a:lnSpc>
            </a:pPr>
            <a:r>
              <a:rPr lang="en-US" sz="3635" b="1">
                <a:solidFill>
                  <a:srgbClr val="F6E7D8"/>
                </a:solidFill>
                <a:latin typeface="Canva Sans Bold"/>
                <a:ea typeface="Canva Sans Bold"/>
                <a:cs typeface="Canva Sans Bold"/>
                <a:sym typeface="Canva Sans Bold"/>
              </a:rPr>
              <a:t>Presentado por:</a:t>
            </a:r>
          </a:p>
          <a:p>
            <a:pPr marL="784875" lvl="1" indent="-392437" algn="l">
              <a:lnSpc>
                <a:spcPts val="5089"/>
              </a:lnSpc>
              <a:buFont typeface="Arial"/>
              <a:buChar char="•"/>
            </a:pPr>
            <a:r>
              <a:rPr lang="en-US" sz="3635" b="1">
                <a:solidFill>
                  <a:srgbClr val="F6E7D8"/>
                </a:solidFill>
                <a:latin typeface="Canva Sans Bold"/>
                <a:ea typeface="Canva Sans Bold"/>
                <a:cs typeface="Canva Sans Bold"/>
                <a:sym typeface="Canva Sans Bold"/>
              </a:rPr>
              <a:t>Condori Quispe Beymar Heyd</a:t>
            </a:r>
          </a:p>
          <a:p>
            <a:pPr marL="784875" lvl="1" indent="-392437" algn="l">
              <a:lnSpc>
                <a:spcPts val="5089"/>
              </a:lnSpc>
              <a:buFont typeface="Arial"/>
              <a:buChar char="•"/>
            </a:pPr>
            <a:r>
              <a:rPr lang="en-US" sz="3635" b="1">
                <a:solidFill>
                  <a:srgbClr val="F6E7D8"/>
                </a:solidFill>
                <a:latin typeface="Canva Sans Bold"/>
                <a:ea typeface="Canva Sans Bold"/>
                <a:cs typeface="Canva Sans Bold"/>
                <a:sym typeface="Canva Sans Bold"/>
              </a:rPr>
              <a:t>Sucojayo Compata Bismark</a:t>
            </a:r>
          </a:p>
          <a:p>
            <a:pPr marL="784875" lvl="1" indent="-392437" algn="l">
              <a:lnSpc>
                <a:spcPts val="5089"/>
              </a:lnSpc>
              <a:buFont typeface="Arial"/>
              <a:buChar char="•"/>
            </a:pPr>
            <a:r>
              <a:rPr lang="en-US" sz="3635" b="1">
                <a:solidFill>
                  <a:srgbClr val="F6E7D8"/>
                </a:solidFill>
                <a:latin typeface="Canva Sans Bold"/>
                <a:ea typeface="Canva Sans Bold"/>
                <a:cs typeface="Canva Sans Bold"/>
                <a:sym typeface="Canva Sans Bold"/>
              </a:rPr>
              <a:t>Cusi Quispe Wilfredo</a:t>
            </a:r>
          </a:p>
        </p:txBody>
      </p:sp>
      <p:sp>
        <p:nvSpPr>
          <p:cNvPr id="8" name="TextBox 8"/>
          <p:cNvSpPr txBox="1"/>
          <p:nvPr/>
        </p:nvSpPr>
        <p:spPr>
          <a:xfrm>
            <a:off x="0" y="6893442"/>
            <a:ext cx="8858101" cy="1250687"/>
          </a:xfrm>
          <a:prstGeom prst="rect">
            <a:avLst/>
          </a:prstGeom>
        </p:spPr>
        <p:txBody>
          <a:bodyPr lIns="0" tIns="0" rIns="0" bIns="0" rtlCol="0" anchor="t">
            <a:spAutoFit/>
          </a:bodyPr>
          <a:lstStyle/>
          <a:p>
            <a:pPr algn="l">
              <a:lnSpc>
                <a:spcPts val="5089"/>
              </a:lnSpc>
            </a:pPr>
            <a:r>
              <a:rPr lang="en-US" sz="3635" b="1">
                <a:solidFill>
                  <a:srgbClr val="F6E7D8"/>
                </a:solidFill>
                <a:latin typeface="Canva Sans Bold"/>
                <a:ea typeface="Canva Sans Bold"/>
                <a:cs typeface="Canva Sans Bold"/>
                <a:sym typeface="Canva Sans Bold"/>
              </a:rPr>
              <a:t>Presentado a:</a:t>
            </a:r>
          </a:p>
          <a:p>
            <a:pPr marL="784875" lvl="1" indent="-392437" algn="l">
              <a:lnSpc>
                <a:spcPts val="5089"/>
              </a:lnSpc>
              <a:buFont typeface="Arial"/>
              <a:buChar char="•"/>
            </a:pPr>
            <a:r>
              <a:rPr lang="en-US" sz="3635" b="1">
                <a:solidFill>
                  <a:srgbClr val="F6E7D8"/>
                </a:solidFill>
                <a:latin typeface="Canva Sans Bold"/>
                <a:ea typeface="Canva Sans Bold"/>
                <a:cs typeface="Canva Sans Bold"/>
                <a:sym typeface="Canva Sans Bold"/>
              </a:rPr>
              <a:t>Ing. Cortes Montes Alejandro Marco</a:t>
            </a:r>
          </a:p>
        </p:txBody>
      </p:sp>
      <p:sp>
        <p:nvSpPr>
          <p:cNvPr id="9" name="TextBox 9"/>
          <p:cNvSpPr txBox="1"/>
          <p:nvPr/>
        </p:nvSpPr>
        <p:spPr>
          <a:xfrm>
            <a:off x="7254483" y="8728600"/>
            <a:ext cx="3207236" cy="964657"/>
          </a:xfrm>
          <a:prstGeom prst="rect">
            <a:avLst/>
          </a:prstGeom>
        </p:spPr>
        <p:txBody>
          <a:bodyPr lIns="0" tIns="0" rIns="0" bIns="0" rtlCol="0" anchor="t">
            <a:spAutoFit/>
          </a:bodyPr>
          <a:lstStyle/>
          <a:p>
            <a:pPr algn="ctr">
              <a:lnSpc>
                <a:spcPts val="3890"/>
              </a:lnSpc>
            </a:pPr>
            <a:r>
              <a:rPr lang="en-US" sz="2779" b="1" dirty="0">
                <a:solidFill>
                  <a:srgbClr val="F6E7D8"/>
                </a:solidFill>
                <a:latin typeface="Canva Sans Bold"/>
                <a:ea typeface="Canva Sans Bold"/>
                <a:cs typeface="Canva Sans Bold"/>
                <a:sym typeface="Canva Sans Bold"/>
              </a:rPr>
              <a:t>17 de </a:t>
            </a:r>
            <a:r>
              <a:rPr lang="en-US" sz="2779" b="1" dirty="0" err="1">
                <a:solidFill>
                  <a:srgbClr val="F6E7D8"/>
                </a:solidFill>
                <a:latin typeface="Canva Sans Bold"/>
                <a:ea typeface="Canva Sans Bold"/>
                <a:cs typeface="Canva Sans Bold"/>
                <a:sym typeface="Canva Sans Bold"/>
              </a:rPr>
              <a:t>abril</a:t>
            </a:r>
            <a:r>
              <a:rPr lang="en-US" sz="2779" b="1" dirty="0">
                <a:solidFill>
                  <a:srgbClr val="F6E7D8"/>
                </a:solidFill>
                <a:latin typeface="Canva Sans Bold"/>
                <a:ea typeface="Canva Sans Bold"/>
                <a:cs typeface="Canva Sans Bold"/>
                <a:sym typeface="Canva Sans Bold"/>
              </a:rPr>
              <a:t> de 2026</a:t>
            </a:r>
          </a:p>
          <a:p>
            <a:pPr algn="ctr">
              <a:lnSpc>
                <a:spcPts val="3890"/>
              </a:lnSpc>
            </a:pPr>
            <a:r>
              <a:rPr lang="en-US" sz="2779" b="1" dirty="0">
                <a:solidFill>
                  <a:srgbClr val="F6E7D8"/>
                </a:solidFill>
                <a:latin typeface="Canva Sans Bold"/>
                <a:ea typeface="Canva Sans Bold"/>
                <a:cs typeface="Canva Sans Bold"/>
                <a:sym typeface="Canva Sans Bold"/>
              </a:rPr>
              <a:t>La Paz – Bolivia</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5523668">
            <a:off x="-22290004" y="-2600706"/>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rot="5523668">
            <a:off x="-22902038" y="-3155710"/>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TextBox 4"/>
          <p:cNvSpPr txBox="1"/>
          <p:nvPr/>
        </p:nvSpPr>
        <p:spPr>
          <a:xfrm>
            <a:off x="3058195" y="-165779"/>
            <a:ext cx="11091862" cy="1194479"/>
          </a:xfrm>
          <a:prstGeom prst="rect">
            <a:avLst/>
          </a:prstGeom>
        </p:spPr>
        <p:txBody>
          <a:bodyPr lIns="0" tIns="0" rIns="0" bIns="0" rtlCol="0" anchor="t">
            <a:spAutoFit/>
          </a:bodyPr>
          <a:lstStyle/>
          <a:p>
            <a:pPr algn="ctr">
              <a:lnSpc>
                <a:spcPts val="9762"/>
              </a:lnSpc>
            </a:pPr>
            <a:r>
              <a:rPr lang="en-US" sz="6973" b="1">
                <a:solidFill>
                  <a:srgbClr val="FFFFFF"/>
                </a:solidFill>
                <a:latin typeface="Canva Sans Bold"/>
                <a:ea typeface="Canva Sans Bold"/>
                <a:cs typeface="Canva Sans Bold"/>
                <a:sym typeface="Canva Sans Bold"/>
              </a:rPr>
              <a:t>¿Que es la normalización?</a:t>
            </a:r>
          </a:p>
        </p:txBody>
      </p:sp>
      <p:sp>
        <p:nvSpPr>
          <p:cNvPr id="5" name="Freeform 5"/>
          <p:cNvSpPr/>
          <p:nvPr/>
        </p:nvSpPr>
        <p:spPr>
          <a:xfrm rot="-5339298">
            <a:off x="2357835" y="131507"/>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6" name="Freeform 6"/>
          <p:cNvSpPr/>
          <p:nvPr/>
        </p:nvSpPr>
        <p:spPr>
          <a:xfrm rot="-5399999">
            <a:off x="3168948" y="-1435901"/>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grpSp>
        <p:nvGrpSpPr>
          <p:cNvPr id="7" name="Group 7"/>
          <p:cNvGrpSpPr/>
          <p:nvPr/>
        </p:nvGrpSpPr>
        <p:grpSpPr>
          <a:xfrm>
            <a:off x="-5943600" y="2032471"/>
            <a:ext cx="5648184" cy="1958893"/>
            <a:chOff x="-2170" y="-64309"/>
            <a:chExt cx="1487588" cy="515923"/>
          </a:xfrm>
        </p:grpSpPr>
        <p:sp>
          <p:nvSpPr>
            <p:cNvPr id="8" name="Freeform 8"/>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9" name="TextBox 9"/>
            <p:cNvSpPr txBox="1"/>
            <p:nvPr/>
          </p:nvSpPr>
          <p:spPr>
            <a:xfrm>
              <a:off x="-2170" y="-64309"/>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Es la </a:t>
              </a:r>
              <a:r>
                <a:rPr lang="en-US" sz="2999" b="1" dirty="0" err="1">
                  <a:solidFill>
                    <a:srgbClr val="000000"/>
                  </a:solidFill>
                  <a:latin typeface="TT Chocolates"/>
                  <a:ea typeface="TT Chocolates"/>
                  <a:cs typeface="TT Chocolates"/>
                  <a:sym typeface="TT Chocolates"/>
                </a:rPr>
                <a:t>estandarización</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servicios</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actividades</a:t>
              </a:r>
              <a:r>
                <a:rPr lang="en-US" sz="2999" b="1" dirty="0">
                  <a:solidFill>
                    <a:srgbClr val="000000"/>
                  </a:solidFill>
                  <a:latin typeface="TT Chocolates"/>
                  <a:ea typeface="TT Chocolates"/>
                  <a:cs typeface="TT Chocolates"/>
                  <a:sym typeface="TT Chocolates"/>
                </a:rPr>
                <a:t> bajo </a:t>
              </a:r>
              <a:r>
                <a:rPr lang="en-US" sz="2999" b="1" dirty="0" err="1">
                  <a:solidFill>
                    <a:srgbClr val="000000"/>
                  </a:solidFill>
                  <a:latin typeface="TT Chocolates"/>
                  <a:ea typeface="TT Chocolates"/>
                  <a:cs typeface="TT Chocolates"/>
                  <a:sym typeface="TT Chocolates"/>
                </a:rPr>
                <a:t>moldes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óptimos</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trabajo</a:t>
              </a:r>
              <a:endParaRPr lang="en-US" sz="2999" b="1" dirty="0">
                <a:solidFill>
                  <a:srgbClr val="000000"/>
                </a:solidFill>
                <a:latin typeface="TT Chocolates"/>
                <a:ea typeface="TT Chocolates"/>
                <a:cs typeface="TT Chocolates"/>
                <a:sym typeface="TT Chocolates"/>
              </a:endParaRPr>
            </a:p>
          </p:txBody>
        </p:sp>
      </p:grpSp>
      <p:grpSp>
        <p:nvGrpSpPr>
          <p:cNvPr id="10" name="Group 10"/>
          <p:cNvGrpSpPr/>
          <p:nvPr/>
        </p:nvGrpSpPr>
        <p:grpSpPr>
          <a:xfrm>
            <a:off x="18592800" y="2276643"/>
            <a:ext cx="5639945" cy="1705737"/>
            <a:chOff x="0" y="0"/>
            <a:chExt cx="1485418" cy="449248"/>
          </a:xfrm>
        </p:grpSpPr>
        <p:sp>
          <p:nvSpPr>
            <p:cNvPr id="11" name="Freeform 11"/>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2" name="TextBox 12"/>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Busca</a:t>
              </a:r>
              <a:r>
                <a:rPr lang="en-US" sz="2999" b="1" dirty="0">
                  <a:solidFill>
                    <a:srgbClr val="000000"/>
                  </a:solidFill>
                  <a:latin typeface="TT Chocolates"/>
                  <a:ea typeface="TT Chocolates"/>
                  <a:cs typeface="TT Chocolates"/>
                  <a:sym typeface="TT Chocolates"/>
                </a:rPr>
                <a:t> la forma </a:t>
              </a:r>
              <a:r>
                <a:rPr lang="en-US" sz="2999" b="1" dirty="0" err="1">
                  <a:solidFill>
                    <a:srgbClr val="000000"/>
                  </a:solidFill>
                  <a:latin typeface="TT Chocolates"/>
                  <a:ea typeface="TT Chocolates"/>
                  <a:cs typeface="TT Chocolates"/>
                  <a:sym typeface="TT Chocolates"/>
                </a:rPr>
                <a:t>más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segura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fácil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barata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fiable</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garantizar</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calidad</a:t>
              </a:r>
              <a:r>
                <a:rPr lang="en-US" sz="2999" b="1" dirty="0">
                  <a:solidFill>
                    <a:srgbClr val="000000"/>
                  </a:solidFill>
                  <a:latin typeface="TT Chocolates"/>
                  <a:ea typeface="TT Chocolates"/>
                  <a:cs typeface="TT Chocolates"/>
                  <a:sym typeface="TT Chocolates"/>
                </a:rPr>
                <a:t>.</a:t>
              </a:r>
            </a:p>
          </p:txBody>
        </p:sp>
      </p:grpSp>
      <p:grpSp>
        <p:nvGrpSpPr>
          <p:cNvPr id="13" name="Group 13"/>
          <p:cNvGrpSpPr/>
          <p:nvPr/>
        </p:nvGrpSpPr>
        <p:grpSpPr>
          <a:xfrm>
            <a:off x="18592799" y="6080198"/>
            <a:ext cx="5639945" cy="1705737"/>
            <a:chOff x="0" y="0"/>
            <a:chExt cx="1485418" cy="449248"/>
          </a:xfrm>
        </p:grpSpPr>
        <p:sp>
          <p:nvSpPr>
            <p:cNvPr id="14" name="Freeform 14"/>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5" name="TextBox 15"/>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Armoniza</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máquina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método</a:t>
              </a:r>
              <a:r>
                <a:rPr lang="en-US" sz="2999" b="1" dirty="0">
                  <a:solidFill>
                    <a:srgbClr val="000000"/>
                  </a:solidFill>
                  <a:latin typeface="TT Chocolates"/>
                  <a:ea typeface="TT Chocolates"/>
                  <a:cs typeface="TT Chocolates"/>
                  <a:sym typeface="TT Chocolates"/>
                </a:rPr>
                <a:t>, la mano de </a:t>
              </a:r>
              <a:r>
                <a:rPr lang="en-US" sz="2999" b="1" dirty="0" err="1">
                  <a:solidFill>
                    <a:srgbClr val="000000"/>
                  </a:solidFill>
                  <a:latin typeface="TT Chocolates"/>
                  <a:ea typeface="TT Chocolates"/>
                  <a:cs typeface="TT Chocolates"/>
                  <a:sym typeface="TT Chocolates"/>
                </a:rPr>
                <a:t>obra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material </a:t>
              </a:r>
              <a:r>
                <a:rPr lang="en-US" sz="2999" b="1" dirty="0" err="1">
                  <a:solidFill>
                    <a:srgbClr val="000000"/>
                  </a:solidFill>
                  <a:latin typeface="TT Chocolates"/>
                  <a:ea typeface="TT Chocolates"/>
                  <a:cs typeface="TT Chocolates"/>
                  <a:sym typeface="TT Chocolates"/>
                </a:rPr>
                <a:t>en</a:t>
              </a:r>
              <a:r>
                <a:rPr lang="en-US" sz="2999" b="1" dirty="0">
                  <a:solidFill>
                    <a:srgbClr val="000000"/>
                  </a:solidFill>
                  <a:latin typeface="TT Chocolates"/>
                  <a:ea typeface="TT Chocolates"/>
                  <a:cs typeface="TT Chocolates"/>
                  <a:sym typeface="TT Chocolates"/>
                </a:rPr>
                <a:t> un </a:t>
              </a:r>
              <a:r>
                <a:rPr lang="en-US" sz="2999" b="1" dirty="0" err="1">
                  <a:solidFill>
                    <a:srgbClr val="000000"/>
                  </a:solidFill>
                  <a:latin typeface="TT Chocolates"/>
                  <a:ea typeface="TT Chocolates"/>
                  <a:cs typeface="TT Chocolates"/>
                  <a:sym typeface="TT Chocolates"/>
                </a:rPr>
                <a:t>sistema</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producción</a:t>
              </a:r>
              <a:r>
                <a:rPr lang="en-US" sz="2999" b="1" dirty="0">
                  <a:solidFill>
                    <a:srgbClr val="000000"/>
                  </a:solidFill>
                  <a:latin typeface="TT Chocolates"/>
                  <a:ea typeface="TT Chocolates"/>
                  <a:cs typeface="TT Chocolates"/>
                  <a:sym typeface="TT Chocolates"/>
                </a:rPr>
                <a:t>.</a:t>
              </a:r>
            </a:p>
          </p:txBody>
        </p:sp>
      </p:grpSp>
      <p:grpSp>
        <p:nvGrpSpPr>
          <p:cNvPr id="16" name="Group 16"/>
          <p:cNvGrpSpPr/>
          <p:nvPr/>
        </p:nvGrpSpPr>
        <p:grpSpPr>
          <a:xfrm>
            <a:off x="-5957693" y="6080199"/>
            <a:ext cx="5639945" cy="1705737"/>
            <a:chOff x="0" y="0"/>
            <a:chExt cx="1485418" cy="449248"/>
          </a:xfrm>
        </p:grpSpPr>
        <p:sp>
          <p:nvSpPr>
            <p:cNvPr id="17" name="Freeform 17"/>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8" name="TextBox 18"/>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Abarca tanto </a:t>
              </a:r>
              <a:r>
                <a:rPr lang="en-US" sz="2999" b="1" dirty="0" err="1">
                  <a:solidFill>
                    <a:srgbClr val="000000"/>
                  </a:solidFill>
                  <a:latin typeface="TT Chocolates"/>
                  <a:ea typeface="TT Chocolates"/>
                  <a:cs typeface="TT Chocolates"/>
                  <a:sym typeface="TT Chocolates"/>
                </a:rPr>
                <a:t>normas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técnicas</a:t>
              </a:r>
              <a:r>
                <a:rPr lang="en-US" sz="2999" b="1" dirty="0">
                  <a:solidFill>
                    <a:srgbClr val="000000"/>
                  </a:solidFill>
                  <a:latin typeface="TT Chocolates"/>
                  <a:ea typeface="TT Chocolates"/>
                  <a:cs typeface="TT Chocolates"/>
                  <a:sym typeface="TT Chocolates"/>
                </a:rPr>
                <a:t> del </a:t>
              </a:r>
              <a:r>
                <a:rPr lang="en-US" sz="2999" b="1" dirty="0" err="1">
                  <a:solidFill>
                    <a:srgbClr val="000000"/>
                  </a:solidFill>
                  <a:latin typeface="TT Chocolates"/>
                  <a:ea typeface="TT Chocolates"/>
                  <a:cs typeface="TT Chocolates"/>
                  <a:sym typeface="TT Chocolates"/>
                </a:rPr>
                <a:t>producto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como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procedimientos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operativos</a:t>
              </a:r>
              <a:r>
                <a:rPr lang="en-US" sz="2999" b="1" dirty="0">
                  <a:solidFill>
                    <a:srgbClr val="000000"/>
                  </a:solidFill>
                  <a:latin typeface="TT Chocolates"/>
                  <a:ea typeface="TT Chocolates"/>
                  <a:cs typeface="TT Chocolates"/>
                  <a:sym typeface="TT Chocolates"/>
                </a:rPr>
                <a:t>.</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a:extLst>
            <a:ext uri="{FF2B5EF4-FFF2-40B4-BE49-F238E27FC236}">
              <a16:creationId xmlns:a16="http://schemas.microsoft.com/office/drawing/2014/main" id="{D1B7FFB8-BD69-70E2-E4B2-4B1C1AEF228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E14FF0-0E82-A0B6-BC2F-871A14D1190F}"/>
              </a:ext>
            </a:extLst>
          </p:cNvPr>
          <p:cNvSpPr/>
          <p:nvPr/>
        </p:nvSpPr>
        <p:spPr>
          <a:xfrm rot="5523668">
            <a:off x="-23621971" y="-2887579"/>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a:extLst>
              <a:ext uri="{FF2B5EF4-FFF2-40B4-BE49-F238E27FC236}">
                <a16:creationId xmlns:a16="http://schemas.microsoft.com/office/drawing/2014/main" id="{D9812A57-5EEA-4DE2-4111-500EF44F8EE8}"/>
              </a:ext>
            </a:extLst>
          </p:cNvPr>
          <p:cNvSpPr/>
          <p:nvPr/>
        </p:nvSpPr>
        <p:spPr>
          <a:xfrm rot="5523668">
            <a:off x="-23642566" y="-3116179"/>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TextBox 4">
            <a:extLst>
              <a:ext uri="{FF2B5EF4-FFF2-40B4-BE49-F238E27FC236}">
                <a16:creationId xmlns:a16="http://schemas.microsoft.com/office/drawing/2014/main" id="{E642484F-11ED-5B55-3AEC-7EE3528A824A}"/>
              </a:ext>
            </a:extLst>
          </p:cNvPr>
          <p:cNvSpPr txBox="1"/>
          <p:nvPr/>
        </p:nvSpPr>
        <p:spPr>
          <a:xfrm>
            <a:off x="3058195" y="-165779"/>
            <a:ext cx="11091862" cy="1194479"/>
          </a:xfrm>
          <a:prstGeom prst="rect">
            <a:avLst/>
          </a:prstGeom>
        </p:spPr>
        <p:txBody>
          <a:bodyPr lIns="0" tIns="0" rIns="0" bIns="0" rtlCol="0" anchor="t">
            <a:spAutoFit/>
          </a:bodyPr>
          <a:lstStyle/>
          <a:p>
            <a:pPr algn="ctr">
              <a:lnSpc>
                <a:spcPts val="9762"/>
              </a:lnSpc>
            </a:pPr>
            <a:r>
              <a:rPr lang="en-US" sz="6973" b="1">
                <a:solidFill>
                  <a:srgbClr val="FFFFFF"/>
                </a:solidFill>
                <a:latin typeface="Canva Sans Bold"/>
                <a:ea typeface="Canva Sans Bold"/>
                <a:cs typeface="Canva Sans Bold"/>
                <a:sym typeface="Canva Sans Bold"/>
              </a:rPr>
              <a:t>¿Que es la normalización?</a:t>
            </a:r>
          </a:p>
        </p:txBody>
      </p:sp>
      <p:sp>
        <p:nvSpPr>
          <p:cNvPr id="5" name="Freeform 5">
            <a:extLst>
              <a:ext uri="{FF2B5EF4-FFF2-40B4-BE49-F238E27FC236}">
                <a16:creationId xmlns:a16="http://schemas.microsoft.com/office/drawing/2014/main" id="{8F3EEE4C-F46A-4014-5B03-CF123C26C0E8}"/>
              </a:ext>
            </a:extLst>
          </p:cNvPr>
          <p:cNvSpPr/>
          <p:nvPr/>
        </p:nvSpPr>
        <p:spPr>
          <a:xfrm rot="-5339298">
            <a:off x="2357835" y="131507"/>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6" name="Freeform 6">
            <a:extLst>
              <a:ext uri="{FF2B5EF4-FFF2-40B4-BE49-F238E27FC236}">
                <a16:creationId xmlns:a16="http://schemas.microsoft.com/office/drawing/2014/main" id="{06219E1A-3DC1-8FE2-9C41-5A7F20D917D4}"/>
              </a:ext>
            </a:extLst>
          </p:cNvPr>
          <p:cNvSpPr/>
          <p:nvPr/>
        </p:nvSpPr>
        <p:spPr>
          <a:xfrm rot="-5399999">
            <a:off x="3168948" y="-1435901"/>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grpSp>
        <p:nvGrpSpPr>
          <p:cNvPr id="7" name="Group 7">
            <a:extLst>
              <a:ext uri="{FF2B5EF4-FFF2-40B4-BE49-F238E27FC236}">
                <a16:creationId xmlns:a16="http://schemas.microsoft.com/office/drawing/2014/main" id="{0994E62B-A713-2E15-2866-1824A5773388}"/>
              </a:ext>
            </a:extLst>
          </p:cNvPr>
          <p:cNvGrpSpPr/>
          <p:nvPr/>
        </p:nvGrpSpPr>
        <p:grpSpPr>
          <a:xfrm>
            <a:off x="1811851" y="2199481"/>
            <a:ext cx="5648184" cy="1958893"/>
            <a:chOff x="-2170" y="-64309"/>
            <a:chExt cx="1487588" cy="515923"/>
          </a:xfrm>
        </p:grpSpPr>
        <p:sp>
          <p:nvSpPr>
            <p:cNvPr id="8" name="Freeform 8">
              <a:extLst>
                <a:ext uri="{FF2B5EF4-FFF2-40B4-BE49-F238E27FC236}">
                  <a16:creationId xmlns:a16="http://schemas.microsoft.com/office/drawing/2014/main" id="{C7B741A2-BC83-43F7-0588-172FA304B48A}"/>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9" name="TextBox 9">
              <a:extLst>
                <a:ext uri="{FF2B5EF4-FFF2-40B4-BE49-F238E27FC236}">
                  <a16:creationId xmlns:a16="http://schemas.microsoft.com/office/drawing/2014/main" id="{B2B4720E-4226-32AC-B058-E822C4991979}"/>
                </a:ext>
              </a:extLst>
            </p:cNvPr>
            <p:cNvSpPr txBox="1"/>
            <p:nvPr/>
          </p:nvSpPr>
          <p:spPr>
            <a:xfrm>
              <a:off x="-2170" y="-64309"/>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Es la </a:t>
              </a:r>
              <a:r>
                <a:rPr lang="en-US" sz="2999" b="1" dirty="0" err="1">
                  <a:solidFill>
                    <a:srgbClr val="000000"/>
                  </a:solidFill>
                  <a:latin typeface="TT Chocolates"/>
                  <a:ea typeface="TT Chocolates"/>
                  <a:cs typeface="TT Chocolates"/>
                  <a:sym typeface="TT Chocolates"/>
                </a:rPr>
                <a:t>estandarización</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servicios</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actividades</a:t>
              </a:r>
              <a:r>
                <a:rPr lang="en-US" sz="2999" b="1" dirty="0">
                  <a:solidFill>
                    <a:srgbClr val="000000"/>
                  </a:solidFill>
                  <a:latin typeface="TT Chocolates"/>
                  <a:ea typeface="TT Chocolates"/>
                  <a:cs typeface="TT Chocolates"/>
                  <a:sym typeface="TT Chocolates"/>
                </a:rPr>
                <a:t> bajo </a:t>
              </a:r>
              <a:r>
                <a:rPr lang="en-US" sz="2999" b="1" dirty="0" err="1">
                  <a:solidFill>
                    <a:srgbClr val="000000"/>
                  </a:solidFill>
                  <a:latin typeface="TT Chocolates"/>
                  <a:ea typeface="TT Chocolates"/>
                  <a:cs typeface="TT Chocolates"/>
                  <a:sym typeface="TT Chocolates"/>
                </a:rPr>
                <a:t>moldes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óptimos</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trabajo</a:t>
              </a:r>
              <a:endParaRPr lang="en-US" sz="2999" b="1" dirty="0">
                <a:solidFill>
                  <a:srgbClr val="000000"/>
                </a:solidFill>
                <a:latin typeface="TT Chocolates"/>
                <a:ea typeface="TT Chocolates"/>
                <a:cs typeface="TT Chocolates"/>
                <a:sym typeface="TT Chocolates"/>
              </a:endParaRPr>
            </a:p>
          </p:txBody>
        </p:sp>
      </p:grpSp>
      <p:grpSp>
        <p:nvGrpSpPr>
          <p:cNvPr id="10" name="Group 10">
            <a:extLst>
              <a:ext uri="{FF2B5EF4-FFF2-40B4-BE49-F238E27FC236}">
                <a16:creationId xmlns:a16="http://schemas.microsoft.com/office/drawing/2014/main" id="{595625D4-BE6A-954A-13DD-7A8BCDA759AA}"/>
              </a:ext>
            </a:extLst>
          </p:cNvPr>
          <p:cNvGrpSpPr/>
          <p:nvPr/>
        </p:nvGrpSpPr>
        <p:grpSpPr>
          <a:xfrm>
            <a:off x="18592800" y="2276643"/>
            <a:ext cx="5639945" cy="1705737"/>
            <a:chOff x="0" y="0"/>
            <a:chExt cx="1485418" cy="449248"/>
          </a:xfrm>
        </p:grpSpPr>
        <p:sp>
          <p:nvSpPr>
            <p:cNvPr id="11" name="Freeform 11">
              <a:extLst>
                <a:ext uri="{FF2B5EF4-FFF2-40B4-BE49-F238E27FC236}">
                  <a16:creationId xmlns:a16="http://schemas.microsoft.com/office/drawing/2014/main" id="{303142BB-04AC-B893-1DE8-EDA98B839BAB}"/>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2" name="TextBox 12">
              <a:extLst>
                <a:ext uri="{FF2B5EF4-FFF2-40B4-BE49-F238E27FC236}">
                  <a16:creationId xmlns:a16="http://schemas.microsoft.com/office/drawing/2014/main" id="{EE223C05-F63F-7E23-2A73-737DC905CA27}"/>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Busca</a:t>
              </a:r>
              <a:r>
                <a:rPr lang="en-US" sz="2999" b="1" dirty="0">
                  <a:solidFill>
                    <a:srgbClr val="000000"/>
                  </a:solidFill>
                  <a:latin typeface="TT Chocolates"/>
                  <a:ea typeface="TT Chocolates"/>
                  <a:cs typeface="TT Chocolates"/>
                  <a:sym typeface="TT Chocolates"/>
                </a:rPr>
                <a:t> la forma </a:t>
              </a:r>
              <a:r>
                <a:rPr lang="en-US" sz="2999" b="1" dirty="0" err="1">
                  <a:solidFill>
                    <a:srgbClr val="000000"/>
                  </a:solidFill>
                  <a:latin typeface="TT Chocolates"/>
                  <a:ea typeface="TT Chocolates"/>
                  <a:cs typeface="TT Chocolates"/>
                  <a:sym typeface="TT Chocolates"/>
                </a:rPr>
                <a:t>más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segura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fácil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barata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fiable</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garantizar</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calidad</a:t>
              </a:r>
              <a:r>
                <a:rPr lang="en-US" sz="2999" b="1" dirty="0">
                  <a:solidFill>
                    <a:srgbClr val="000000"/>
                  </a:solidFill>
                  <a:latin typeface="TT Chocolates"/>
                  <a:ea typeface="TT Chocolates"/>
                  <a:cs typeface="TT Chocolates"/>
                  <a:sym typeface="TT Chocolates"/>
                </a:rPr>
                <a:t>.</a:t>
              </a:r>
            </a:p>
          </p:txBody>
        </p:sp>
      </p:grpSp>
      <p:grpSp>
        <p:nvGrpSpPr>
          <p:cNvPr id="13" name="Group 13">
            <a:extLst>
              <a:ext uri="{FF2B5EF4-FFF2-40B4-BE49-F238E27FC236}">
                <a16:creationId xmlns:a16="http://schemas.microsoft.com/office/drawing/2014/main" id="{9452ED49-D3BE-C07E-0492-B6F020A070B4}"/>
              </a:ext>
            </a:extLst>
          </p:cNvPr>
          <p:cNvGrpSpPr/>
          <p:nvPr/>
        </p:nvGrpSpPr>
        <p:grpSpPr>
          <a:xfrm>
            <a:off x="18592799" y="6080198"/>
            <a:ext cx="5639945" cy="1705737"/>
            <a:chOff x="0" y="0"/>
            <a:chExt cx="1485418" cy="449248"/>
          </a:xfrm>
        </p:grpSpPr>
        <p:sp>
          <p:nvSpPr>
            <p:cNvPr id="14" name="Freeform 14">
              <a:extLst>
                <a:ext uri="{FF2B5EF4-FFF2-40B4-BE49-F238E27FC236}">
                  <a16:creationId xmlns:a16="http://schemas.microsoft.com/office/drawing/2014/main" id="{077AE9C6-D127-B007-6127-EA3D74CC79BC}"/>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5" name="TextBox 15">
              <a:extLst>
                <a:ext uri="{FF2B5EF4-FFF2-40B4-BE49-F238E27FC236}">
                  <a16:creationId xmlns:a16="http://schemas.microsoft.com/office/drawing/2014/main" id="{F6CAF7F0-6E49-F1BF-B828-38631F5F03BE}"/>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Armoniza</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máquina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método</a:t>
              </a:r>
              <a:r>
                <a:rPr lang="en-US" sz="2999" b="1" dirty="0">
                  <a:solidFill>
                    <a:srgbClr val="000000"/>
                  </a:solidFill>
                  <a:latin typeface="TT Chocolates"/>
                  <a:ea typeface="TT Chocolates"/>
                  <a:cs typeface="TT Chocolates"/>
                  <a:sym typeface="TT Chocolates"/>
                </a:rPr>
                <a:t>, la mano de </a:t>
              </a:r>
              <a:r>
                <a:rPr lang="en-US" sz="2999" b="1" dirty="0" err="1">
                  <a:solidFill>
                    <a:srgbClr val="000000"/>
                  </a:solidFill>
                  <a:latin typeface="TT Chocolates"/>
                  <a:ea typeface="TT Chocolates"/>
                  <a:cs typeface="TT Chocolates"/>
                  <a:sym typeface="TT Chocolates"/>
                </a:rPr>
                <a:t>obra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material </a:t>
              </a:r>
              <a:r>
                <a:rPr lang="en-US" sz="2999" b="1" dirty="0" err="1">
                  <a:solidFill>
                    <a:srgbClr val="000000"/>
                  </a:solidFill>
                  <a:latin typeface="TT Chocolates"/>
                  <a:ea typeface="TT Chocolates"/>
                  <a:cs typeface="TT Chocolates"/>
                  <a:sym typeface="TT Chocolates"/>
                </a:rPr>
                <a:t>en</a:t>
              </a:r>
              <a:r>
                <a:rPr lang="en-US" sz="2999" b="1" dirty="0">
                  <a:solidFill>
                    <a:srgbClr val="000000"/>
                  </a:solidFill>
                  <a:latin typeface="TT Chocolates"/>
                  <a:ea typeface="TT Chocolates"/>
                  <a:cs typeface="TT Chocolates"/>
                  <a:sym typeface="TT Chocolates"/>
                </a:rPr>
                <a:t> un </a:t>
              </a:r>
              <a:r>
                <a:rPr lang="en-US" sz="2999" b="1" dirty="0" err="1">
                  <a:solidFill>
                    <a:srgbClr val="000000"/>
                  </a:solidFill>
                  <a:latin typeface="TT Chocolates"/>
                  <a:ea typeface="TT Chocolates"/>
                  <a:cs typeface="TT Chocolates"/>
                  <a:sym typeface="TT Chocolates"/>
                </a:rPr>
                <a:t>sistema</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producción</a:t>
              </a:r>
              <a:r>
                <a:rPr lang="en-US" sz="2999" b="1" dirty="0">
                  <a:solidFill>
                    <a:srgbClr val="000000"/>
                  </a:solidFill>
                  <a:latin typeface="TT Chocolates"/>
                  <a:ea typeface="TT Chocolates"/>
                  <a:cs typeface="TT Chocolates"/>
                  <a:sym typeface="TT Chocolates"/>
                </a:rPr>
                <a:t>.</a:t>
              </a:r>
            </a:p>
          </p:txBody>
        </p:sp>
      </p:grpSp>
      <p:grpSp>
        <p:nvGrpSpPr>
          <p:cNvPr id="16" name="Group 16">
            <a:extLst>
              <a:ext uri="{FF2B5EF4-FFF2-40B4-BE49-F238E27FC236}">
                <a16:creationId xmlns:a16="http://schemas.microsoft.com/office/drawing/2014/main" id="{F3D58C51-F212-CC9E-E1C2-23EEF6910CBD}"/>
              </a:ext>
            </a:extLst>
          </p:cNvPr>
          <p:cNvGrpSpPr/>
          <p:nvPr/>
        </p:nvGrpSpPr>
        <p:grpSpPr>
          <a:xfrm>
            <a:off x="-5957693" y="6080199"/>
            <a:ext cx="5639945" cy="1705737"/>
            <a:chOff x="0" y="0"/>
            <a:chExt cx="1485418" cy="449248"/>
          </a:xfrm>
        </p:grpSpPr>
        <p:sp>
          <p:nvSpPr>
            <p:cNvPr id="17" name="Freeform 17">
              <a:extLst>
                <a:ext uri="{FF2B5EF4-FFF2-40B4-BE49-F238E27FC236}">
                  <a16:creationId xmlns:a16="http://schemas.microsoft.com/office/drawing/2014/main" id="{358215FA-2394-AC84-5303-BB0B2938D848}"/>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8" name="TextBox 18">
              <a:extLst>
                <a:ext uri="{FF2B5EF4-FFF2-40B4-BE49-F238E27FC236}">
                  <a16:creationId xmlns:a16="http://schemas.microsoft.com/office/drawing/2014/main" id="{833BD07D-F9BC-C29B-5DE1-6A9B552981C6}"/>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Abarca tanto </a:t>
              </a:r>
              <a:r>
                <a:rPr lang="en-US" sz="2999" b="1" dirty="0" err="1">
                  <a:solidFill>
                    <a:srgbClr val="000000"/>
                  </a:solidFill>
                  <a:latin typeface="TT Chocolates"/>
                  <a:ea typeface="TT Chocolates"/>
                  <a:cs typeface="TT Chocolates"/>
                  <a:sym typeface="TT Chocolates"/>
                </a:rPr>
                <a:t>normas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técnicas</a:t>
              </a:r>
              <a:r>
                <a:rPr lang="en-US" sz="2999" b="1" dirty="0">
                  <a:solidFill>
                    <a:srgbClr val="000000"/>
                  </a:solidFill>
                  <a:latin typeface="TT Chocolates"/>
                  <a:ea typeface="TT Chocolates"/>
                  <a:cs typeface="TT Chocolates"/>
                  <a:sym typeface="TT Chocolates"/>
                </a:rPr>
                <a:t> del </a:t>
              </a:r>
              <a:r>
                <a:rPr lang="en-US" sz="2999" b="1" dirty="0" err="1">
                  <a:solidFill>
                    <a:srgbClr val="000000"/>
                  </a:solidFill>
                  <a:latin typeface="TT Chocolates"/>
                  <a:ea typeface="TT Chocolates"/>
                  <a:cs typeface="TT Chocolates"/>
                  <a:sym typeface="TT Chocolates"/>
                </a:rPr>
                <a:t>producto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como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procedimientos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operativos</a:t>
              </a:r>
              <a:r>
                <a:rPr lang="en-US" sz="2999" b="1" dirty="0">
                  <a:solidFill>
                    <a:srgbClr val="000000"/>
                  </a:solidFill>
                  <a:latin typeface="TT Chocolates"/>
                  <a:ea typeface="TT Chocolates"/>
                  <a:cs typeface="TT Chocolates"/>
                  <a:sym typeface="TT Chocolates"/>
                </a:rPr>
                <a:t>.</a:t>
              </a:r>
            </a:p>
          </p:txBody>
        </p:sp>
      </p:grpSp>
    </p:spTree>
    <p:extLst>
      <p:ext uri="{BB962C8B-B14F-4D97-AF65-F5344CB8AC3E}">
        <p14:creationId xmlns:p14="http://schemas.microsoft.com/office/powerpoint/2010/main" val="100369050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a:extLst>
            <a:ext uri="{FF2B5EF4-FFF2-40B4-BE49-F238E27FC236}">
              <a16:creationId xmlns:a16="http://schemas.microsoft.com/office/drawing/2014/main" id="{43F3F420-4817-42D4-EA28-7E011603723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4D38343-2E91-9E4F-7703-502705AE7835}"/>
              </a:ext>
            </a:extLst>
          </p:cNvPr>
          <p:cNvSpPr/>
          <p:nvPr/>
        </p:nvSpPr>
        <p:spPr>
          <a:xfrm rot="5523668">
            <a:off x="-23621971" y="-2887579"/>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a:extLst>
              <a:ext uri="{FF2B5EF4-FFF2-40B4-BE49-F238E27FC236}">
                <a16:creationId xmlns:a16="http://schemas.microsoft.com/office/drawing/2014/main" id="{AA1791CF-7C9C-B032-FFDF-07E8236C9C8D}"/>
              </a:ext>
            </a:extLst>
          </p:cNvPr>
          <p:cNvSpPr/>
          <p:nvPr/>
        </p:nvSpPr>
        <p:spPr>
          <a:xfrm rot="5523668">
            <a:off x="-23642566" y="-3116179"/>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TextBox 4">
            <a:extLst>
              <a:ext uri="{FF2B5EF4-FFF2-40B4-BE49-F238E27FC236}">
                <a16:creationId xmlns:a16="http://schemas.microsoft.com/office/drawing/2014/main" id="{DAB05D4B-918B-E27D-9E5A-7F2DA9AC4E7C}"/>
              </a:ext>
            </a:extLst>
          </p:cNvPr>
          <p:cNvSpPr txBox="1"/>
          <p:nvPr/>
        </p:nvSpPr>
        <p:spPr>
          <a:xfrm>
            <a:off x="3058195" y="-165779"/>
            <a:ext cx="11091862" cy="1194479"/>
          </a:xfrm>
          <a:prstGeom prst="rect">
            <a:avLst/>
          </a:prstGeom>
        </p:spPr>
        <p:txBody>
          <a:bodyPr lIns="0" tIns="0" rIns="0" bIns="0" rtlCol="0" anchor="t">
            <a:spAutoFit/>
          </a:bodyPr>
          <a:lstStyle/>
          <a:p>
            <a:pPr algn="ctr">
              <a:lnSpc>
                <a:spcPts val="9762"/>
              </a:lnSpc>
            </a:pPr>
            <a:r>
              <a:rPr lang="en-US" sz="6973" b="1">
                <a:solidFill>
                  <a:srgbClr val="FFFFFF"/>
                </a:solidFill>
                <a:latin typeface="Canva Sans Bold"/>
                <a:ea typeface="Canva Sans Bold"/>
                <a:cs typeface="Canva Sans Bold"/>
                <a:sym typeface="Canva Sans Bold"/>
              </a:rPr>
              <a:t>¿Que es la normalización?</a:t>
            </a:r>
          </a:p>
        </p:txBody>
      </p:sp>
      <p:sp>
        <p:nvSpPr>
          <p:cNvPr id="5" name="Freeform 5">
            <a:extLst>
              <a:ext uri="{FF2B5EF4-FFF2-40B4-BE49-F238E27FC236}">
                <a16:creationId xmlns:a16="http://schemas.microsoft.com/office/drawing/2014/main" id="{8A6E58CC-EC15-BAD6-2E2D-CC16B45DE786}"/>
              </a:ext>
            </a:extLst>
          </p:cNvPr>
          <p:cNvSpPr/>
          <p:nvPr/>
        </p:nvSpPr>
        <p:spPr>
          <a:xfrm rot="-5339298">
            <a:off x="2687456" y="41729"/>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6" name="Freeform 6">
            <a:extLst>
              <a:ext uri="{FF2B5EF4-FFF2-40B4-BE49-F238E27FC236}">
                <a16:creationId xmlns:a16="http://schemas.microsoft.com/office/drawing/2014/main" id="{38B5E252-653D-7941-0801-110CB1BF3905}"/>
              </a:ext>
            </a:extLst>
          </p:cNvPr>
          <p:cNvSpPr/>
          <p:nvPr/>
        </p:nvSpPr>
        <p:spPr>
          <a:xfrm rot="-5399999">
            <a:off x="3938403" y="-1917164"/>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grpSp>
        <p:nvGrpSpPr>
          <p:cNvPr id="7" name="Group 7">
            <a:extLst>
              <a:ext uri="{FF2B5EF4-FFF2-40B4-BE49-F238E27FC236}">
                <a16:creationId xmlns:a16="http://schemas.microsoft.com/office/drawing/2014/main" id="{6F929DC2-0898-1DB3-4D1F-2980B7B768F9}"/>
              </a:ext>
            </a:extLst>
          </p:cNvPr>
          <p:cNvGrpSpPr/>
          <p:nvPr/>
        </p:nvGrpSpPr>
        <p:grpSpPr>
          <a:xfrm>
            <a:off x="1811851" y="2199481"/>
            <a:ext cx="5648184" cy="1958893"/>
            <a:chOff x="-2170" y="-64309"/>
            <a:chExt cx="1487588" cy="515923"/>
          </a:xfrm>
        </p:grpSpPr>
        <p:sp>
          <p:nvSpPr>
            <p:cNvPr id="8" name="Freeform 8">
              <a:extLst>
                <a:ext uri="{FF2B5EF4-FFF2-40B4-BE49-F238E27FC236}">
                  <a16:creationId xmlns:a16="http://schemas.microsoft.com/office/drawing/2014/main" id="{7516C6E4-9DAA-AC65-9EC6-0727FAAF48D8}"/>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9" name="TextBox 9">
              <a:extLst>
                <a:ext uri="{FF2B5EF4-FFF2-40B4-BE49-F238E27FC236}">
                  <a16:creationId xmlns:a16="http://schemas.microsoft.com/office/drawing/2014/main" id="{B9429277-6065-61E7-40F7-04B2D2D361E0}"/>
                </a:ext>
              </a:extLst>
            </p:cNvPr>
            <p:cNvSpPr txBox="1"/>
            <p:nvPr/>
          </p:nvSpPr>
          <p:spPr>
            <a:xfrm>
              <a:off x="-2170" y="-64309"/>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Es la </a:t>
              </a:r>
              <a:r>
                <a:rPr lang="en-US" sz="2999" b="1" dirty="0" err="1">
                  <a:solidFill>
                    <a:srgbClr val="000000"/>
                  </a:solidFill>
                  <a:latin typeface="TT Chocolates"/>
                  <a:ea typeface="TT Chocolates"/>
                  <a:cs typeface="TT Chocolates"/>
                  <a:sym typeface="TT Chocolates"/>
                </a:rPr>
                <a:t>estandarización</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servicios</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actividades</a:t>
              </a:r>
              <a:r>
                <a:rPr lang="en-US" sz="2999" b="1" dirty="0">
                  <a:solidFill>
                    <a:srgbClr val="000000"/>
                  </a:solidFill>
                  <a:latin typeface="TT Chocolates"/>
                  <a:ea typeface="TT Chocolates"/>
                  <a:cs typeface="TT Chocolates"/>
                  <a:sym typeface="TT Chocolates"/>
                </a:rPr>
                <a:t> bajo </a:t>
              </a:r>
              <a:r>
                <a:rPr lang="en-US" sz="2999" b="1" dirty="0" err="1">
                  <a:solidFill>
                    <a:srgbClr val="000000"/>
                  </a:solidFill>
                  <a:latin typeface="TT Chocolates"/>
                  <a:ea typeface="TT Chocolates"/>
                  <a:cs typeface="TT Chocolates"/>
                  <a:sym typeface="TT Chocolates"/>
                </a:rPr>
                <a:t>moldes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óptimos</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trabajo</a:t>
              </a:r>
              <a:endParaRPr lang="en-US" sz="2999" b="1" dirty="0">
                <a:solidFill>
                  <a:srgbClr val="000000"/>
                </a:solidFill>
                <a:latin typeface="TT Chocolates"/>
                <a:ea typeface="TT Chocolates"/>
                <a:cs typeface="TT Chocolates"/>
                <a:sym typeface="TT Chocolates"/>
              </a:endParaRPr>
            </a:p>
          </p:txBody>
        </p:sp>
      </p:grpSp>
      <p:grpSp>
        <p:nvGrpSpPr>
          <p:cNvPr id="10" name="Group 10">
            <a:extLst>
              <a:ext uri="{FF2B5EF4-FFF2-40B4-BE49-F238E27FC236}">
                <a16:creationId xmlns:a16="http://schemas.microsoft.com/office/drawing/2014/main" id="{7495BF3E-1E78-8D95-A767-9CCCADAE9542}"/>
              </a:ext>
            </a:extLst>
          </p:cNvPr>
          <p:cNvGrpSpPr/>
          <p:nvPr/>
        </p:nvGrpSpPr>
        <p:grpSpPr>
          <a:xfrm>
            <a:off x="10498579" y="2443653"/>
            <a:ext cx="5639945" cy="1705737"/>
            <a:chOff x="0" y="0"/>
            <a:chExt cx="1485418" cy="449248"/>
          </a:xfrm>
        </p:grpSpPr>
        <p:sp>
          <p:nvSpPr>
            <p:cNvPr id="11" name="Freeform 11">
              <a:extLst>
                <a:ext uri="{FF2B5EF4-FFF2-40B4-BE49-F238E27FC236}">
                  <a16:creationId xmlns:a16="http://schemas.microsoft.com/office/drawing/2014/main" id="{6843A479-A4B3-9467-36A9-D65E48137262}"/>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2" name="TextBox 12">
              <a:extLst>
                <a:ext uri="{FF2B5EF4-FFF2-40B4-BE49-F238E27FC236}">
                  <a16:creationId xmlns:a16="http://schemas.microsoft.com/office/drawing/2014/main" id="{2E53F181-DE72-BF3D-AC84-BCCE23A3FC52}"/>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Busca</a:t>
              </a:r>
              <a:r>
                <a:rPr lang="en-US" sz="2999" b="1" dirty="0">
                  <a:solidFill>
                    <a:srgbClr val="000000"/>
                  </a:solidFill>
                  <a:latin typeface="TT Chocolates"/>
                  <a:ea typeface="TT Chocolates"/>
                  <a:cs typeface="TT Chocolates"/>
                  <a:sym typeface="TT Chocolates"/>
                </a:rPr>
                <a:t> la forma </a:t>
              </a:r>
              <a:r>
                <a:rPr lang="en-US" sz="2999" b="1" dirty="0" err="1">
                  <a:solidFill>
                    <a:srgbClr val="000000"/>
                  </a:solidFill>
                  <a:latin typeface="TT Chocolates"/>
                  <a:ea typeface="TT Chocolates"/>
                  <a:cs typeface="TT Chocolates"/>
                  <a:sym typeface="TT Chocolates"/>
                </a:rPr>
                <a:t>más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segura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fácil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barata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fiable</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garantizar</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calidad</a:t>
              </a:r>
              <a:r>
                <a:rPr lang="en-US" sz="2999" b="1" dirty="0">
                  <a:solidFill>
                    <a:srgbClr val="000000"/>
                  </a:solidFill>
                  <a:latin typeface="TT Chocolates"/>
                  <a:ea typeface="TT Chocolates"/>
                  <a:cs typeface="TT Chocolates"/>
                  <a:sym typeface="TT Chocolates"/>
                </a:rPr>
                <a:t>.</a:t>
              </a:r>
            </a:p>
          </p:txBody>
        </p:sp>
      </p:grpSp>
      <p:grpSp>
        <p:nvGrpSpPr>
          <p:cNvPr id="13" name="Group 13">
            <a:extLst>
              <a:ext uri="{FF2B5EF4-FFF2-40B4-BE49-F238E27FC236}">
                <a16:creationId xmlns:a16="http://schemas.microsoft.com/office/drawing/2014/main" id="{847A69EB-B425-74C5-366D-9DDDC38B43DE}"/>
              </a:ext>
            </a:extLst>
          </p:cNvPr>
          <p:cNvGrpSpPr/>
          <p:nvPr/>
        </p:nvGrpSpPr>
        <p:grpSpPr>
          <a:xfrm>
            <a:off x="18592799" y="6080198"/>
            <a:ext cx="5639945" cy="1705737"/>
            <a:chOff x="0" y="0"/>
            <a:chExt cx="1485418" cy="449248"/>
          </a:xfrm>
        </p:grpSpPr>
        <p:sp>
          <p:nvSpPr>
            <p:cNvPr id="14" name="Freeform 14">
              <a:extLst>
                <a:ext uri="{FF2B5EF4-FFF2-40B4-BE49-F238E27FC236}">
                  <a16:creationId xmlns:a16="http://schemas.microsoft.com/office/drawing/2014/main" id="{231A3FC5-9211-5F0A-0071-0E4942DC10CD}"/>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5" name="TextBox 15">
              <a:extLst>
                <a:ext uri="{FF2B5EF4-FFF2-40B4-BE49-F238E27FC236}">
                  <a16:creationId xmlns:a16="http://schemas.microsoft.com/office/drawing/2014/main" id="{D4FE53CA-E385-1EB1-DE0B-AB563C8FC59A}"/>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Armoniza</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máquina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método</a:t>
              </a:r>
              <a:r>
                <a:rPr lang="en-US" sz="2999" b="1" dirty="0">
                  <a:solidFill>
                    <a:srgbClr val="000000"/>
                  </a:solidFill>
                  <a:latin typeface="TT Chocolates"/>
                  <a:ea typeface="TT Chocolates"/>
                  <a:cs typeface="TT Chocolates"/>
                  <a:sym typeface="TT Chocolates"/>
                </a:rPr>
                <a:t>, la mano de </a:t>
              </a:r>
              <a:r>
                <a:rPr lang="en-US" sz="2999" b="1" dirty="0" err="1">
                  <a:solidFill>
                    <a:srgbClr val="000000"/>
                  </a:solidFill>
                  <a:latin typeface="TT Chocolates"/>
                  <a:ea typeface="TT Chocolates"/>
                  <a:cs typeface="TT Chocolates"/>
                  <a:sym typeface="TT Chocolates"/>
                </a:rPr>
                <a:t>obra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material </a:t>
              </a:r>
              <a:r>
                <a:rPr lang="en-US" sz="2999" b="1" dirty="0" err="1">
                  <a:solidFill>
                    <a:srgbClr val="000000"/>
                  </a:solidFill>
                  <a:latin typeface="TT Chocolates"/>
                  <a:ea typeface="TT Chocolates"/>
                  <a:cs typeface="TT Chocolates"/>
                  <a:sym typeface="TT Chocolates"/>
                </a:rPr>
                <a:t>en</a:t>
              </a:r>
              <a:r>
                <a:rPr lang="en-US" sz="2999" b="1" dirty="0">
                  <a:solidFill>
                    <a:srgbClr val="000000"/>
                  </a:solidFill>
                  <a:latin typeface="TT Chocolates"/>
                  <a:ea typeface="TT Chocolates"/>
                  <a:cs typeface="TT Chocolates"/>
                  <a:sym typeface="TT Chocolates"/>
                </a:rPr>
                <a:t> un </a:t>
              </a:r>
              <a:r>
                <a:rPr lang="en-US" sz="2999" b="1" dirty="0" err="1">
                  <a:solidFill>
                    <a:srgbClr val="000000"/>
                  </a:solidFill>
                  <a:latin typeface="TT Chocolates"/>
                  <a:ea typeface="TT Chocolates"/>
                  <a:cs typeface="TT Chocolates"/>
                  <a:sym typeface="TT Chocolates"/>
                </a:rPr>
                <a:t>sistema</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producción</a:t>
              </a:r>
              <a:r>
                <a:rPr lang="en-US" sz="2999" b="1" dirty="0">
                  <a:solidFill>
                    <a:srgbClr val="000000"/>
                  </a:solidFill>
                  <a:latin typeface="TT Chocolates"/>
                  <a:ea typeface="TT Chocolates"/>
                  <a:cs typeface="TT Chocolates"/>
                  <a:sym typeface="TT Chocolates"/>
                </a:rPr>
                <a:t>.</a:t>
              </a:r>
            </a:p>
          </p:txBody>
        </p:sp>
      </p:grpSp>
      <p:grpSp>
        <p:nvGrpSpPr>
          <p:cNvPr id="16" name="Group 16">
            <a:extLst>
              <a:ext uri="{FF2B5EF4-FFF2-40B4-BE49-F238E27FC236}">
                <a16:creationId xmlns:a16="http://schemas.microsoft.com/office/drawing/2014/main" id="{9BC87C6A-6F62-9DCE-C432-E2785B89004B}"/>
              </a:ext>
            </a:extLst>
          </p:cNvPr>
          <p:cNvGrpSpPr/>
          <p:nvPr/>
        </p:nvGrpSpPr>
        <p:grpSpPr>
          <a:xfrm>
            <a:off x="-5957693" y="6080199"/>
            <a:ext cx="5639945" cy="1705737"/>
            <a:chOff x="0" y="0"/>
            <a:chExt cx="1485418" cy="449248"/>
          </a:xfrm>
        </p:grpSpPr>
        <p:sp>
          <p:nvSpPr>
            <p:cNvPr id="17" name="Freeform 17">
              <a:extLst>
                <a:ext uri="{FF2B5EF4-FFF2-40B4-BE49-F238E27FC236}">
                  <a16:creationId xmlns:a16="http://schemas.microsoft.com/office/drawing/2014/main" id="{23EB991D-D3BD-0848-B344-0D00619138D7}"/>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8" name="TextBox 18">
              <a:extLst>
                <a:ext uri="{FF2B5EF4-FFF2-40B4-BE49-F238E27FC236}">
                  <a16:creationId xmlns:a16="http://schemas.microsoft.com/office/drawing/2014/main" id="{1AEA5A79-D0BB-62E5-055A-B0E58EA569A1}"/>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Abarca tanto </a:t>
              </a:r>
              <a:r>
                <a:rPr lang="en-US" sz="2999" b="1" dirty="0" err="1">
                  <a:solidFill>
                    <a:srgbClr val="000000"/>
                  </a:solidFill>
                  <a:latin typeface="TT Chocolates"/>
                  <a:ea typeface="TT Chocolates"/>
                  <a:cs typeface="TT Chocolates"/>
                  <a:sym typeface="TT Chocolates"/>
                </a:rPr>
                <a:t>normas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técnicas</a:t>
              </a:r>
              <a:r>
                <a:rPr lang="en-US" sz="2999" b="1" dirty="0">
                  <a:solidFill>
                    <a:srgbClr val="000000"/>
                  </a:solidFill>
                  <a:latin typeface="TT Chocolates"/>
                  <a:ea typeface="TT Chocolates"/>
                  <a:cs typeface="TT Chocolates"/>
                  <a:sym typeface="TT Chocolates"/>
                </a:rPr>
                <a:t> del </a:t>
              </a:r>
              <a:r>
                <a:rPr lang="en-US" sz="2999" b="1" dirty="0" err="1">
                  <a:solidFill>
                    <a:srgbClr val="000000"/>
                  </a:solidFill>
                  <a:latin typeface="TT Chocolates"/>
                  <a:ea typeface="TT Chocolates"/>
                  <a:cs typeface="TT Chocolates"/>
                  <a:sym typeface="TT Chocolates"/>
                </a:rPr>
                <a:t>producto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como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procedimientos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operativos</a:t>
              </a:r>
              <a:r>
                <a:rPr lang="en-US" sz="2999" b="1" dirty="0">
                  <a:solidFill>
                    <a:srgbClr val="000000"/>
                  </a:solidFill>
                  <a:latin typeface="TT Chocolates"/>
                  <a:ea typeface="TT Chocolates"/>
                  <a:cs typeface="TT Chocolates"/>
                  <a:sym typeface="TT Chocolates"/>
                </a:rPr>
                <a:t>.</a:t>
              </a:r>
            </a:p>
          </p:txBody>
        </p:sp>
      </p:grpSp>
    </p:spTree>
    <p:extLst>
      <p:ext uri="{BB962C8B-B14F-4D97-AF65-F5344CB8AC3E}">
        <p14:creationId xmlns:p14="http://schemas.microsoft.com/office/powerpoint/2010/main" val="352211268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a:extLst>
            <a:ext uri="{FF2B5EF4-FFF2-40B4-BE49-F238E27FC236}">
              <a16:creationId xmlns:a16="http://schemas.microsoft.com/office/drawing/2014/main" id="{B7C14E79-F057-0DF4-1B63-6CF2ECD817B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4F2A033-0051-029F-6FF2-C5218B050E35}"/>
              </a:ext>
            </a:extLst>
          </p:cNvPr>
          <p:cNvSpPr/>
          <p:nvPr/>
        </p:nvSpPr>
        <p:spPr>
          <a:xfrm rot="5523668">
            <a:off x="-23621971" y="-2887579"/>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a:extLst>
              <a:ext uri="{FF2B5EF4-FFF2-40B4-BE49-F238E27FC236}">
                <a16:creationId xmlns:a16="http://schemas.microsoft.com/office/drawing/2014/main" id="{B68C01D8-1E25-0F9C-1698-BF5097077F24}"/>
              </a:ext>
            </a:extLst>
          </p:cNvPr>
          <p:cNvSpPr/>
          <p:nvPr/>
        </p:nvSpPr>
        <p:spPr>
          <a:xfrm rot="5523668">
            <a:off x="-23642566" y="-3116179"/>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TextBox 4">
            <a:extLst>
              <a:ext uri="{FF2B5EF4-FFF2-40B4-BE49-F238E27FC236}">
                <a16:creationId xmlns:a16="http://schemas.microsoft.com/office/drawing/2014/main" id="{5F89D66E-0500-14D4-F084-283161C5FB28}"/>
              </a:ext>
            </a:extLst>
          </p:cNvPr>
          <p:cNvSpPr txBox="1"/>
          <p:nvPr/>
        </p:nvSpPr>
        <p:spPr>
          <a:xfrm>
            <a:off x="3058195" y="-165779"/>
            <a:ext cx="11091862" cy="1194479"/>
          </a:xfrm>
          <a:prstGeom prst="rect">
            <a:avLst/>
          </a:prstGeom>
        </p:spPr>
        <p:txBody>
          <a:bodyPr lIns="0" tIns="0" rIns="0" bIns="0" rtlCol="0" anchor="t">
            <a:spAutoFit/>
          </a:bodyPr>
          <a:lstStyle/>
          <a:p>
            <a:pPr algn="ctr">
              <a:lnSpc>
                <a:spcPts val="9762"/>
              </a:lnSpc>
            </a:pPr>
            <a:r>
              <a:rPr lang="en-US" sz="6973" b="1">
                <a:solidFill>
                  <a:srgbClr val="FFFFFF"/>
                </a:solidFill>
                <a:latin typeface="Canva Sans Bold"/>
                <a:ea typeface="Canva Sans Bold"/>
                <a:cs typeface="Canva Sans Bold"/>
                <a:sym typeface="Canva Sans Bold"/>
              </a:rPr>
              <a:t>¿Que es la normalización?</a:t>
            </a:r>
          </a:p>
        </p:txBody>
      </p:sp>
      <p:sp>
        <p:nvSpPr>
          <p:cNvPr id="5" name="Freeform 5">
            <a:extLst>
              <a:ext uri="{FF2B5EF4-FFF2-40B4-BE49-F238E27FC236}">
                <a16:creationId xmlns:a16="http://schemas.microsoft.com/office/drawing/2014/main" id="{F9FB64C8-658A-D01B-A78C-714A8E6CF3C7}"/>
              </a:ext>
            </a:extLst>
          </p:cNvPr>
          <p:cNvSpPr/>
          <p:nvPr/>
        </p:nvSpPr>
        <p:spPr>
          <a:xfrm rot="-5339298">
            <a:off x="2687456" y="41729"/>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6" name="Freeform 6">
            <a:extLst>
              <a:ext uri="{FF2B5EF4-FFF2-40B4-BE49-F238E27FC236}">
                <a16:creationId xmlns:a16="http://schemas.microsoft.com/office/drawing/2014/main" id="{C17F75F9-9E1A-8C1A-EFD6-9A6C103FB372}"/>
              </a:ext>
            </a:extLst>
          </p:cNvPr>
          <p:cNvSpPr/>
          <p:nvPr/>
        </p:nvSpPr>
        <p:spPr>
          <a:xfrm rot="-5399999">
            <a:off x="3938403" y="-1917164"/>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grpSp>
        <p:nvGrpSpPr>
          <p:cNvPr id="7" name="Group 7">
            <a:extLst>
              <a:ext uri="{FF2B5EF4-FFF2-40B4-BE49-F238E27FC236}">
                <a16:creationId xmlns:a16="http://schemas.microsoft.com/office/drawing/2014/main" id="{846E7A00-AB29-89CD-A904-F998A3256C71}"/>
              </a:ext>
            </a:extLst>
          </p:cNvPr>
          <p:cNvGrpSpPr/>
          <p:nvPr/>
        </p:nvGrpSpPr>
        <p:grpSpPr>
          <a:xfrm>
            <a:off x="1811851" y="2199481"/>
            <a:ext cx="5648184" cy="1958893"/>
            <a:chOff x="-2170" y="-64309"/>
            <a:chExt cx="1487588" cy="515923"/>
          </a:xfrm>
        </p:grpSpPr>
        <p:sp>
          <p:nvSpPr>
            <p:cNvPr id="8" name="Freeform 8">
              <a:extLst>
                <a:ext uri="{FF2B5EF4-FFF2-40B4-BE49-F238E27FC236}">
                  <a16:creationId xmlns:a16="http://schemas.microsoft.com/office/drawing/2014/main" id="{EADF0CC0-1D1F-13C2-5C32-0567F8410006}"/>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9" name="TextBox 9">
              <a:extLst>
                <a:ext uri="{FF2B5EF4-FFF2-40B4-BE49-F238E27FC236}">
                  <a16:creationId xmlns:a16="http://schemas.microsoft.com/office/drawing/2014/main" id="{EDBD0943-6D18-AF48-A842-7EF6D444C58B}"/>
                </a:ext>
              </a:extLst>
            </p:cNvPr>
            <p:cNvSpPr txBox="1"/>
            <p:nvPr/>
          </p:nvSpPr>
          <p:spPr>
            <a:xfrm>
              <a:off x="-2170" y="-64309"/>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Es la </a:t>
              </a:r>
              <a:r>
                <a:rPr lang="en-US" sz="2999" b="1" dirty="0" err="1">
                  <a:solidFill>
                    <a:srgbClr val="000000"/>
                  </a:solidFill>
                  <a:latin typeface="TT Chocolates"/>
                  <a:ea typeface="TT Chocolates"/>
                  <a:cs typeface="TT Chocolates"/>
                  <a:sym typeface="TT Chocolates"/>
                </a:rPr>
                <a:t>estandarización</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servicios</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actividades</a:t>
              </a:r>
              <a:r>
                <a:rPr lang="en-US" sz="2999" b="1" dirty="0">
                  <a:solidFill>
                    <a:srgbClr val="000000"/>
                  </a:solidFill>
                  <a:latin typeface="TT Chocolates"/>
                  <a:ea typeface="TT Chocolates"/>
                  <a:cs typeface="TT Chocolates"/>
                  <a:sym typeface="TT Chocolates"/>
                </a:rPr>
                <a:t> bajo </a:t>
              </a:r>
              <a:r>
                <a:rPr lang="en-US" sz="2999" b="1" dirty="0" err="1">
                  <a:solidFill>
                    <a:srgbClr val="000000"/>
                  </a:solidFill>
                  <a:latin typeface="TT Chocolates"/>
                  <a:ea typeface="TT Chocolates"/>
                  <a:cs typeface="TT Chocolates"/>
                  <a:sym typeface="TT Chocolates"/>
                </a:rPr>
                <a:t>moldes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óptimos</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trabajo</a:t>
              </a:r>
              <a:endParaRPr lang="en-US" sz="2999" b="1" dirty="0">
                <a:solidFill>
                  <a:srgbClr val="000000"/>
                </a:solidFill>
                <a:latin typeface="TT Chocolates"/>
                <a:ea typeface="TT Chocolates"/>
                <a:cs typeface="TT Chocolates"/>
                <a:sym typeface="TT Chocolates"/>
              </a:endParaRPr>
            </a:p>
          </p:txBody>
        </p:sp>
      </p:grpSp>
      <p:grpSp>
        <p:nvGrpSpPr>
          <p:cNvPr id="10" name="Group 10">
            <a:extLst>
              <a:ext uri="{FF2B5EF4-FFF2-40B4-BE49-F238E27FC236}">
                <a16:creationId xmlns:a16="http://schemas.microsoft.com/office/drawing/2014/main" id="{952710DD-FB1A-ADC9-1FB3-475671113EEE}"/>
              </a:ext>
            </a:extLst>
          </p:cNvPr>
          <p:cNvGrpSpPr/>
          <p:nvPr/>
        </p:nvGrpSpPr>
        <p:grpSpPr>
          <a:xfrm>
            <a:off x="10498579" y="2443653"/>
            <a:ext cx="5639945" cy="1705737"/>
            <a:chOff x="0" y="0"/>
            <a:chExt cx="1485418" cy="449248"/>
          </a:xfrm>
        </p:grpSpPr>
        <p:sp>
          <p:nvSpPr>
            <p:cNvPr id="11" name="Freeform 11">
              <a:extLst>
                <a:ext uri="{FF2B5EF4-FFF2-40B4-BE49-F238E27FC236}">
                  <a16:creationId xmlns:a16="http://schemas.microsoft.com/office/drawing/2014/main" id="{84822260-FBBD-6C6B-1155-CC17D5DB038A}"/>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2" name="TextBox 12">
              <a:extLst>
                <a:ext uri="{FF2B5EF4-FFF2-40B4-BE49-F238E27FC236}">
                  <a16:creationId xmlns:a16="http://schemas.microsoft.com/office/drawing/2014/main" id="{2F05D743-5234-FF6E-AEA3-101962CFDD30}"/>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Busca</a:t>
              </a:r>
              <a:r>
                <a:rPr lang="en-US" sz="2999" b="1" dirty="0">
                  <a:solidFill>
                    <a:srgbClr val="000000"/>
                  </a:solidFill>
                  <a:latin typeface="TT Chocolates"/>
                  <a:ea typeface="TT Chocolates"/>
                  <a:cs typeface="TT Chocolates"/>
                  <a:sym typeface="TT Chocolates"/>
                </a:rPr>
                <a:t> la forma </a:t>
              </a:r>
              <a:r>
                <a:rPr lang="en-US" sz="2999" b="1" dirty="0" err="1">
                  <a:solidFill>
                    <a:srgbClr val="000000"/>
                  </a:solidFill>
                  <a:latin typeface="TT Chocolates"/>
                  <a:ea typeface="TT Chocolates"/>
                  <a:cs typeface="TT Chocolates"/>
                  <a:sym typeface="TT Chocolates"/>
                </a:rPr>
                <a:t>más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segura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fácil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barata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fiable</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garantizar</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calidad</a:t>
              </a:r>
              <a:r>
                <a:rPr lang="en-US" sz="2999" b="1" dirty="0">
                  <a:solidFill>
                    <a:srgbClr val="000000"/>
                  </a:solidFill>
                  <a:latin typeface="TT Chocolates"/>
                  <a:ea typeface="TT Chocolates"/>
                  <a:cs typeface="TT Chocolates"/>
                  <a:sym typeface="TT Chocolates"/>
                </a:rPr>
                <a:t>.</a:t>
              </a:r>
            </a:p>
          </p:txBody>
        </p:sp>
      </p:grpSp>
      <p:grpSp>
        <p:nvGrpSpPr>
          <p:cNvPr id="13" name="Group 13">
            <a:extLst>
              <a:ext uri="{FF2B5EF4-FFF2-40B4-BE49-F238E27FC236}">
                <a16:creationId xmlns:a16="http://schemas.microsoft.com/office/drawing/2014/main" id="{49D4DC30-723B-EE17-DD96-AA89AB9D1EDE}"/>
              </a:ext>
            </a:extLst>
          </p:cNvPr>
          <p:cNvGrpSpPr/>
          <p:nvPr/>
        </p:nvGrpSpPr>
        <p:grpSpPr>
          <a:xfrm>
            <a:off x="18592799" y="6080198"/>
            <a:ext cx="5639945" cy="1705737"/>
            <a:chOff x="0" y="0"/>
            <a:chExt cx="1485418" cy="449248"/>
          </a:xfrm>
        </p:grpSpPr>
        <p:sp>
          <p:nvSpPr>
            <p:cNvPr id="14" name="Freeform 14">
              <a:extLst>
                <a:ext uri="{FF2B5EF4-FFF2-40B4-BE49-F238E27FC236}">
                  <a16:creationId xmlns:a16="http://schemas.microsoft.com/office/drawing/2014/main" id="{AE73F962-6FB5-8057-709A-0498B51B5385}"/>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5" name="TextBox 15">
              <a:extLst>
                <a:ext uri="{FF2B5EF4-FFF2-40B4-BE49-F238E27FC236}">
                  <a16:creationId xmlns:a16="http://schemas.microsoft.com/office/drawing/2014/main" id="{ABF5B4FC-734A-73AE-852D-F14638BC9B93}"/>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Armoniza</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máquina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método</a:t>
              </a:r>
              <a:r>
                <a:rPr lang="en-US" sz="2999" b="1" dirty="0">
                  <a:solidFill>
                    <a:srgbClr val="000000"/>
                  </a:solidFill>
                  <a:latin typeface="TT Chocolates"/>
                  <a:ea typeface="TT Chocolates"/>
                  <a:cs typeface="TT Chocolates"/>
                  <a:sym typeface="TT Chocolates"/>
                </a:rPr>
                <a:t>, la mano de </a:t>
              </a:r>
              <a:r>
                <a:rPr lang="en-US" sz="2999" b="1" dirty="0" err="1">
                  <a:solidFill>
                    <a:srgbClr val="000000"/>
                  </a:solidFill>
                  <a:latin typeface="TT Chocolates"/>
                  <a:ea typeface="TT Chocolates"/>
                  <a:cs typeface="TT Chocolates"/>
                  <a:sym typeface="TT Chocolates"/>
                </a:rPr>
                <a:t>obra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material </a:t>
              </a:r>
              <a:r>
                <a:rPr lang="en-US" sz="2999" b="1" dirty="0" err="1">
                  <a:solidFill>
                    <a:srgbClr val="000000"/>
                  </a:solidFill>
                  <a:latin typeface="TT Chocolates"/>
                  <a:ea typeface="TT Chocolates"/>
                  <a:cs typeface="TT Chocolates"/>
                  <a:sym typeface="TT Chocolates"/>
                </a:rPr>
                <a:t>en</a:t>
              </a:r>
              <a:r>
                <a:rPr lang="en-US" sz="2999" b="1" dirty="0">
                  <a:solidFill>
                    <a:srgbClr val="000000"/>
                  </a:solidFill>
                  <a:latin typeface="TT Chocolates"/>
                  <a:ea typeface="TT Chocolates"/>
                  <a:cs typeface="TT Chocolates"/>
                  <a:sym typeface="TT Chocolates"/>
                </a:rPr>
                <a:t> un </a:t>
              </a:r>
              <a:r>
                <a:rPr lang="en-US" sz="2999" b="1" dirty="0" err="1">
                  <a:solidFill>
                    <a:srgbClr val="000000"/>
                  </a:solidFill>
                  <a:latin typeface="TT Chocolates"/>
                  <a:ea typeface="TT Chocolates"/>
                  <a:cs typeface="TT Chocolates"/>
                  <a:sym typeface="TT Chocolates"/>
                </a:rPr>
                <a:t>sistema</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producción</a:t>
              </a:r>
              <a:r>
                <a:rPr lang="en-US" sz="2999" b="1" dirty="0">
                  <a:solidFill>
                    <a:srgbClr val="000000"/>
                  </a:solidFill>
                  <a:latin typeface="TT Chocolates"/>
                  <a:ea typeface="TT Chocolates"/>
                  <a:cs typeface="TT Chocolates"/>
                  <a:sym typeface="TT Chocolates"/>
                </a:rPr>
                <a:t>.</a:t>
              </a:r>
            </a:p>
          </p:txBody>
        </p:sp>
      </p:grpSp>
      <p:grpSp>
        <p:nvGrpSpPr>
          <p:cNvPr id="16" name="Group 16">
            <a:extLst>
              <a:ext uri="{FF2B5EF4-FFF2-40B4-BE49-F238E27FC236}">
                <a16:creationId xmlns:a16="http://schemas.microsoft.com/office/drawing/2014/main" id="{3B6D31C0-B2B9-B5C9-E57A-F2B2291412A3}"/>
              </a:ext>
            </a:extLst>
          </p:cNvPr>
          <p:cNvGrpSpPr/>
          <p:nvPr/>
        </p:nvGrpSpPr>
        <p:grpSpPr>
          <a:xfrm>
            <a:off x="1811850" y="6058121"/>
            <a:ext cx="5639945" cy="1705737"/>
            <a:chOff x="0" y="0"/>
            <a:chExt cx="1485418" cy="449248"/>
          </a:xfrm>
        </p:grpSpPr>
        <p:sp>
          <p:nvSpPr>
            <p:cNvPr id="17" name="Freeform 17">
              <a:extLst>
                <a:ext uri="{FF2B5EF4-FFF2-40B4-BE49-F238E27FC236}">
                  <a16:creationId xmlns:a16="http://schemas.microsoft.com/office/drawing/2014/main" id="{C200894D-F0C1-32A7-6F26-15D3EC5DF844}"/>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8" name="TextBox 18">
              <a:extLst>
                <a:ext uri="{FF2B5EF4-FFF2-40B4-BE49-F238E27FC236}">
                  <a16:creationId xmlns:a16="http://schemas.microsoft.com/office/drawing/2014/main" id="{3CC6B700-A8E6-DC70-9FCB-B33529E56E7B}"/>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Abarca tanto </a:t>
              </a:r>
              <a:r>
                <a:rPr lang="en-US" sz="2999" b="1" dirty="0" err="1">
                  <a:solidFill>
                    <a:srgbClr val="000000"/>
                  </a:solidFill>
                  <a:latin typeface="TT Chocolates"/>
                  <a:ea typeface="TT Chocolates"/>
                  <a:cs typeface="TT Chocolates"/>
                  <a:sym typeface="TT Chocolates"/>
                </a:rPr>
                <a:t>normas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técnicas</a:t>
              </a:r>
              <a:r>
                <a:rPr lang="en-US" sz="2999" b="1" dirty="0">
                  <a:solidFill>
                    <a:srgbClr val="000000"/>
                  </a:solidFill>
                  <a:latin typeface="TT Chocolates"/>
                  <a:ea typeface="TT Chocolates"/>
                  <a:cs typeface="TT Chocolates"/>
                  <a:sym typeface="TT Chocolates"/>
                </a:rPr>
                <a:t> del </a:t>
              </a:r>
              <a:r>
                <a:rPr lang="en-US" sz="2999" b="1" dirty="0" err="1">
                  <a:solidFill>
                    <a:srgbClr val="000000"/>
                  </a:solidFill>
                  <a:latin typeface="TT Chocolates"/>
                  <a:ea typeface="TT Chocolates"/>
                  <a:cs typeface="TT Chocolates"/>
                  <a:sym typeface="TT Chocolates"/>
                </a:rPr>
                <a:t>producto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como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procedimientos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operativos</a:t>
              </a:r>
              <a:r>
                <a:rPr lang="en-US" sz="2999" b="1" dirty="0">
                  <a:solidFill>
                    <a:srgbClr val="000000"/>
                  </a:solidFill>
                  <a:latin typeface="TT Chocolates"/>
                  <a:ea typeface="TT Chocolates"/>
                  <a:cs typeface="TT Chocolates"/>
                  <a:sym typeface="TT Chocolates"/>
                </a:rPr>
                <a:t>.</a:t>
              </a:r>
            </a:p>
          </p:txBody>
        </p:sp>
      </p:grpSp>
    </p:spTree>
    <p:extLst>
      <p:ext uri="{BB962C8B-B14F-4D97-AF65-F5344CB8AC3E}">
        <p14:creationId xmlns:p14="http://schemas.microsoft.com/office/powerpoint/2010/main" val="366571234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a:extLst>
            <a:ext uri="{FF2B5EF4-FFF2-40B4-BE49-F238E27FC236}">
              <a16:creationId xmlns:a16="http://schemas.microsoft.com/office/drawing/2014/main" id="{AF817507-1F2E-BBA6-BF4E-176B480DAC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14EDB5D-393B-95F6-31F6-B8702B17D542}"/>
              </a:ext>
            </a:extLst>
          </p:cNvPr>
          <p:cNvSpPr/>
          <p:nvPr/>
        </p:nvSpPr>
        <p:spPr>
          <a:xfrm rot="5523668">
            <a:off x="-23621971" y="-2887579"/>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a:extLst>
              <a:ext uri="{FF2B5EF4-FFF2-40B4-BE49-F238E27FC236}">
                <a16:creationId xmlns:a16="http://schemas.microsoft.com/office/drawing/2014/main" id="{7F012467-46B4-A342-0B52-93FDE521B1D5}"/>
              </a:ext>
            </a:extLst>
          </p:cNvPr>
          <p:cNvSpPr/>
          <p:nvPr/>
        </p:nvSpPr>
        <p:spPr>
          <a:xfrm rot="5523668">
            <a:off x="-23642566" y="-3116179"/>
            <a:ext cx="37450631" cy="15488412"/>
          </a:xfrm>
          <a:custGeom>
            <a:avLst/>
            <a:gdLst/>
            <a:ahLst/>
            <a:cxnLst/>
            <a:rect l="l" t="t" r="r" b="b"/>
            <a:pathLst>
              <a:path w="37450631" h="15488412">
                <a:moveTo>
                  <a:pt x="0" y="0"/>
                </a:moveTo>
                <a:lnTo>
                  <a:pt x="37450632" y="0"/>
                </a:lnTo>
                <a:lnTo>
                  <a:pt x="37450632" y="15488412"/>
                </a:lnTo>
                <a:lnTo>
                  <a:pt x="0" y="1548841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TextBox 4">
            <a:extLst>
              <a:ext uri="{FF2B5EF4-FFF2-40B4-BE49-F238E27FC236}">
                <a16:creationId xmlns:a16="http://schemas.microsoft.com/office/drawing/2014/main" id="{BD5A906D-40F5-4B16-25B6-721856773C20}"/>
              </a:ext>
            </a:extLst>
          </p:cNvPr>
          <p:cNvSpPr txBox="1"/>
          <p:nvPr/>
        </p:nvSpPr>
        <p:spPr>
          <a:xfrm>
            <a:off x="3058195" y="-165779"/>
            <a:ext cx="11091862" cy="1194479"/>
          </a:xfrm>
          <a:prstGeom prst="rect">
            <a:avLst/>
          </a:prstGeom>
        </p:spPr>
        <p:txBody>
          <a:bodyPr lIns="0" tIns="0" rIns="0" bIns="0" rtlCol="0" anchor="t">
            <a:spAutoFit/>
          </a:bodyPr>
          <a:lstStyle/>
          <a:p>
            <a:pPr algn="ctr">
              <a:lnSpc>
                <a:spcPts val="9762"/>
              </a:lnSpc>
            </a:pPr>
            <a:r>
              <a:rPr lang="en-US" sz="6973" b="1">
                <a:solidFill>
                  <a:srgbClr val="FFFFFF"/>
                </a:solidFill>
                <a:latin typeface="Canva Sans Bold"/>
                <a:ea typeface="Canva Sans Bold"/>
                <a:cs typeface="Canva Sans Bold"/>
                <a:sym typeface="Canva Sans Bold"/>
              </a:rPr>
              <a:t>¿Que es la normalización?</a:t>
            </a:r>
          </a:p>
        </p:txBody>
      </p:sp>
      <p:sp>
        <p:nvSpPr>
          <p:cNvPr id="5" name="Freeform 5">
            <a:extLst>
              <a:ext uri="{FF2B5EF4-FFF2-40B4-BE49-F238E27FC236}">
                <a16:creationId xmlns:a16="http://schemas.microsoft.com/office/drawing/2014/main" id="{543AE2B5-8D04-2A98-E36B-A424A8FF2630}"/>
              </a:ext>
            </a:extLst>
          </p:cNvPr>
          <p:cNvSpPr/>
          <p:nvPr/>
        </p:nvSpPr>
        <p:spPr>
          <a:xfrm rot="-5339298">
            <a:off x="2687456" y="41729"/>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6" name="Freeform 6">
            <a:extLst>
              <a:ext uri="{FF2B5EF4-FFF2-40B4-BE49-F238E27FC236}">
                <a16:creationId xmlns:a16="http://schemas.microsoft.com/office/drawing/2014/main" id="{446330E5-1D36-76F3-0F37-70048B61B0DB}"/>
              </a:ext>
            </a:extLst>
          </p:cNvPr>
          <p:cNvSpPr/>
          <p:nvPr/>
        </p:nvSpPr>
        <p:spPr>
          <a:xfrm rot="-5399999">
            <a:off x="3938403" y="-1917164"/>
            <a:ext cx="37450631" cy="15488412"/>
          </a:xfrm>
          <a:custGeom>
            <a:avLst/>
            <a:gdLst/>
            <a:ahLst/>
            <a:cxnLst/>
            <a:rect l="l" t="t" r="r" b="b"/>
            <a:pathLst>
              <a:path w="37450631" h="15488412">
                <a:moveTo>
                  <a:pt x="0" y="0"/>
                </a:moveTo>
                <a:lnTo>
                  <a:pt x="37450631" y="0"/>
                </a:lnTo>
                <a:lnTo>
                  <a:pt x="37450631" y="15488411"/>
                </a:lnTo>
                <a:lnTo>
                  <a:pt x="0" y="154884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grpSp>
        <p:nvGrpSpPr>
          <p:cNvPr id="7" name="Group 7">
            <a:extLst>
              <a:ext uri="{FF2B5EF4-FFF2-40B4-BE49-F238E27FC236}">
                <a16:creationId xmlns:a16="http://schemas.microsoft.com/office/drawing/2014/main" id="{A6B1BD30-C5B0-1B9D-12C7-CC03AAE41CEA}"/>
              </a:ext>
            </a:extLst>
          </p:cNvPr>
          <p:cNvGrpSpPr/>
          <p:nvPr/>
        </p:nvGrpSpPr>
        <p:grpSpPr>
          <a:xfrm>
            <a:off x="1811851" y="2199481"/>
            <a:ext cx="5648184" cy="1958893"/>
            <a:chOff x="-2170" y="-64309"/>
            <a:chExt cx="1487588" cy="515923"/>
          </a:xfrm>
        </p:grpSpPr>
        <p:sp>
          <p:nvSpPr>
            <p:cNvPr id="8" name="Freeform 8">
              <a:extLst>
                <a:ext uri="{FF2B5EF4-FFF2-40B4-BE49-F238E27FC236}">
                  <a16:creationId xmlns:a16="http://schemas.microsoft.com/office/drawing/2014/main" id="{78AEB0D2-19A9-7FD8-2194-4FB212133BEE}"/>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9" name="TextBox 9">
              <a:extLst>
                <a:ext uri="{FF2B5EF4-FFF2-40B4-BE49-F238E27FC236}">
                  <a16:creationId xmlns:a16="http://schemas.microsoft.com/office/drawing/2014/main" id="{F2EB3628-7622-7B19-74DC-590299EDE36D}"/>
                </a:ext>
              </a:extLst>
            </p:cNvPr>
            <p:cNvSpPr txBox="1"/>
            <p:nvPr/>
          </p:nvSpPr>
          <p:spPr>
            <a:xfrm>
              <a:off x="-2170" y="-64309"/>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Es la </a:t>
              </a:r>
              <a:r>
                <a:rPr lang="en-US" sz="2999" b="1" dirty="0" err="1">
                  <a:solidFill>
                    <a:srgbClr val="000000"/>
                  </a:solidFill>
                  <a:latin typeface="TT Chocolates"/>
                  <a:ea typeface="TT Chocolates"/>
                  <a:cs typeface="TT Chocolates"/>
                  <a:sym typeface="TT Chocolates"/>
                </a:rPr>
                <a:t>estandarización</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servicios</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actividades</a:t>
              </a:r>
              <a:r>
                <a:rPr lang="en-US" sz="2999" b="1" dirty="0">
                  <a:solidFill>
                    <a:srgbClr val="000000"/>
                  </a:solidFill>
                  <a:latin typeface="TT Chocolates"/>
                  <a:ea typeface="TT Chocolates"/>
                  <a:cs typeface="TT Chocolates"/>
                  <a:sym typeface="TT Chocolates"/>
                </a:rPr>
                <a:t> bajo </a:t>
              </a:r>
              <a:r>
                <a:rPr lang="en-US" sz="2999" b="1" dirty="0" err="1">
                  <a:solidFill>
                    <a:srgbClr val="000000"/>
                  </a:solidFill>
                  <a:latin typeface="TT Chocolates"/>
                  <a:ea typeface="TT Chocolates"/>
                  <a:cs typeface="TT Chocolates"/>
                  <a:sym typeface="TT Chocolates"/>
                </a:rPr>
                <a:t>moldes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óptimos</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trabajo</a:t>
              </a:r>
              <a:endParaRPr lang="en-US" sz="2999" b="1" dirty="0">
                <a:solidFill>
                  <a:srgbClr val="000000"/>
                </a:solidFill>
                <a:latin typeface="TT Chocolates"/>
                <a:ea typeface="TT Chocolates"/>
                <a:cs typeface="TT Chocolates"/>
                <a:sym typeface="TT Chocolates"/>
              </a:endParaRPr>
            </a:p>
          </p:txBody>
        </p:sp>
      </p:grpSp>
      <p:grpSp>
        <p:nvGrpSpPr>
          <p:cNvPr id="10" name="Group 10">
            <a:extLst>
              <a:ext uri="{FF2B5EF4-FFF2-40B4-BE49-F238E27FC236}">
                <a16:creationId xmlns:a16="http://schemas.microsoft.com/office/drawing/2014/main" id="{5D5258AB-9F37-F27B-A7AA-1A82537F195F}"/>
              </a:ext>
            </a:extLst>
          </p:cNvPr>
          <p:cNvGrpSpPr/>
          <p:nvPr/>
        </p:nvGrpSpPr>
        <p:grpSpPr>
          <a:xfrm>
            <a:off x="10498579" y="2443653"/>
            <a:ext cx="5639945" cy="1705737"/>
            <a:chOff x="0" y="0"/>
            <a:chExt cx="1485418" cy="449248"/>
          </a:xfrm>
        </p:grpSpPr>
        <p:sp>
          <p:nvSpPr>
            <p:cNvPr id="11" name="Freeform 11">
              <a:extLst>
                <a:ext uri="{FF2B5EF4-FFF2-40B4-BE49-F238E27FC236}">
                  <a16:creationId xmlns:a16="http://schemas.microsoft.com/office/drawing/2014/main" id="{F5199FAE-2859-A3ED-459D-49FB0FF44D8C}"/>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2" name="TextBox 12">
              <a:extLst>
                <a:ext uri="{FF2B5EF4-FFF2-40B4-BE49-F238E27FC236}">
                  <a16:creationId xmlns:a16="http://schemas.microsoft.com/office/drawing/2014/main" id="{D7072F82-6381-1921-26EC-73824FA84E55}"/>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Busca</a:t>
              </a:r>
              <a:r>
                <a:rPr lang="en-US" sz="2999" b="1" dirty="0">
                  <a:solidFill>
                    <a:srgbClr val="000000"/>
                  </a:solidFill>
                  <a:latin typeface="TT Chocolates"/>
                  <a:ea typeface="TT Chocolates"/>
                  <a:cs typeface="TT Chocolates"/>
                  <a:sym typeface="TT Chocolates"/>
                </a:rPr>
                <a:t> la forma </a:t>
              </a:r>
              <a:r>
                <a:rPr lang="en-US" sz="2999" b="1" dirty="0" err="1">
                  <a:solidFill>
                    <a:srgbClr val="000000"/>
                  </a:solidFill>
                  <a:latin typeface="TT Chocolates"/>
                  <a:ea typeface="TT Chocolates"/>
                  <a:cs typeface="TT Chocolates"/>
                  <a:sym typeface="TT Chocolates"/>
                </a:rPr>
                <a:t>más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segura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fácil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barata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fiable</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garantizar</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calidad</a:t>
              </a:r>
              <a:r>
                <a:rPr lang="en-US" sz="2999" b="1" dirty="0">
                  <a:solidFill>
                    <a:srgbClr val="000000"/>
                  </a:solidFill>
                  <a:latin typeface="TT Chocolates"/>
                  <a:ea typeface="TT Chocolates"/>
                  <a:cs typeface="TT Chocolates"/>
                  <a:sym typeface="TT Chocolates"/>
                </a:rPr>
                <a:t>.</a:t>
              </a:r>
            </a:p>
          </p:txBody>
        </p:sp>
      </p:grpSp>
      <p:grpSp>
        <p:nvGrpSpPr>
          <p:cNvPr id="13" name="Group 13">
            <a:extLst>
              <a:ext uri="{FF2B5EF4-FFF2-40B4-BE49-F238E27FC236}">
                <a16:creationId xmlns:a16="http://schemas.microsoft.com/office/drawing/2014/main" id="{BE30597D-EB95-7A14-0C48-2E187493C485}"/>
              </a:ext>
            </a:extLst>
          </p:cNvPr>
          <p:cNvGrpSpPr/>
          <p:nvPr/>
        </p:nvGrpSpPr>
        <p:grpSpPr>
          <a:xfrm>
            <a:off x="10498578" y="6058120"/>
            <a:ext cx="5639945" cy="1705737"/>
            <a:chOff x="0" y="0"/>
            <a:chExt cx="1485418" cy="449248"/>
          </a:xfrm>
        </p:grpSpPr>
        <p:sp>
          <p:nvSpPr>
            <p:cNvPr id="14" name="Freeform 14">
              <a:extLst>
                <a:ext uri="{FF2B5EF4-FFF2-40B4-BE49-F238E27FC236}">
                  <a16:creationId xmlns:a16="http://schemas.microsoft.com/office/drawing/2014/main" id="{9BD20C27-A96E-F184-5AA7-04375539CBA5}"/>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5" name="TextBox 15">
              <a:extLst>
                <a:ext uri="{FF2B5EF4-FFF2-40B4-BE49-F238E27FC236}">
                  <a16:creationId xmlns:a16="http://schemas.microsoft.com/office/drawing/2014/main" id="{3ABA29F4-C37A-0081-F235-4C2C430D3CC0}"/>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err="1">
                  <a:solidFill>
                    <a:srgbClr val="000000"/>
                  </a:solidFill>
                  <a:latin typeface="TT Chocolates"/>
                  <a:ea typeface="TT Chocolates"/>
                  <a:cs typeface="TT Chocolates"/>
                  <a:sym typeface="TT Chocolates"/>
                </a:rPr>
                <a:t>Armoniza</a:t>
              </a:r>
              <a:r>
                <a:rPr lang="en-US" sz="2999" b="1" dirty="0">
                  <a:solidFill>
                    <a:srgbClr val="000000"/>
                  </a:solidFill>
                  <a:latin typeface="TT Chocolates"/>
                  <a:ea typeface="TT Chocolates"/>
                  <a:cs typeface="TT Chocolates"/>
                  <a:sym typeface="TT Chocolates"/>
                </a:rPr>
                <a:t> la </a:t>
              </a:r>
              <a:r>
                <a:rPr lang="en-US" sz="2999" b="1" dirty="0" err="1">
                  <a:solidFill>
                    <a:srgbClr val="000000"/>
                  </a:solidFill>
                  <a:latin typeface="TT Chocolates"/>
                  <a:ea typeface="TT Chocolates"/>
                  <a:cs typeface="TT Chocolates"/>
                  <a:sym typeface="TT Chocolates"/>
                </a:rPr>
                <a:t>máquina</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método</a:t>
              </a:r>
              <a:r>
                <a:rPr lang="en-US" sz="2999" b="1" dirty="0">
                  <a:solidFill>
                    <a:srgbClr val="000000"/>
                  </a:solidFill>
                  <a:latin typeface="TT Chocolates"/>
                  <a:ea typeface="TT Chocolates"/>
                  <a:cs typeface="TT Chocolates"/>
                  <a:sym typeface="TT Chocolates"/>
                </a:rPr>
                <a:t>, la mano de </a:t>
              </a:r>
              <a:r>
                <a:rPr lang="en-US" sz="2999" b="1" dirty="0" err="1">
                  <a:solidFill>
                    <a:srgbClr val="000000"/>
                  </a:solidFill>
                  <a:latin typeface="TT Chocolates"/>
                  <a:ea typeface="TT Chocolates"/>
                  <a:cs typeface="TT Chocolates"/>
                  <a:sym typeface="TT Chocolates"/>
                </a:rPr>
                <a:t>obra</a:t>
              </a:r>
              <a:r>
                <a:rPr lang="en-US" sz="2999" b="1" dirty="0">
                  <a:solidFill>
                    <a:srgbClr val="000000"/>
                  </a:solidFill>
                  <a:latin typeface="TT Chocolates"/>
                  <a:ea typeface="TT Chocolates"/>
                  <a:cs typeface="TT Chocolates"/>
                  <a:sym typeface="TT Chocolates"/>
                </a:rPr>
                <a:t> y </a:t>
              </a:r>
              <a:r>
                <a:rPr lang="en-US" sz="2999" b="1" dirty="0" err="1">
                  <a:solidFill>
                    <a:srgbClr val="000000"/>
                  </a:solidFill>
                  <a:latin typeface="TT Chocolates"/>
                  <a:ea typeface="TT Chocolates"/>
                  <a:cs typeface="TT Chocolates"/>
                  <a:sym typeface="TT Chocolates"/>
                </a:rPr>
                <a:t>el</a:t>
              </a:r>
              <a:r>
                <a:rPr lang="en-US" sz="2999" b="1" dirty="0">
                  <a:solidFill>
                    <a:srgbClr val="000000"/>
                  </a:solidFill>
                  <a:latin typeface="TT Chocolates"/>
                  <a:ea typeface="TT Chocolates"/>
                  <a:cs typeface="TT Chocolates"/>
                  <a:sym typeface="TT Chocolates"/>
                </a:rPr>
                <a:t> material </a:t>
              </a:r>
              <a:r>
                <a:rPr lang="en-US" sz="2999" b="1" dirty="0" err="1">
                  <a:solidFill>
                    <a:srgbClr val="000000"/>
                  </a:solidFill>
                  <a:latin typeface="TT Chocolates"/>
                  <a:ea typeface="TT Chocolates"/>
                  <a:cs typeface="TT Chocolates"/>
                  <a:sym typeface="TT Chocolates"/>
                </a:rPr>
                <a:t>en</a:t>
              </a:r>
              <a:r>
                <a:rPr lang="en-US" sz="2999" b="1" dirty="0">
                  <a:solidFill>
                    <a:srgbClr val="000000"/>
                  </a:solidFill>
                  <a:latin typeface="TT Chocolates"/>
                  <a:ea typeface="TT Chocolates"/>
                  <a:cs typeface="TT Chocolates"/>
                  <a:sym typeface="TT Chocolates"/>
                </a:rPr>
                <a:t> un </a:t>
              </a:r>
              <a:r>
                <a:rPr lang="en-US" sz="2999" b="1" dirty="0" err="1">
                  <a:solidFill>
                    <a:srgbClr val="000000"/>
                  </a:solidFill>
                  <a:latin typeface="TT Chocolates"/>
                  <a:ea typeface="TT Chocolates"/>
                  <a:cs typeface="TT Chocolates"/>
                  <a:sym typeface="TT Chocolates"/>
                </a:rPr>
                <a:t>sistema</a:t>
              </a:r>
              <a:r>
                <a:rPr lang="en-US" sz="2999" b="1" dirty="0">
                  <a:solidFill>
                    <a:srgbClr val="000000"/>
                  </a:solidFill>
                  <a:latin typeface="TT Chocolates"/>
                  <a:ea typeface="TT Chocolates"/>
                  <a:cs typeface="TT Chocolates"/>
                  <a:sym typeface="TT Chocolates"/>
                </a:rPr>
                <a:t> de </a:t>
              </a:r>
              <a:r>
                <a:rPr lang="en-US" sz="2999" b="1" dirty="0" err="1">
                  <a:solidFill>
                    <a:srgbClr val="000000"/>
                  </a:solidFill>
                  <a:latin typeface="TT Chocolates"/>
                  <a:ea typeface="TT Chocolates"/>
                  <a:cs typeface="TT Chocolates"/>
                  <a:sym typeface="TT Chocolates"/>
                </a:rPr>
                <a:t>producción</a:t>
              </a:r>
              <a:r>
                <a:rPr lang="en-US" sz="2999" b="1" dirty="0">
                  <a:solidFill>
                    <a:srgbClr val="000000"/>
                  </a:solidFill>
                  <a:latin typeface="TT Chocolates"/>
                  <a:ea typeface="TT Chocolates"/>
                  <a:cs typeface="TT Chocolates"/>
                  <a:sym typeface="TT Chocolates"/>
                </a:rPr>
                <a:t>.</a:t>
              </a:r>
            </a:p>
          </p:txBody>
        </p:sp>
      </p:grpSp>
      <p:grpSp>
        <p:nvGrpSpPr>
          <p:cNvPr id="16" name="Group 16">
            <a:extLst>
              <a:ext uri="{FF2B5EF4-FFF2-40B4-BE49-F238E27FC236}">
                <a16:creationId xmlns:a16="http://schemas.microsoft.com/office/drawing/2014/main" id="{A3B7ECBF-1FB4-C85E-3108-4AA96CFFCAD8}"/>
              </a:ext>
            </a:extLst>
          </p:cNvPr>
          <p:cNvGrpSpPr/>
          <p:nvPr/>
        </p:nvGrpSpPr>
        <p:grpSpPr>
          <a:xfrm>
            <a:off x="1811850" y="6058121"/>
            <a:ext cx="5639945" cy="1705737"/>
            <a:chOff x="0" y="0"/>
            <a:chExt cx="1485418" cy="449248"/>
          </a:xfrm>
        </p:grpSpPr>
        <p:sp>
          <p:nvSpPr>
            <p:cNvPr id="17" name="Freeform 17">
              <a:extLst>
                <a:ext uri="{FF2B5EF4-FFF2-40B4-BE49-F238E27FC236}">
                  <a16:creationId xmlns:a16="http://schemas.microsoft.com/office/drawing/2014/main" id="{220B0D61-BB02-D352-9A44-7AFF28F6869C}"/>
                </a:ext>
              </a:extLst>
            </p:cNvPr>
            <p:cNvSpPr/>
            <p:nvPr/>
          </p:nvSpPr>
          <p:spPr>
            <a:xfrm>
              <a:off x="0" y="0"/>
              <a:ext cx="1485418" cy="449248"/>
            </a:xfrm>
            <a:custGeom>
              <a:avLst/>
              <a:gdLst/>
              <a:ahLst/>
              <a:cxnLst/>
              <a:rect l="l" t="t" r="r" b="b"/>
              <a:pathLst>
                <a:path w="1485418" h="449248">
                  <a:moveTo>
                    <a:pt x="1282218" y="0"/>
                  </a:moveTo>
                  <a:cubicBezTo>
                    <a:pt x="1394442" y="0"/>
                    <a:pt x="1485418" y="100567"/>
                    <a:pt x="1485418" y="224624"/>
                  </a:cubicBezTo>
                  <a:cubicBezTo>
                    <a:pt x="1485418" y="348680"/>
                    <a:pt x="1394442" y="449248"/>
                    <a:pt x="1282218" y="449248"/>
                  </a:cubicBezTo>
                  <a:lnTo>
                    <a:pt x="203200" y="449248"/>
                  </a:lnTo>
                  <a:cubicBezTo>
                    <a:pt x="90976" y="449248"/>
                    <a:pt x="0" y="348680"/>
                    <a:pt x="0" y="224624"/>
                  </a:cubicBezTo>
                  <a:cubicBezTo>
                    <a:pt x="0" y="100567"/>
                    <a:pt x="90976" y="0"/>
                    <a:pt x="203200" y="0"/>
                  </a:cubicBezTo>
                  <a:close/>
                </a:path>
              </a:pathLst>
            </a:custGeom>
            <a:solidFill>
              <a:srgbClr val="C1FF72"/>
            </a:solidFill>
          </p:spPr>
          <p:txBody>
            <a:bodyPr/>
            <a:lstStyle/>
            <a:p>
              <a:endParaRPr lang="es-BO"/>
            </a:p>
          </p:txBody>
        </p:sp>
        <p:sp>
          <p:nvSpPr>
            <p:cNvPr id="18" name="TextBox 18">
              <a:extLst>
                <a:ext uri="{FF2B5EF4-FFF2-40B4-BE49-F238E27FC236}">
                  <a16:creationId xmlns:a16="http://schemas.microsoft.com/office/drawing/2014/main" id="{D1FB612E-5472-0144-441A-91BD7992B52D}"/>
                </a:ext>
              </a:extLst>
            </p:cNvPr>
            <p:cNvSpPr txBox="1"/>
            <p:nvPr/>
          </p:nvSpPr>
          <p:spPr>
            <a:xfrm>
              <a:off x="0" y="-66675"/>
              <a:ext cx="1485418" cy="515923"/>
            </a:xfrm>
            <a:prstGeom prst="rect">
              <a:avLst/>
            </a:prstGeom>
          </p:spPr>
          <p:txBody>
            <a:bodyPr lIns="50800" tIns="50800" rIns="50800" bIns="50800" rtlCol="0" anchor="ctr"/>
            <a:lstStyle/>
            <a:p>
              <a:pPr algn="ctr">
                <a:lnSpc>
                  <a:spcPts val="4199"/>
                </a:lnSpc>
              </a:pPr>
              <a:r>
                <a:rPr lang="en-US" sz="2999" b="1" dirty="0">
                  <a:solidFill>
                    <a:srgbClr val="000000"/>
                  </a:solidFill>
                  <a:latin typeface="TT Chocolates"/>
                  <a:ea typeface="TT Chocolates"/>
                  <a:cs typeface="TT Chocolates"/>
                  <a:sym typeface="TT Chocolates"/>
                </a:rPr>
                <a:t>Abarca tanto </a:t>
              </a:r>
              <a:r>
                <a:rPr lang="en-US" sz="2999" b="1" dirty="0" err="1">
                  <a:solidFill>
                    <a:srgbClr val="000000"/>
                  </a:solidFill>
                  <a:latin typeface="TT Chocolates"/>
                  <a:ea typeface="TT Chocolates"/>
                  <a:cs typeface="TT Chocolates"/>
                  <a:sym typeface="TT Chocolates"/>
                </a:rPr>
                <a:t>normas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técnicas</a:t>
              </a:r>
              <a:r>
                <a:rPr lang="en-US" sz="2999" b="1" dirty="0">
                  <a:solidFill>
                    <a:srgbClr val="000000"/>
                  </a:solidFill>
                  <a:latin typeface="TT Chocolates"/>
                  <a:ea typeface="TT Chocolates"/>
                  <a:cs typeface="TT Chocolates"/>
                  <a:sym typeface="TT Chocolates"/>
                </a:rPr>
                <a:t> del </a:t>
              </a:r>
              <a:r>
                <a:rPr lang="en-US" sz="2999" b="1" dirty="0" err="1">
                  <a:solidFill>
                    <a:srgbClr val="000000"/>
                  </a:solidFill>
                  <a:latin typeface="TT Chocolates"/>
                  <a:ea typeface="TT Chocolates"/>
                  <a:cs typeface="TT Chocolates"/>
                  <a:sym typeface="TT Chocolates"/>
                </a:rPr>
                <a:t>producto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como</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procedimientos</a:t>
              </a:r>
              <a:r>
                <a:rPr lang="en-US" sz="2999" b="1" dirty="0">
                  <a:solidFill>
                    <a:srgbClr val="000000"/>
                  </a:solidFill>
                  <a:latin typeface="TT Chocolates"/>
                  <a:ea typeface="TT Chocolates"/>
                  <a:cs typeface="TT Chocolates"/>
                  <a:sym typeface="TT Chocolates"/>
                </a:rPr>
                <a:t> </a:t>
              </a:r>
              <a:r>
                <a:rPr lang="en-US" sz="2999" b="1" dirty="0" err="1">
                  <a:solidFill>
                    <a:srgbClr val="000000"/>
                  </a:solidFill>
                  <a:latin typeface="TT Chocolates"/>
                  <a:ea typeface="TT Chocolates"/>
                  <a:cs typeface="TT Chocolates"/>
                  <a:sym typeface="TT Chocolates"/>
                </a:rPr>
                <a:t>operativos</a:t>
              </a:r>
              <a:r>
                <a:rPr lang="en-US" sz="2999" b="1" dirty="0">
                  <a:solidFill>
                    <a:srgbClr val="000000"/>
                  </a:solidFill>
                  <a:latin typeface="TT Chocolates"/>
                  <a:ea typeface="TT Chocolates"/>
                  <a:cs typeface="TT Chocolates"/>
                  <a:sym typeface="TT Chocolates"/>
                </a:rPr>
                <a:t>.</a:t>
              </a:r>
            </a:p>
          </p:txBody>
        </p:sp>
      </p:grpSp>
    </p:spTree>
    <p:extLst>
      <p:ext uri="{BB962C8B-B14F-4D97-AF65-F5344CB8AC3E}">
        <p14:creationId xmlns:p14="http://schemas.microsoft.com/office/powerpoint/2010/main" val="213669135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3396903">
            <a:off x="4906058" y="2691767"/>
            <a:ext cx="28814617" cy="11916826"/>
          </a:xfrm>
          <a:custGeom>
            <a:avLst/>
            <a:gdLst/>
            <a:ahLst/>
            <a:cxnLst/>
            <a:rect l="l" t="t" r="r" b="b"/>
            <a:pathLst>
              <a:path w="28814617" h="11916826">
                <a:moveTo>
                  <a:pt x="0" y="0"/>
                </a:moveTo>
                <a:lnTo>
                  <a:pt x="28814616" y="0"/>
                </a:lnTo>
                <a:lnTo>
                  <a:pt x="28814616" y="11916826"/>
                </a:lnTo>
                <a:lnTo>
                  <a:pt x="0" y="119168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rot="-3396903">
            <a:off x="6141142" y="4328587"/>
            <a:ext cx="28814617" cy="11916826"/>
          </a:xfrm>
          <a:custGeom>
            <a:avLst/>
            <a:gdLst/>
            <a:ahLst/>
            <a:cxnLst/>
            <a:rect l="l" t="t" r="r" b="b"/>
            <a:pathLst>
              <a:path w="28814617" h="11916826">
                <a:moveTo>
                  <a:pt x="0" y="0"/>
                </a:moveTo>
                <a:lnTo>
                  <a:pt x="28814617" y="0"/>
                </a:lnTo>
                <a:lnTo>
                  <a:pt x="28814617" y="11916826"/>
                </a:lnTo>
                <a:lnTo>
                  <a:pt x="0" y="119168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grpSp>
        <p:nvGrpSpPr>
          <p:cNvPr id="4" name="Group 4"/>
          <p:cNvGrpSpPr/>
          <p:nvPr/>
        </p:nvGrpSpPr>
        <p:grpSpPr>
          <a:xfrm rot="2700000">
            <a:off x="-4759007" y="394173"/>
            <a:ext cx="9518014" cy="9518014"/>
            <a:chOff x="0" y="0"/>
            <a:chExt cx="12690685" cy="12690685"/>
          </a:xfrm>
        </p:grpSpPr>
        <p:grpSp>
          <p:nvGrpSpPr>
            <p:cNvPr id="5" name="Group 5"/>
            <p:cNvGrpSpPr/>
            <p:nvPr/>
          </p:nvGrpSpPr>
          <p:grpSpPr>
            <a:xfrm rot="5400000">
              <a:off x="6345343" y="0"/>
              <a:ext cx="6345343" cy="6345343"/>
              <a:chOff x="0" y="0"/>
              <a:chExt cx="558800" cy="558800"/>
            </a:xfrm>
          </p:grpSpPr>
          <p:sp>
            <p:nvSpPr>
              <p:cNvPr id="6" name="Freeform 6"/>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p:spPr>
            <p:style>
              <a:lnRef idx="2">
                <a:schemeClr val="accent3">
                  <a:shade val="15000"/>
                </a:schemeClr>
              </a:lnRef>
              <a:fillRef idx="1">
                <a:schemeClr val="accent3"/>
              </a:fillRef>
              <a:effectRef idx="0">
                <a:schemeClr val="accent3"/>
              </a:effectRef>
              <a:fontRef idx="minor">
                <a:schemeClr val="lt1"/>
              </a:fontRef>
            </p:style>
            <p:txBody>
              <a:bodyPr/>
              <a:lstStyle/>
              <a:p>
                <a:endParaRPr lang="es-BO"/>
              </a:p>
            </p:txBody>
          </p:sp>
          <p:sp>
            <p:nvSpPr>
              <p:cNvPr id="7" name="TextBox 7"/>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rot="-10800000">
              <a:off x="6345343" y="6345343"/>
              <a:ext cx="6345343" cy="6345343"/>
              <a:chOff x="0" y="0"/>
              <a:chExt cx="558800" cy="558800"/>
            </a:xfrm>
          </p:grpSpPr>
          <p:sp>
            <p:nvSpPr>
              <p:cNvPr id="9" name="Freeform 9"/>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C1FF72"/>
              </a:solidFill>
            </p:spPr>
            <p:txBody>
              <a:bodyPr/>
              <a:lstStyle/>
              <a:p>
                <a:endParaRPr lang="es-BO"/>
              </a:p>
            </p:txBody>
          </p:sp>
          <p:sp>
            <p:nvSpPr>
              <p:cNvPr id="10" name="TextBox 10"/>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rot="-5400000">
              <a:off x="0" y="6345343"/>
              <a:ext cx="6345343" cy="6345343"/>
              <a:chOff x="0" y="0"/>
              <a:chExt cx="558800" cy="558800"/>
            </a:xfrm>
          </p:grpSpPr>
          <p:sp>
            <p:nvSpPr>
              <p:cNvPr id="12" name="Freeform 12"/>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C1FF72"/>
              </a:solidFill>
            </p:spPr>
            <p:txBody>
              <a:bodyPr/>
              <a:lstStyle/>
              <a:p>
                <a:endParaRPr lang="es-BO"/>
              </a:p>
            </p:txBody>
          </p:sp>
          <p:sp>
            <p:nvSpPr>
              <p:cNvPr id="13" name="TextBox 13"/>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0" y="0"/>
              <a:ext cx="6345343" cy="6345343"/>
              <a:chOff x="0" y="0"/>
              <a:chExt cx="558800" cy="558800"/>
            </a:xfrm>
          </p:grpSpPr>
          <p:sp>
            <p:nvSpPr>
              <p:cNvPr id="15" name="Freeform 15"/>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C1FF72"/>
              </a:solidFill>
            </p:spPr>
            <p:txBody>
              <a:bodyPr/>
              <a:lstStyle/>
              <a:p>
                <a:endParaRPr lang="es-BO"/>
              </a:p>
            </p:txBody>
          </p:sp>
          <p:sp>
            <p:nvSpPr>
              <p:cNvPr id="16" name="TextBox 16"/>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sp>
        <p:nvSpPr>
          <p:cNvPr id="17" name="Freeform 17"/>
          <p:cNvSpPr/>
          <p:nvPr/>
        </p:nvSpPr>
        <p:spPr>
          <a:xfrm>
            <a:off x="2263735" y="4112066"/>
            <a:ext cx="2587997" cy="2044518"/>
          </a:xfrm>
          <a:custGeom>
            <a:avLst/>
            <a:gdLst/>
            <a:ahLst/>
            <a:cxnLst/>
            <a:rect l="l" t="t" r="r" b="b"/>
            <a:pathLst>
              <a:path w="2587997" h="2044518">
                <a:moveTo>
                  <a:pt x="0" y="0"/>
                </a:moveTo>
                <a:lnTo>
                  <a:pt x="2587997" y="0"/>
                </a:lnTo>
                <a:lnTo>
                  <a:pt x="2587997" y="2044518"/>
                </a:lnTo>
                <a:lnTo>
                  <a:pt x="0" y="2044518"/>
                </a:lnTo>
                <a:lnTo>
                  <a:pt x="0" y="0"/>
                </a:lnTo>
                <a:close/>
              </a:path>
            </a:pathLst>
          </a:custGeom>
          <a:blipFill>
            <a:blip r:embed="rId4"/>
            <a:stretch>
              <a:fillRect/>
            </a:stretch>
          </a:blipFill>
        </p:spPr>
        <p:txBody>
          <a:bodyPr/>
          <a:lstStyle/>
          <a:p>
            <a:endParaRPr lang="es-BO"/>
          </a:p>
        </p:txBody>
      </p:sp>
      <p:sp>
        <p:nvSpPr>
          <p:cNvPr id="18" name="TextBox 18"/>
          <p:cNvSpPr txBox="1"/>
          <p:nvPr/>
        </p:nvSpPr>
        <p:spPr>
          <a:xfrm>
            <a:off x="7645436" y="581977"/>
            <a:ext cx="8127812" cy="941070"/>
          </a:xfrm>
          <a:prstGeom prst="rect">
            <a:avLst/>
          </a:prstGeom>
        </p:spPr>
        <p:txBody>
          <a:bodyPr lIns="0" tIns="0" rIns="0" bIns="0" rtlCol="0" anchor="t">
            <a:spAutoFit/>
          </a:bodyPr>
          <a:lstStyle/>
          <a:p>
            <a:pPr algn="l">
              <a:lnSpc>
                <a:spcPts val="7215"/>
              </a:lnSpc>
            </a:pPr>
            <a:r>
              <a:rPr lang="en-US" sz="6500" b="1" spc="130">
                <a:solidFill>
                  <a:srgbClr val="C1FF72"/>
                </a:solidFill>
                <a:latin typeface="TT Chocolates Bold"/>
                <a:ea typeface="TT Chocolates Bold"/>
                <a:cs typeface="TT Chocolates Bold"/>
                <a:sym typeface="TT Chocolates Bold"/>
              </a:rPr>
              <a:t>Ventajas Generales</a:t>
            </a:r>
          </a:p>
        </p:txBody>
      </p:sp>
      <p:sp>
        <p:nvSpPr>
          <p:cNvPr id="19" name="TextBox 19"/>
          <p:cNvSpPr txBox="1"/>
          <p:nvPr/>
        </p:nvSpPr>
        <p:spPr>
          <a:xfrm>
            <a:off x="7868272" y="4686890"/>
            <a:ext cx="6158257" cy="3601580"/>
          </a:xfrm>
          <a:prstGeom prst="rect">
            <a:avLst/>
          </a:prstGeom>
        </p:spPr>
        <p:txBody>
          <a:bodyPr lIns="0" tIns="0" rIns="0" bIns="0" rtlCol="0" anchor="t">
            <a:spAutoFit/>
          </a:bodyPr>
          <a:lstStyle/>
          <a:p>
            <a:pPr algn="ctr">
              <a:lnSpc>
                <a:spcPts val="5712"/>
              </a:lnSpc>
            </a:pPr>
            <a:r>
              <a:rPr lang="en-US" sz="4080" b="1">
                <a:solidFill>
                  <a:srgbClr val="C1FF72"/>
                </a:solidFill>
                <a:latin typeface="Canva Sans Bold"/>
                <a:ea typeface="Canva Sans Bold"/>
                <a:cs typeface="Canva Sans Bold"/>
                <a:sym typeface="Canva Sans Bold"/>
              </a:rPr>
              <a:t>Racionaliza variedades, disminuye existencias en almacén y mejora el diseño.</a:t>
            </a:r>
          </a:p>
          <a:p>
            <a:pPr algn="ctr">
              <a:lnSpc>
                <a:spcPts val="5712"/>
              </a:lnSpc>
            </a:pPr>
            <a:endParaRPr lang="en-US" sz="4080" b="1">
              <a:solidFill>
                <a:srgbClr val="C1FF72"/>
              </a:solidFill>
              <a:latin typeface="Canva Sans Bold"/>
              <a:ea typeface="Canva Sans Bold"/>
              <a:cs typeface="Canva Sans Bold"/>
              <a:sym typeface="Canva Sans Bold"/>
            </a:endParaRPr>
          </a:p>
        </p:txBody>
      </p:sp>
      <p:sp>
        <p:nvSpPr>
          <p:cNvPr id="20" name="TextBox 20"/>
          <p:cNvSpPr txBox="1"/>
          <p:nvPr/>
        </p:nvSpPr>
        <p:spPr>
          <a:xfrm>
            <a:off x="5361856" y="2913396"/>
            <a:ext cx="7012541" cy="868680"/>
          </a:xfrm>
          <a:prstGeom prst="rect">
            <a:avLst/>
          </a:prstGeom>
        </p:spPr>
        <p:txBody>
          <a:bodyPr lIns="0" tIns="0" rIns="0" bIns="0" rtlCol="0" anchor="t">
            <a:spAutoFit/>
          </a:bodyPr>
          <a:lstStyle/>
          <a:p>
            <a:pPr algn="l">
              <a:lnSpc>
                <a:spcPts val="6660"/>
              </a:lnSpc>
            </a:pPr>
            <a:r>
              <a:rPr lang="en-US" sz="6000" spc="120">
                <a:solidFill>
                  <a:srgbClr val="C1FF72"/>
                </a:solidFill>
                <a:latin typeface="TT Chocolates"/>
                <a:ea typeface="TT Chocolates"/>
                <a:cs typeface="TT Chocolates"/>
                <a:sym typeface="TT Chocolates"/>
              </a:rPr>
              <a:t>Para Fabricantes:</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3396903">
            <a:off x="4906058" y="2691767"/>
            <a:ext cx="28814617" cy="11916826"/>
          </a:xfrm>
          <a:custGeom>
            <a:avLst/>
            <a:gdLst/>
            <a:ahLst/>
            <a:cxnLst/>
            <a:rect l="l" t="t" r="r" b="b"/>
            <a:pathLst>
              <a:path w="28814617" h="11916826">
                <a:moveTo>
                  <a:pt x="0" y="0"/>
                </a:moveTo>
                <a:lnTo>
                  <a:pt x="28814616" y="0"/>
                </a:lnTo>
                <a:lnTo>
                  <a:pt x="28814616" y="11916826"/>
                </a:lnTo>
                <a:lnTo>
                  <a:pt x="0" y="119168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rot="-3396903">
            <a:off x="6141142" y="4328587"/>
            <a:ext cx="28814617" cy="11916826"/>
          </a:xfrm>
          <a:custGeom>
            <a:avLst/>
            <a:gdLst/>
            <a:ahLst/>
            <a:cxnLst/>
            <a:rect l="l" t="t" r="r" b="b"/>
            <a:pathLst>
              <a:path w="28814617" h="11916826">
                <a:moveTo>
                  <a:pt x="0" y="0"/>
                </a:moveTo>
                <a:lnTo>
                  <a:pt x="28814617" y="0"/>
                </a:lnTo>
                <a:lnTo>
                  <a:pt x="28814617" y="11916826"/>
                </a:lnTo>
                <a:lnTo>
                  <a:pt x="0" y="119168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grpSp>
        <p:nvGrpSpPr>
          <p:cNvPr id="4" name="Group 4"/>
          <p:cNvGrpSpPr/>
          <p:nvPr/>
        </p:nvGrpSpPr>
        <p:grpSpPr>
          <a:xfrm rot="8205361">
            <a:off x="-4759007" y="394173"/>
            <a:ext cx="9518014" cy="9518014"/>
            <a:chOff x="0" y="0"/>
            <a:chExt cx="12690685" cy="12690685"/>
          </a:xfrm>
        </p:grpSpPr>
        <p:grpSp>
          <p:nvGrpSpPr>
            <p:cNvPr id="5" name="Group 5"/>
            <p:cNvGrpSpPr/>
            <p:nvPr/>
          </p:nvGrpSpPr>
          <p:grpSpPr>
            <a:xfrm rot="5400000">
              <a:off x="6345343" y="0"/>
              <a:ext cx="6345343" cy="6345343"/>
              <a:chOff x="0" y="0"/>
              <a:chExt cx="558800" cy="558800"/>
            </a:xfrm>
          </p:grpSpPr>
          <p:sp>
            <p:nvSpPr>
              <p:cNvPr id="6" name="Freeform 6"/>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C1FF72"/>
              </a:solidFill>
            </p:spPr>
            <p:txBody>
              <a:bodyPr/>
              <a:lstStyle/>
              <a:p>
                <a:endParaRPr lang="es-BO"/>
              </a:p>
            </p:txBody>
          </p:sp>
          <p:sp>
            <p:nvSpPr>
              <p:cNvPr id="7" name="TextBox 7"/>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rot="-10800000">
              <a:off x="6345343" y="6345343"/>
              <a:ext cx="6345343" cy="6345343"/>
              <a:chOff x="0" y="0"/>
              <a:chExt cx="558800" cy="558800"/>
            </a:xfrm>
          </p:grpSpPr>
          <p:sp>
            <p:nvSpPr>
              <p:cNvPr id="9" name="Freeform 9"/>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C1FF72"/>
              </a:solidFill>
            </p:spPr>
            <p:txBody>
              <a:bodyPr/>
              <a:lstStyle/>
              <a:p>
                <a:endParaRPr lang="es-BO"/>
              </a:p>
            </p:txBody>
          </p:sp>
          <p:sp>
            <p:nvSpPr>
              <p:cNvPr id="10" name="TextBox 10"/>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rot="-5400000">
              <a:off x="0" y="6345343"/>
              <a:ext cx="6345343" cy="6345343"/>
              <a:chOff x="0" y="0"/>
              <a:chExt cx="558800" cy="558800"/>
            </a:xfrm>
          </p:grpSpPr>
          <p:sp>
            <p:nvSpPr>
              <p:cNvPr id="12" name="Freeform 12"/>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C1FF72"/>
              </a:solidFill>
            </p:spPr>
            <p:txBody>
              <a:bodyPr/>
              <a:lstStyle/>
              <a:p>
                <a:endParaRPr lang="es-BO"/>
              </a:p>
            </p:txBody>
          </p:sp>
          <p:sp>
            <p:nvSpPr>
              <p:cNvPr id="13" name="TextBox 13"/>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0" y="0"/>
              <a:ext cx="6345343" cy="6345343"/>
              <a:chOff x="0" y="0"/>
              <a:chExt cx="558800" cy="558800"/>
            </a:xfrm>
          </p:grpSpPr>
          <p:sp>
            <p:nvSpPr>
              <p:cNvPr id="15" name="Freeform 15"/>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p:spPr>
            <p:style>
              <a:lnRef idx="2">
                <a:schemeClr val="accent3">
                  <a:shade val="15000"/>
                </a:schemeClr>
              </a:lnRef>
              <a:fillRef idx="1">
                <a:schemeClr val="accent3"/>
              </a:fillRef>
              <a:effectRef idx="0">
                <a:schemeClr val="accent3"/>
              </a:effectRef>
              <a:fontRef idx="minor">
                <a:schemeClr val="lt1"/>
              </a:fontRef>
            </p:style>
            <p:txBody>
              <a:bodyPr/>
              <a:lstStyle/>
              <a:p>
                <a:endParaRPr lang="es-BO" dirty="0"/>
              </a:p>
            </p:txBody>
          </p:sp>
          <p:sp>
            <p:nvSpPr>
              <p:cNvPr id="16" name="TextBox 16"/>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sp>
        <p:nvSpPr>
          <p:cNvPr id="17" name="Freeform 17"/>
          <p:cNvSpPr/>
          <p:nvPr/>
        </p:nvSpPr>
        <p:spPr>
          <a:xfrm>
            <a:off x="2143313" y="4591106"/>
            <a:ext cx="2804420" cy="1577486"/>
          </a:xfrm>
          <a:custGeom>
            <a:avLst/>
            <a:gdLst/>
            <a:ahLst/>
            <a:cxnLst/>
            <a:rect l="l" t="t" r="r" b="b"/>
            <a:pathLst>
              <a:path w="2804420" h="1577486">
                <a:moveTo>
                  <a:pt x="0" y="0"/>
                </a:moveTo>
                <a:lnTo>
                  <a:pt x="2804420" y="0"/>
                </a:lnTo>
                <a:lnTo>
                  <a:pt x="2804420" y="1577487"/>
                </a:lnTo>
                <a:lnTo>
                  <a:pt x="0" y="1577487"/>
                </a:lnTo>
                <a:lnTo>
                  <a:pt x="0" y="0"/>
                </a:lnTo>
                <a:close/>
              </a:path>
            </a:pathLst>
          </a:custGeom>
          <a:blipFill>
            <a:blip r:embed="rId4"/>
            <a:stretch>
              <a:fillRect/>
            </a:stretch>
          </a:blipFill>
        </p:spPr>
        <p:txBody>
          <a:bodyPr/>
          <a:lstStyle/>
          <a:p>
            <a:endParaRPr lang="es-BO"/>
          </a:p>
        </p:txBody>
      </p:sp>
      <p:sp>
        <p:nvSpPr>
          <p:cNvPr id="18" name="TextBox 18"/>
          <p:cNvSpPr txBox="1"/>
          <p:nvPr/>
        </p:nvSpPr>
        <p:spPr>
          <a:xfrm>
            <a:off x="7645436" y="581977"/>
            <a:ext cx="8127812" cy="941070"/>
          </a:xfrm>
          <a:prstGeom prst="rect">
            <a:avLst/>
          </a:prstGeom>
        </p:spPr>
        <p:txBody>
          <a:bodyPr lIns="0" tIns="0" rIns="0" bIns="0" rtlCol="0" anchor="t">
            <a:spAutoFit/>
          </a:bodyPr>
          <a:lstStyle/>
          <a:p>
            <a:pPr algn="l">
              <a:lnSpc>
                <a:spcPts val="7215"/>
              </a:lnSpc>
            </a:pPr>
            <a:r>
              <a:rPr lang="en-US" sz="6500" b="1" spc="130">
                <a:solidFill>
                  <a:srgbClr val="C1FF72"/>
                </a:solidFill>
                <a:latin typeface="TT Chocolates Bold"/>
                <a:ea typeface="TT Chocolates Bold"/>
                <a:cs typeface="TT Chocolates Bold"/>
                <a:sym typeface="TT Chocolates Bold"/>
              </a:rPr>
              <a:t>Ventajas Generales</a:t>
            </a:r>
          </a:p>
        </p:txBody>
      </p:sp>
      <p:sp>
        <p:nvSpPr>
          <p:cNvPr id="19" name="TextBox 19"/>
          <p:cNvSpPr txBox="1"/>
          <p:nvPr/>
        </p:nvSpPr>
        <p:spPr>
          <a:xfrm>
            <a:off x="7868272" y="4686890"/>
            <a:ext cx="6158257" cy="2877680"/>
          </a:xfrm>
          <a:prstGeom prst="rect">
            <a:avLst/>
          </a:prstGeom>
        </p:spPr>
        <p:txBody>
          <a:bodyPr lIns="0" tIns="0" rIns="0" bIns="0" rtlCol="0" anchor="t">
            <a:spAutoFit/>
          </a:bodyPr>
          <a:lstStyle/>
          <a:p>
            <a:pPr algn="ctr">
              <a:lnSpc>
                <a:spcPts val="5712"/>
              </a:lnSpc>
            </a:pPr>
            <a:r>
              <a:rPr lang="en-US" sz="4080" b="1">
                <a:solidFill>
                  <a:srgbClr val="C1FF72"/>
                </a:solidFill>
                <a:latin typeface="Canva Sans Bold"/>
                <a:ea typeface="Canva Sans Bold"/>
                <a:cs typeface="Canva Sans Bold"/>
                <a:sym typeface="Canva Sans Bold"/>
              </a:rPr>
              <a:t>Establece niveles de calidad y seguridad, facilitando la comparación de ofertas</a:t>
            </a:r>
          </a:p>
        </p:txBody>
      </p:sp>
      <p:sp>
        <p:nvSpPr>
          <p:cNvPr id="20" name="TextBox 20"/>
          <p:cNvSpPr txBox="1"/>
          <p:nvPr/>
        </p:nvSpPr>
        <p:spPr>
          <a:xfrm>
            <a:off x="5361856" y="2913396"/>
            <a:ext cx="7012541" cy="868680"/>
          </a:xfrm>
          <a:prstGeom prst="rect">
            <a:avLst/>
          </a:prstGeom>
        </p:spPr>
        <p:txBody>
          <a:bodyPr lIns="0" tIns="0" rIns="0" bIns="0" rtlCol="0" anchor="t">
            <a:spAutoFit/>
          </a:bodyPr>
          <a:lstStyle/>
          <a:p>
            <a:pPr algn="l">
              <a:lnSpc>
                <a:spcPts val="6660"/>
              </a:lnSpc>
            </a:pPr>
            <a:r>
              <a:rPr lang="en-US" sz="6000" spc="120">
                <a:solidFill>
                  <a:srgbClr val="C1FF72"/>
                </a:solidFill>
                <a:latin typeface="TT Chocolates"/>
                <a:ea typeface="TT Chocolates"/>
                <a:cs typeface="TT Chocolates"/>
                <a:sym typeface="TT Chocolates"/>
              </a:rPr>
              <a:t>Para Consumidores:</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3396903">
            <a:off x="4906058" y="2691767"/>
            <a:ext cx="28814617" cy="11916826"/>
          </a:xfrm>
          <a:custGeom>
            <a:avLst/>
            <a:gdLst/>
            <a:ahLst/>
            <a:cxnLst/>
            <a:rect l="l" t="t" r="r" b="b"/>
            <a:pathLst>
              <a:path w="28814617" h="11916826">
                <a:moveTo>
                  <a:pt x="0" y="0"/>
                </a:moveTo>
                <a:lnTo>
                  <a:pt x="28814616" y="0"/>
                </a:lnTo>
                <a:lnTo>
                  <a:pt x="28814616" y="11916826"/>
                </a:lnTo>
                <a:lnTo>
                  <a:pt x="0" y="119168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rot="-3396903">
            <a:off x="6141142" y="4328587"/>
            <a:ext cx="28814617" cy="11916826"/>
          </a:xfrm>
          <a:custGeom>
            <a:avLst/>
            <a:gdLst/>
            <a:ahLst/>
            <a:cxnLst/>
            <a:rect l="l" t="t" r="r" b="b"/>
            <a:pathLst>
              <a:path w="28814617" h="11916826">
                <a:moveTo>
                  <a:pt x="0" y="0"/>
                </a:moveTo>
                <a:lnTo>
                  <a:pt x="28814617" y="0"/>
                </a:lnTo>
                <a:lnTo>
                  <a:pt x="28814617" y="11916826"/>
                </a:lnTo>
                <a:lnTo>
                  <a:pt x="0" y="119168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grpSp>
        <p:nvGrpSpPr>
          <p:cNvPr id="4" name="Group 4"/>
          <p:cNvGrpSpPr/>
          <p:nvPr/>
        </p:nvGrpSpPr>
        <p:grpSpPr>
          <a:xfrm rot="13601223">
            <a:off x="-4759007" y="394173"/>
            <a:ext cx="9518014" cy="9518014"/>
            <a:chOff x="0" y="0"/>
            <a:chExt cx="12690685" cy="12690685"/>
          </a:xfrm>
        </p:grpSpPr>
        <p:grpSp>
          <p:nvGrpSpPr>
            <p:cNvPr id="5" name="Group 5"/>
            <p:cNvGrpSpPr/>
            <p:nvPr/>
          </p:nvGrpSpPr>
          <p:grpSpPr>
            <a:xfrm rot="5400000">
              <a:off x="6345343" y="0"/>
              <a:ext cx="6345343" cy="6345343"/>
              <a:chOff x="0" y="0"/>
              <a:chExt cx="558800" cy="558800"/>
            </a:xfrm>
          </p:grpSpPr>
          <p:sp>
            <p:nvSpPr>
              <p:cNvPr id="6" name="Freeform 6"/>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C1FF72"/>
              </a:solidFill>
            </p:spPr>
            <p:txBody>
              <a:bodyPr/>
              <a:lstStyle/>
              <a:p>
                <a:endParaRPr lang="es-BO"/>
              </a:p>
            </p:txBody>
          </p:sp>
          <p:sp>
            <p:nvSpPr>
              <p:cNvPr id="7" name="TextBox 7"/>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rot="-10800000">
              <a:off x="6345343" y="6345343"/>
              <a:ext cx="6345343" cy="6345343"/>
              <a:chOff x="0" y="0"/>
              <a:chExt cx="558800" cy="558800"/>
            </a:xfrm>
          </p:grpSpPr>
          <p:sp>
            <p:nvSpPr>
              <p:cNvPr id="9" name="Freeform 9"/>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C1FF72"/>
              </a:solidFill>
            </p:spPr>
            <p:txBody>
              <a:bodyPr/>
              <a:lstStyle/>
              <a:p>
                <a:endParaRPr lang="es-BO"/>
              </a:p>
            </p:txBody>
          </p:sp>
          <p:sp>
            <p:nvSpPr>
              <p:cNvPr id="10" name="TextBox 10"/>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rot="-5400000">
              <a:off x="0" y="6345343"/>
              <a:ext cx="6345343" cy="6345343"/>
              <a:chOff x="0" y="0"/>
              <a:chExt cx="558800" cy="558800"/>
            </a:xfrm>
          </p:grpSpPr>
          <p:sp>
            <p:nvSpPr>
              <p:cNvPr id="12" name="Freeform 12"/>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p:spPr>
            <p:style>
              <a:lnRef idx="2">
                <a:schemeClr val="accent3">
                  <a:shade val="15000"/>
                </a:schemeClr>
              </a:lnRef>
              <a:fillRef idx="1">
                <a:schemeClr val="accent3"/>
              </a:fillRef>
              <a:effectRef idx="0">
                <a:schemeClr val="accent3"/>
              </a:effectRef>
              <a:fontRef idx="minor">
                <a:schemeClr val="lt1"/>
              </a:fontRef>
            </p:style>
            <p:txBody>
              <a:bodyPr/>
              <a:lstStyle/>
              <a:p>
                <a:endParaRPr lang="es-BO"/>
              </a:p>
            </p:txBody>
          </p:sp>
          <p:sp>
            <p:nvSpPr>
              <p:cNvPr id="13" name="TextBox 13"/>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0" y="0"/>
              <a:ext cx="6345343" cy="6345343"/>
              <a:chOff x="0" y="0"/>
              <a:chExt cx="558800" cy="558800"/>
            </a:xfrm>
          </p:grpSpPr>
          <p:sp>
            <p:nvSpPr>
              <p:cNvPr id="15" name="Freeform 15"/>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C1FF72"/>
              </a:solidFill>
            </p:spPr>
            <p:txBody>
              <a:bodyPr/>
              <a:lstStyle/>
              <a:p>
                <a:endParaRPr lang="es-BO"/>
              </a:p>
            </p:txBody>
          </p:sp>
          <p:sp>
            <p:nvSpPr>
              <p:cNvPr id="16" name="TextBox 16"/>
              <p:cNvSpPr txBox="1"/>
              <p:nvPr/>
            </p:nvSpPr>
            <p:spPr>
              <a:xfrm>
                <a:off x="127000" y="88900"/>
                <a:ext cx="304800" cy="342900"/>
              </a:xfrm>
              <a:prstGeom prst="rect">
                <a:avLst/>
              </a:prstGeom>
            </p:spPr>
            <p:txBody>
              <a:bodyPr lIns="50800" tIns="50800" rIns="50800" bIns="50800" rtlCol="0" anchor="ctr"/>
              <a:lstStyle/>
              <a:p>
                <a:pPr algn="ctr">
                  <a:lnSpc>
                    <a:spcPts val="2520"/>
                  </a:lnSpc>
                </a:pPr>
                <a:endParaRPr/>
              </a:p>
            </p:txBody>
          </p:sp>
        </p:grpSp>
      </p:grpSp>
      <p:sp>
        <p:nvSpPr>
          <p:cNvPr id="17" name="Freeform 17"/>
          <p:cNvSpPr/>
          <p:nvPr/>
        </p:nvSpPr>
        <p:spPr>
          <a:xfrm>
            <a:off x="2093962" y="4500486"/>
            <a:ext cx="2662635" cy="1933739"/>
          </a:xfrm>
          <a:custGeom>
            <a:avLst/>
            <a:gdLst/>
            <a:ahLst/>
            <a:cxnLst/>
            <a:rect l="l" t="t" r="r" b="b"/>
            <a:pathLst>
              <a:path w="2662635" h="1933739">
                <a:moveTo>
                  <a:pt x="0" y="0"/>
                </a:moveTo>
                <a:lnTo>
                  <a:pt x="2662636" y="0"/>
                </a:lnTo>
                <a:lnTo>
                  <a:pt x="2662636" y="1933739"/>
                </a:lnTo>
                <a:lnTo>
                  <a:pt x="0" y="1933739"/>
                </a:lnTo>
                <a:lnTo>
                  <a:pt x="0" y="0"/>
                </a:lnTo>
                <a:close/>
              </a:path>
            </a:pathLst>
          </a:custGeom>
          <a:blipFill>
            <a:blip r:embed="rId4"/>
            <a:stretch>
              <a:fillRect/>
            </a:stretch>
          </a:blipFill>
        </p:spPr>
        <p:txBody>
          <a:bodyPr/>
          <a:lstStyle/>
          <a:p>
            <a:endParaRPr lang="es-BO"/>
          </a:p>
        </p:txBody>
      </p:sp>
      <p:sp>
        <p:nvSpPr>
          <p:cNvPr id="18" name="TextBox 18"/>
          <p:cNvSpPr txBox="1"/>
          <p:nvPr/>
        </p:nvSpPr>
        <p:spPr>
          <a:xfrm>
            <a:off x="7645436" y="581977"/>
            <a:ext cx="8127812" cy="941070"/>
          </a:xfrm>
          <a:prstGeom prst="rect">
            <a:avLst/>
          </a:prstGeom>
        </p:spPr>
        <p:txBody>
          <a:bodyPr lIns="0" tIns="0" rIns="0" bIns="0" rtlCol="0" anchor="t">
            <a:spAutoFit/>
          </a:bodyPr>
          <a:lstStyle/>
          <a:p>
            <a:pPr algn="l">
              <a:lnSpc>
                <a:spcPts val="7215"/>
              </a:lnSpc>
            </a:pPr>
            <a:r>
              <a:rPr lang="en-US" sz="6500" b="1" spc="130">
                <a:solidFill>
                  <a:srgbClr val="C1FF72"/>
                </a:solidFill>
                <a:latin typeface="TT Chocolates Bold"/>
                <a:ea typeface="TT Chocolates Bold"/>
                <a:cs typeface="TT Chocolates Bold"/>
                <a:sym typeface="TT Chocolates Bold"/>
              </a:rPr>
              <a:t>Ventajas Generales</a:t>
            </a:r>
          </a:p>
        </p:txBody>
      </p:sp>
      <p:sp>
        <p:nvSpPr>
          <p:cNvPr id="19" name="TextBox 19"/>
          <p:cNvSpPr txBox="1"/>
          <p:nvPr/>
        </p:nvSpPr>
        <p:spPr>
          <a:xfrm>
            <a:off x="7868272" y="4686890"/>
            <a:ext cx="6158257" cy="2877680"/>
          </a:xfrm>
          <a:prstGeom prst="rect">
            <a:avLst/>
          </a:prstGeom>
        </p:spPr>
        <p:txBody>
          <a:bodyPr lIns="0" tIns="0" rIns="0" bIns="0" rtlCol="0" anchor="t">
            <a:spAutoFit/>
          </a:bodyPr>
          <a:lstStyle/>
          <a:p>
            <a:pPr algn="ctr">
              <a:lnSpc>
                <a:spcPts val="5712"/>
              </a:lnSpc>
            </a:pPr>
            <a:r>
              <a:rPr lang="en-US" sz="4080" b="1">
                <a:solidFill>
                  <a:srgbClr val="C1FF72"/>
                </a:solidFill>
                <a:latin typeface="Canva Sans Bold"/>
                <a:ea typeface="Canva Sans Bold"/>
                <a:cs typeface="Canva Sans Bold"/>
                <a:sym typeface="Canva Sans Bold"/>
              </a:rPr>
              <a:t>Simplifica la elaboración de textos legales y ayuda al desarrollo económico.</a:t>
            </a:r>
          </a:p>
        </p:txBody>
      </p:sp>
      <p:sp>
        <p:nvSpPr>
          <p:cNvPr id="20" name="TextBox 20"/>
          <p:cNvSpPr txBox="1"/>
          <p:nvPr/>
        </p:nvSpPr>
        <p:spPr>
          <a:xfrm>
            <a:off x="5361856" y="2913396"/>
            <a:ext cx="8127812" cy="868680"/>
          </a:xfrm>
          <a:prstGeom prst="rect">
            <a:avLst/>
          </a:prstGeom>
        </p:spPr>
        <p:txBody>
          <a:bodyPr lIns="0" tIns="0" rIns="0" bIns="0" rtlCol="0" anchor="t">
            <a:spAutoFit/>
          </a:bodyPr>
          <a:lstStyle/>
          <a:p>
            <a:pPr algn="l">
              <a:lnSpc>
                <a:spcPts val="6660"/>
              </a:lnSpc>
            </a:pPr>
            <a:r>
              <a:rPr lang="en-US" sz="6000" spc="120">
                <a:solidFill>
                  <a:srgbClr val="C1FF72"/>
                </a:solidFill>
                <a:latin typeface="TT Chocolates"/>
                <a:ea typeface="TT Chocolates"/>
                <a:cs typeface="TT Chocolates"/>
                <a:sym typeface="TT Chocolates"/>
              </a:rPr>
              <a:t>Para la Administración:</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2847459">
            <a:off x="-10085332" y="5569297"/>
            <a:ext cx="20170665" cy="8341957"/>
          </a:xfrm>
          <a:custGeom>
            <a:avLst/>
            <a:gdLst/>
            <a:ahLst/>
            <a:cxnLst/>
            <a:rect l="l" t="t" r="r" b="b"/>
            <a:pathLst>
              <a:path w="20170665" h="8341957">
                <a:moveTo>
                  <a:pt x="0" y="0"/>
                </a:moveTo>
                <a:lnTo>
                  <a:pt x="20170664" y="0"/>
                </a:lnTo>
                <a:lnTo>
                  <a:pt x="20170664" y="8341957"/>
                </a:lnTo>
                <a:lnTo>
                  <a:pt x="0" y="83419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3" name="Freeform 3"/>
          <p:cNvSpPr/>
          <p:nvPr/>
        </p:nvSpPr>
        <p:spPr>
          <a:xfrm rot="2847459">
            <a:off x="-10833462" y="6477852"/>
            <a:ext cx="20170665" cy="8341957"/>
          </a:xfrm>
          <a:custGeom>
            <a:avLst/>
            <a:gdLst/>
            <a:ahLst/>
            <a:cxnLst/>
            <a:rect l="l" t="t" r="r" b="b"/>
            <a:pathLst>
              <a:path w="20170665" h="8341957">
                <a:moveTo>
                  <a:pt x="0" y="0"/>
                </a:moveTo>
                <a:lnTo>
                  <a:pt x="20170664" y="0"/>
                </a:lnTo>
                <a:lnTo>
                  <a:pt x="20170664" y="8341957"/>
                </a:lnTo>
                <a:lnTo>
                  <a:pt x="0" y="83419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BO"/>
          </a:p>
        </p:txBody>
      </p:sp>
      <p:sp>
        <p:nvSpPr>
          <p:cNvPr id="4" name="Freeform 4"/>
          <p:cNvSpPr/>
          <p:nvPr/>
        </p:nvSpPr>
        <p:spPr>
          <a:xfrm>
            <a:off x="11133134" y="2726349"/>
            <a:ext cx="3569493" cy="2132577"/>
          </a:xfrm>
          <a:custGeom>
            <a:avLst/>
            <a:gdLst/>
            <a:ahLst/>
            <a:cxnLst/>
            <a:rect l="l" t="t" r="r" b="b"/>
            <a:pathLst>
              <a:path w="3569493" h="2132577">
                <a:moveTo>
                  <a:pt x="0" y="0"/>
                </a:moveTo>
                <a:lnTo>
                  <a:pt x="3569492" y="0"/>
                </a:lnTo>
                <a:lnTo>
                  <a:pt x="3569492" y="2132577"/>
                </a:lnTo>
                <a:lnTo>
                  <a:pt x="0" y="2132577"/>
                </a:lnTo>
                <a:lnTo>
                  <a:pt x="0" y="0"/>
                </a:lnTo>
                <a:close/>
              </a:path>
            </a:pathLst>
          </a:custGeom>
          <a:blipFill>
            <a:blip r:embed="rId5"/>
            <a:stretch>
              <a:fillRect t="-48821" b="-91036"/>
            </a:stretch>
          </a:blipFill>
        </p:spPr>
        <p:txBody>
          <a:bodyPr/>
          <a:lstStyle/>
          <a:p>
            <a:endParaRPr lang="es-BO"/>
          </a:p>
        </p:txBody>
      </p:sp>
      <p:sp>
        <p:nvSpPr>
          <p:cNvPr id="5" name="TextBox 5"/>
          <p:cNvSpPr txBox="1"/>
          <p:nvPr/>
        </p:nvSpPr>
        <p:spPr>
          <a:xfrm>
            <a:off x="4823883" y="445662"/>
            <a:ext cx="8640234" cy="1855470"/>
          </a:xfrm>
          <a:prstGeom prst="rect">
            <a:avLst/>
          </a:prstGeom>
        </p:spPr>
        <p:txBody>
          <a:bodyPr lIns="0" tIns="0" rIns="0" bIns="0" rtlCol="0" anchor="t">
            <a:spAutoFit/>
          </a:bodyPr>
          <a:lstStyle/>
          <a:p>
            <a:pPr algn="ctr">
              <a:lnSpc>
                <a:spcPts val="7215"/>
              </a:lnSpc>
            </a:pPr>
            <a:r>
              <a:rPr lang="en-US" sz="6500" b="1" spc="130">
                <a:solidFill>
                  <a:srgbClr val="C1FF72"/>
                </a:solidFill>
                <a:latin typeface="TT Chocolates Bold"/>
                <a:ea typeface="TT Chocolates Bold"/>
                <a:cs typeface="TT Chocolates Bold"/>
                <a:sym typeface="TT Chocolates Bold"/>
              </a:rPr>
              <a:t>Principios y Aspectos Fundamentales</a:t>
            </a:r>
          </a:p>
        </p:txBody>
      </p:sp>
      <p:sp>
        <p:nvSpPr>
          <p:cNvPr id="6" name="TextBox 6"/>
          <p:cNvSpPr txBox="1"/>
          <p:nvPr/>
        </p:nvSpPr>
        <p:spPr>
          <a:xfrm>
            <a:off x="1028700" y="3104590"/>
            <a:ext cx="8310553" cy="1309420"/>
          </a:xfrm>
          <a:prstGeom prst="rect">
            <a:avLst/>
          </a:prstGeom>
        </p:spPr>
        <p:txBody>
          <a:bodyPr lIns="0" tIns="0" rIns="0" bIns="0" rtlCol="0" anchor="t">
            <a:spAutoFit/>
          </a:bodyPr>
          <a:lstStyle/>
          <a:p>
            <a:pPr algn="ctr">
              <a:lnSpc>
                <a:spcPts val="5272"/>
              </a:lnSpc>
            </a:pPr>
            <a:r>
              <a:rPr lang="en-US" sz="3766" b="1" dirty="0" err="1">
                <a:solidFill>
                  <a:srgbClr val="C1FF72"/>
                </a:solidFill>
                <a:latin typeface="Canva Sans Bold"/>
                <a:ea typeface="Canva Sans Bold"/>
                <a:cs typeface="Canva Sans Bold"/>
                <a:sym typeface="Canva Sans Bold"/>
              </a:rPr>
              <a:t>Homogeneidad</a:t>
            </a:r>
            <a:r>
              <a:rPr lang="en-US" sz="3766" b="1" dirty="0">
                <a:solidFill>
                  <a:srgbClr val="C1FF72"/>
                </a:solidFill>
                <a:latin typeface="Canva Sans Bold"/>
                <a:ea typeface="Canva Sans Bold"/>
                <a:cs typeface="Canva Sans Bold"/>
                <a:sym typeface="Canva Sans Bold"/>
              </a:rPr>
              <a:t> (</a:t>
            </a:r>
            <a:r>
              <a:rPr lang="en-US" sz="3766" b="1" dirty="0" err="1">
                <a:solidFill>
                  <a:srgbClr val="C1FF72"/>
                </a:solidFill>
                <a:latin typeface="Canva Sans Bold"/>
                <a:ea typeface="Canva Sans Bold"/>
                <a:cs typeface="Canva Sans Bold"/>
                <a:sym typeface="Canva Sans Bold"/>
              </a:rPr>
              <a:t>integración</a:t>
            </a:r>
            <a:r>
              <a:rPr lang="en-US" sz="3766" b="1" dirty="0">
                <a:solidFill>
                  <a:srgbClr val="C1FF72"/>
                </a:solidFill>
                <a:latin typeface="Canva Sans Bold"/>
                <a:ea typeface="Canva Sans Bold"/>
                <a:cs typeface="Canva Sans Bold"/>
                <a:sym typeface="Canva Sans Bold"/>
              </a:rPr>
              <a:t> con </a:t>
            </a:r>
            <a:r>
              <a:rPr lang="en-US" sz="3766" b="1" dirty="0" err="1">
                <a:solidFill>
                  <a:srgbClr val="C1FF72"/>
                </a:solidFill>
                <a:latin typeface="Canva Sans Bold"/>
                <a:ea typeface="Canva Sans Bold"/>
                <a:cs typeface="Canva Sans Bold"/>
                <a:sym typeface="Canva Sans Bold"/>
              </a:rPr>
              <a:t>normas</a:t>
            </a:r>
            <a:r>
              <a:rPr lang="en-US" sz="3766" b="1" dirty="0">
                <a:solidFill>
                  <a:srgbClr val="C1FF72"/>
                </a:solidFill>
                <a:latin typeface="Canva Sans Bold"/>
                <a:ea typeface="Canva Sans Bold"/>
                <a:cs typeface="Canva Sans Bold"/>
                <a:sym typeface="Canva Sans Bold"/>
              </a:rPr>
              <a:t> </a:t>
            </a:r>
            <a:r>
              <a:rPr lang="en-US" sz="3766" b="1" dirty="0" err="1">
                <a:solidFill>
                  <a:srgbClr val="C1FF72"/>
                </a:solidFill>
                <a:latin typeface="Canva Sans Bold"/>
                <a:ea typeface="Canva Sans Bold"/>
                <a:cs typeface="Canva Sans Bold"/>
                <a:sym typeface="Canva Sans Bold"/>
              </a:rPr>
              <a:t>existentes</a:t>
            </a:r>
            <a:r>
              <a:rPr lang="en-US" sz="3766" b="1" dirty="0">
                <a:solidFill>
                  <a:srgbClr val="C1FF72"/>
                </a:solidFill>
                <a:latin typeface="Canva Sans Bold"/>
                <a:ea typeface="Canva Sans Bold"/>
                <a:cs typeface="Canva Sans Bold"/>
                <a:sym typeface="Canva Sans Bold"/>
              </a:rPr>
              <a:t>).</a:t>
            </a:r>
          </a:p>
        </p:txBody>
      </p:sp>
      <p:sp>
        <p:nvSpPr>
          <p:cNvPr id="7" name="TextBox 7"/>
          <p:cNvSpPr txBox="1"/>
          <p:nvPr/>
        </p:nvSpPr>
        <p:spPr>
          <a:xfrm>
            <a:off x="8948747" y="5623173"/>
            <a:ext cx="8310553" cy="1309420"/>
          </a:xfrm>
          <a:prstGeom prst="rect">
            <a:avLst/>
          </a:prstGeom>
        </p:spPr>
        <p:txBody>
          <a:bodyPr lIns="0" tIns="0" rIns="0" bIns="0" rtlCol="0" anchor="t">
            <a:spAutoFit/>
          </a:bodyPr>
          <a:lstStyle/>
          <a:p>
            <a:pPr algn="ctr">
              <a:lnSpc>
                <a:spcPts val="5272"/>
              </a:lnSpc>
            </a:pPr>
            <a:r>
              <a:rPr lang="en-US" sz="3766" b="1" dirty="0" err="1">
                <a:solidFill>
                  <a:srgbClr val="C1FF72"/>
                </a:solidFill>
                <a:latin typeface="Canva Sans Bold"/>
                <a:ea typeface="Canva Sans Bold"/>
                <a:cs typeface="Canva Sans Bold"/>
                <a:sym typeface="Canva Sans Bold"/>
              </a:rPr>
              <a:t>Equilibrio</a:t>
            </a:r>
            <a:r>
              <a:rPr lang="en-US" sz="3766" b="1" dirty="0">
                <a:solidFill>
                  <a:srgbClr val="C1FF72"/>
                </a:solidFill>
                <a:latin typeface="Canva Sans Bold"/>
                <a:ea typeface="Canva Sans Bold"/>
                <a:cs typeface="Canva Sans Bold"/>
                <a:sym typeface="Canva Sans Bold"/>
              </a:rPr>
              <a:t> (</a:t>
            </a:r>
            <a:r>
              <a:rPr lang="en-US" sz="3766" b="1" dirty="0" err="1">
                <a:solidFill>
                  <a:srgbClr val="C1FF72"/>
                </a:solidFill>
                <a:latin typeface="Canva Sans Bold"/>
                <a:ea typeface="Canva Sans Bold"/>
                <a:cs typeface="Canva Sans Bold"/>
                <a:sym typeface="Canva Sans Bold"/>
              </a:rPr>
              <a:t>avance</a:t>
            </a:r>
            <a:r>
              <a:rPr lang="en-US" sz="3766" b="1" dirty="0">
                <a:solidFill>
                  <a:srgbClr val="C1FF72"/>
                </a:solidFill>
                <a:latin typeface="Canva Sans Bold"/>
                <a:ea typeface="Canva Sans Bold"/>
                <a:cs typeface="Canva Sans Bold"/>
                <a:sym typeface="Canva Sans Bold"/>
              </a:rPr>
              <a:t> </a:t>
            </a:r>
            <a:r>
              <a:rPr lang="en-US" sz="3766" b="1" dirty="0" err="1">
                <a:solidFill>
                  <a:srgbClr val="C1FF72"/>
                </a:solidFill>
                <a:latin typeface="Canva Sans Bold"/>
                <a:ea typeface="Canva Sans Bold"/>
                <a:cs typeface="Canva Sans Bold"/>
                <a:sym typeface="Canva Sans Bold"/>
              </a:rPr>
              <a:t>tecnológico</a:t>
            </a:r>
            <a:r>
              <a:rPr lang="en-US" sz="3766" b="1" dirty="0">
                <a:solidFill>
                  <a:srgbClr val="C1FF72"/>
                </a:solidFill>
                <a:latin typeface="Canva Sans Bold"/>
                <a:ea typeface="Canva Sans Bold"/>
                <a:cs typeface="Canva Sans Bold"/>
                <a:sym typeface="Canva Sans Bold"/>
              </a:rPr>
              <a:t> vs. </a:t>
            </a:r>
            <a:r>
              <a:rPr lang="en-US" sz="3766" b="1" dirty="0" err="1">
                <a:solidFill>
                  <a:srgbClr val="C1FF72"/>
                </a:solidFill>
                <a:latin typeface="Canva Sans Bold"/>
                <a:ea typeface="Canva Sans Bold"/>
                <a:cs typeface="Canva Sans Bold"/>
                <a:sym typeface="Canva Sans Bold"/>
              </a:rPr>
              <a:t>economía</a:t>
            </a:r>
            <a:r>
              <a:rPr lang="en-US" sz="3766" b="1" dirty="0">
                <a:solidFill>
                  <a:srgbClr val="C1FF72"/>
                </a:solidFill>
                <a:latin typeface="Canva Sans Bold"/>
                <a:ea typeface="Canva Sans Bold"/>
                <a:cs typeface="Canva Sans Bold"/>
                <a:sym typeface="Canva Sans Bold"/>
              </a:rPr>
              <a:t>).</a:t>
            </a:r>
          </a:p>
        </p:txBody>
      </p:sp>
      <p:sp>
        <p:nvSpPr>
          <p:cNvPr id="8" name="TextBox 8"/>
          <p:cNvSpPr txBox="1"/>
          <p:nvPr/>
        </p:nvSpPr>
        <p:spPr>
          <a:xfrm>
            <a:off x="1581577" y="8141757"/>
            <a:ext cx="8310553" cy="1309420"/>
          </a:xfrm>
          <a:prstGeom prst="rect">
            <a:avLst/>
          </a:prstGeom>
        </p:spPr>
        <p:txBody>
          <a:bodyPr lIns="0" tIns="0" rIns="0" bIns="0" rtlCol="0" anchor="t">
            <a:spAutoFit/>
          </a:bodyPr>
          <a:lstStyle/>
          <a:p>
            <a:pPr algn="ctr">
              <a:lnSpc>
                <a:spcPts val="5272"/>
              </a:lnSpc>
            </a:pPr>
            <a:r>
              <a:rPr lang="en-US" sz="3766" b="1" dirty="0">
                <a:solidFill>
                  <a:srgbClr val="C1FF72"/>
                </a:solidFill>
                <a:latin typeface="Canva Sans Bold"/>
                <a:ea typeface="Canva Sans Bold"/>
                <a:cs typeface="Canva Sans Bold"/>
                <a:sym typeface="Canva Sans Bold"/>
              </a:rPr>
              <a:t>Cooperación (acuerdo entre </a:t>
            </a:r>
            <a:r>
              <a:rPr lang="en-US" sz="3766" b="1" dirty="0" err="1">
                <a:solidFill>
                  <a:srgbClr val="C1FF72"/>
                </a:solidFill>
                <a:latin typeface="Canva Sans Bold"/>
                <a:ea typeface="Canva Sans Bold"/>
                <a:cs typeface="Canva Sans Bold"/>
                <a:sym typeface="Canva Sans Bold"/>
              </a:rPr>
              <a:t>interesados</a:t>
            </a:r>
            <a:r>
              <a:rPr lang="en-US" sz="3766" b="1" dirty="0">
                <a:solidFill>
                  <a:srgbClr val="C1FF72"/>
                </a:solidFill>
                <a:latin typeface="Canva Sans Bold"/>
                <a:ea typeface="Canva Sans Bold"/>
                <a:cs typeface="Canva Sans Bold"/>
                <a:sym typeface="Canva Sans Bold"/>
              </a:rPr>
              <a:t>).</a:t>
            </a:r>
          </a:p>
        </p:txBody>
      </p:sp>
      <p:pic>
        <p:nvPicPr>
          <p:cNvPr id="1026" name="Picture 2" descr="Equilibrio entre innovación y operación: el gran reto del sector IT">
            <a:extLst>
              <a:ext uri="{FF2B5EF4-FFF2-40B4-BE49-F238E27FC236}">
                <a16:creationId xmlns:a16="http://schemas.microsoft.com/office/drawing/2014/main" id="{C8C8AE22-A654-78CF-055B-3B4C9CF9AC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0796" y="4919606"/>
            <a:ext cx="4058180" cy="232286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grpSp>
        <p:nvGrpSpPr>
          <p:cNvPr id="2" name="Group 2"/>
          <p:cNvGrpSpPr/>
          <p:nvPr/>
        </p:nvGrpSpPr>
        <p:grpSpPr>
          <a:xfrm>
            <a:off x="-206115" y="-368880"/>
            <a:ext cx="6976664" cy="11024760"/>
            <a:chOff x="0" y="0"/>
            <a:chExt cx="9302219" cy="14699680"/>
          </a:xfrm>
        </p:grpSpPr>
        <p:pic>
          <p:nvPicPr>
            <p:cNvPr id="3" name="Picture 3"/>
            <p:cNvPicPr>
              <a:picLocks noChangeAspect="1"/>
            </p:cNvPicPr>
            <p:nvPr/>
          </p:nvPicPr>
          <p:blipFill>
            <a:blip r:embed="rId2"/>
            <a:srcRect l="32202" r="32202"/>
            <a:stretch>
              <a:fillRect/>
            </a:stretch>
          </p:blipFill>
          <p:spPr>
            <a:xfrm>
              <a:off x="0" y="0"/>
              <a:ext cx="9302219" cy="14699680"/>
            </a:xfrm>
            <a:prstGeom prst="rect">
              <a:avLst/>
            </a:prstGeom>
          </p:spPr>
        </p:pic>
      </p:grpSp>
      <p:sp>
        <p:nvSpPr>
          <p:cNvPr id="4" name="Freeform 4"/>
          <p:cNvSpPr/>
          <p:nvPr/>
        </p:nvSpPr>
        <p:spPr>
          <a:xfrm rot="7306269">
            <a:off x="-10229103" y="-2924061"/>
            <a:ext cx="20170665" cy="8341957"/>
          </a:xfrm>
          <a:custGeom>
            <a:avLst/>
            <a:gdLst/>
            <a:ahLst/>
            <a:cxnLst/>
            <a:rect l="l" t="t" r="r" b="b"/>
            <a:pathLst>
              <a:path w="20170665" h="8341957">
                <a:moveTo>
                  <a:pt x="0" y="0"/>
                </a:moveTo>
                <a:lnTo>
                  <a:pt x="20170664" y="0"/>
                </a:lnTo>
                <a:lnTo>
                  <a:pt x="20170664" y="8341957"/>
                </a:lnTo>
                <a:lnTo>
                  <a:pt x="0" y="83419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5" name="TextBox 5"/>
          <p:cNvSpPr txBox="1"/>
          <p:nvPr/>
        </p:nvSpPr>
        <p:spPr>
          <a:xfrm>
            <a:off x="8712429" y="691837"/>
            <a:ext cx="7012541" cy="1855470"/>
          </a:xfrm>
          <a:prstGeom prst="rect">
            <a:avLst/>
          </a:prstGeom>
        </p:spPr>
        <p:txBody>
          <a:bodyPr lIns="0" tIns="0" rIns="0" bIns="0" rtlCol="0" anchor="t">
            <a:spAutoFit/>
          </a:bodyPr>
          <a:lstStyle/>
          <a:p>
            <a:pPr algn="ctr">
              <a:lnSpc>
                <a:spcPts val="7215"/>
              </a:lnSpc>
            </a:pPr>
            <a:r>
              <a:rPr lang="en-US" sz="6500" b="1" spc="130" dirty="0">
                <a:solidFill>
                  <a:srgbClr val="C1FF72"/>
                </a:solidFill>
                <a:latin typeface="TT Chocolates"/>
                <a:ea typeface="TT Chocolates"/>
                <a:cs typeface="TT Chocolates"/>
                <a:sym typeface="TT Chocolates"/>
              </a:rPr>
              <a:t> </a:t>
            </a:r>
            <a:r>
              <a:rPr lang="en-US" sz="6500" b="1" spc="130" dirty="0" err="1">
                <a:solidFill>
                  <a:srgbClr val="C1FF72"/>
                </a:solidFill>
                <a:latin typeface="Bree Serif" panose="020B0604020202020204" charset="0"/>
                <a:ea typeface="TT Chocolates"/>
                <a:cs typeface="TT Chocolates"/>
                <a:sym typeface="TT Chocolates"/>
              </a:rPr>
              <a:t>Normalización</a:t>
            </a:r>
            <a:r>
              <a:rPr lang="en-US" sz="6500" b="1" spc="130" dirty="0">
                <a:solidFill>
                  <a:srgbClr val="C1FF72"/>
                </a:solidFill>
                <a:latin typeface="Bree Serif" panose="020B0604020202020204" charset="0"/>
                <a:ea typeface="TT Chocolates"/>
                <a:cs typeface="TT Chocolates"/>
                <a:sym typeface="TT Chocolates"/>
              </a:rPr>
              <a:t> </a:t>
            </a:r>
            <a:r>
              <a:rPr lang="en-US" sz="6500" b="1" spc="130" dirty="0" err="1">
                <a:solidFill>
                  <a:srgbClr val="C1FF72"/>
                </a:solidFill>
                <a:latin typeface="Bree Serif" panose="020B0604020202020204" charset="0"/>
                <a:ea typeface="TT Chocolates"/>
                <a:cs typeface="TT Chocolates"/>
                <a:sym typeface="TT Chocolates"/>
              </a:rPr>
              <a:t>en</a:t>
            </a:r>
            <a:r>
              <a:rPr lang="en-US" sz="6500" b="1" spc="130" dirty="0">
                <a:solidFill>
                  <a:srgbClr val="C1FF72"/>
                </a:solidFill>
                <a:latin typeface="Bree Serif" panose="020B0604020202020204" charset="0"/>
                <a:ea typeface="TT Chocolates"/>
                <a:cs typeface="TT Chocolates"/>
                <a:sym typeface="TT Chocolates"/>
              </a:rPr>
              <a:t> Bases de Datos</a:t>
            </a:r>
          </a:p>
        </p:txBody>
      </p:sp>
      <p:sp>
        <p:nvSpPr>
          <p:cNvPr id="6" name="TextBox 6"/>
          <p:cNvSpPr txBox="1"/>
          <p:nvPr/>
        </p:nvSpPr>
        <p:spPr>
          <a:xfrm>
            <a:off x="7595075" y="2832975"/>
            <a:ext cx="9439887" cy="6489501"/>
          </a:xfrm>
          <a:prstGeom prst="rect">
            <a:avLst/>
          </a:prstGeom>
        </p:spPr>
        <p:txBody>
          <a:bodyPr lIns="0" tIns="0" rIns="0" bIns="0" rtlCol="0" anchor="t">
            <a:spAutoFit/>
          </a:bodyPr>
          <a:lstStyle/>
          <a:p>
            <a:pPr algn="l">
              <a:lnSpc>
                <a:spcPts val="5085"/>
              </a:lnSpc>
            </a:pPr>
            <a:r>
              <a:rPr lang="en-US" sz="3632">
                <a:solidFill>
                  <a:srgbClr val="F6E7D8"/>
                </a:solidFill>
                <a:latin typeface="TT Chocolates"/>
                <a:ea typeface="TT Chocolates"/>
                <a:cs typeface="TT Chocolates"/>
                <a:sym typeface="TT Chocolates"/>
              </a:rPr>
              <a:t>Es un proceso de diseño de bases de datos que organiza los datos en estructuras de tablas específicas</a:t>
            </a:r>
          </a:p>
          <a:p>
            <a:pPr marL="784332" lvl="1" indent="-392166" algn="l">
              <a:lnSpc>
                <a:spcPts val="5085"/>
              </a:lnSpc>
              <a:buFont typeface="Arial"/>
              <a:buChar char="•"/>
            </a:pPr>
            <a:r>
              <a:rPr lang="en-US" sz="3632">
                <a:solidFill>
                  <a:srgbClr val="F6E7D8"/>
                </a:solidFill>
                <a:latin typeface="TT Chocolates"/>
                <a:ea typeface="TT Chocolates"/>
                <a:cs typeface="TT Chocolates"/>
                <a:sym typeface="TT Chocolates"/>
              </a:rPr>
              <a:t>Integridad de datos</a:t>
            </a:r>
          </a:p>
          <a:p>
            <a:pPr marL="784332" lvl="1" indent="-392166" algn="l">
              <a:lnSpc>
                <a:spcPts val="5085"/>
              </a:lnSpc>
              <a:buFont typeface="Arial"/>
              <a:buChar char="•"/>
            </a:pPr>
            <a:r>
              <a:rPr lang="en-US" sz="3632">
                <a:solidFill>
                  <a:srgbClr val="F6E7D8"/>
                </a:solidFill>
                <a:latin typeface="TT Chocolates"/>
                <a:ea typeface="TT Chocolates"/>
                <a:cs typeface="TT Chocolates"/>
                <a:sym typeface="TT Chocolates"/>
              </a:rPr>
              <a:t>Prevenir anomalias</a:t>
            </a:r>
          </a:p>
          <a:p>
            <a:pPr marL="784332" lvl="1" indent="-392166" algn="l">
              <a:lnSpc>
                <a:spcPts val="5085"/>
              </a:lnSpc>
              <a:buFont typeface="Arial"/>
              <a:buChar char="•"/>
            </a:pPr>
            <a:r>
              <a:rPr lang="en-US" sz="3632">
                <a:solidFill>
                  <a:srgbClr val="F6E7D8"/>
                </a:solidFill>
                <a:latin typeface="TT Chocolates"/>
                <a:ea typeface="TT Chocolates"/>
                <a:cs typeface="TT Chocolates"/>
                <a:sym typeface="TT Chocolates"/>
              </a:rPr>
              <a:t>Minimizar redundancias</a:t>
            </a:r>
          </a:p>
          <a:p>
            <a:pPr marL="784332" lvl="1" indent="-392166" algn="l">
              <a:lnSpc>
                <a:spcPts val="5085"/>
              </a:lnSpc>
              <a:buFont typeface="Arial"/>
              <a:buChar char="•"/>
            </a:pPr>
            <a:r>
              <a:rPr lang="en-US" sz="3632">
                <a:solidFill>
                  <a:srgbClr val="F6E7D8"/>
                </a:solidFill>
                <a:latin typeface="TT Chocolates"/>
                <a:ea typeface="TT Chocolates"/>
                <a:cs typeface="TT Chocolates"/>
                <a:sym typeface="TT Chocolates"/>
              </a:rPr>
              <a:t>Reforzar consultas</a:t>
            </a:r>
          </a:p>
          <a:p>
            <a:pPr algn="l">
              <a:lnSpc>
                <a:spcPts val="5085"/>
              </a:lnSpc>
            </a:pPr>
            <a:endParaRPr lang="en-US" sz="3632">
              <a:solidFill>
                <a:srgbClr val="F6E7D8"/>
              </a:solidFill>
              <a:latin typeface="TT Chocolates"/>
              <a:ea typeface="TT Chocolates"/>
              <a:cs typeface="TT Chocolates"/>
              <a:sym typeface="TT Chocolates"/>
            </a:endParaRPr>
          </a:p>
          <a:p>
            <a:pPr algn="ctr">
              <a:lnSpc>
                <a:spcPts val="6065"/>
              </a:lnSpc>
            </a:pPr>
            <a:r>
              <a:rPr lang="en-US" sz="4332">
                <a:solidFill>
                  <a:srgbClr val="F6E7D8"/>
                </a:solidFill>
                <a:latin typeface="TT Chocolates"/>
                <a:ea typeface="TT Chocolates"/>
                <a:cs typeface="TT Chocolates"/>
                <a:sym typeface="TT Chocolates"/>
              </a:rPr>
              <a:t>"limpiar y ordenar" </a:t>
            </a:r>
          </a:p>
          <a:p>
            <a:pPr algn="l">
              <a:lnSpc>
                <a:spcPts val="5085"/>
              </a:lnSpc>
            </a:pPr>
            <a:endParaRPr lang="en-US" sz="4332">
              <a:solidFill>
                <a:srgbClr val="F6E7D8"/>
              </a:solidFill>
              <a:latin typeface="TT Chocolates"/>
              <a:ea typeface="TT Chocolates"/>
              <a:cs typeface="TT Chocolates"/>
              <a:sym typeface="TT Chocolates"/>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7851461">
            <a:off x="-194436" y="-5433459"/>
            <a:ext cx="28814617" cy="11916826"/>
          </a:xfrm>
          <a:custGeom>
            <a:avLst/>
            <a:gdLst/>
            <a:ahLst/>
            <a:cxnLst/>
            <a:rect l="l" t="t" r="r" b="b"/>
            <a:pathLst>
              <a:path w="28814617" h="11916826">
                <a:moveTo>
                  <a:pt x="0" y="0"/>
                </a:moveTo>
                <a:lnTo>
                  <a:pt x="28814617" y="0"/>
                </a:lnTo>
                <a:lnTo>
                  <a:pt x="28814617" y="11916826"/>
                </a:lnTo>
                <a:lnTo>
                  <a:pt x="0" y="119168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rot="-7851461">
            <a:off x="1742939" y="-7234965"/>
            <a:ext cx="28814617" cy="11916826"/>
          </a:xfrm>
          <a:custGeom>
            <a:avLst/>
            <a:gdLst/>
            <a:ahLst/>
            <a:cxnLst/>
            <a:rect l="l" t="t" r="r" b="b"/>
            <a:pathLst>
              <a:path w="28814617" h="11916826">
                <a:moveTo>
                  <a:pt x="0" y="0"/>
                </a:moveTo>
                <a:lnTo>
                  <a:pt x="28814616" y="0"/>
                </a:lnTo>
                <a:lnTo>
                  <a:pt x="28814616" y="11916825"/>
                </a:lnTo>
                <a:lnTo>
                  <a:pt x="0" y="119168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Freeform 4"/>
          <p:cNvSpPr/>
          <p:nvPr/>
        </p:nvSpPr>
        <p:spPr>
          <a:xfrm>
            <a:off x="11332598" y="1287800"/>
            <a:ext cx="5760550" cy="4585609"/>
          </a:xfrm>
          <a:custGeom>
            <a:avLst/>
            <a:gdLst/>
            <a:ahLst/>
            <a:cxnLst/>
            <a:rect l="l" t="t" r="r" b="b"/>
            <a:pathLst>
              <a:path w="5760550" h="4585609">
                <a:moveTo>
                  <a:pt x="0" y="0"/>
                </a:moveTo>
                <a:lnTo>
                  <a:pt x="5760549" y="0"/>
                </a:lnTo>
                <a:lnTo>
                  <a:pt x="5760549" y="4585609"/>
                </a:lnTo>
                <a:lnTo>
                  <a:pt x="0" y="4585609"/>
                </a:lnTo>
                <a:lnTo>
                  <a:pt x="0" y="0"/>
                </a:lnTo>
                <a:close/>
              </a:path>
            </a:pathLst>
          </a:custGeom>
          <a:blipFill>
            <a:blip r:embed="rId4"/>
            <a:stretch>
              <a:fillRect r="-10945"/>
            </a:stretch>
          </a:blipFill>
        </p:spPr>
        <p:txBody>
          <a:bodyPr/>
          <a:lstStyle/>
          <a:p>
            <a:endParaRPr lang="es-BO"/>
          </a:p>
        </p:txBody>
      </p:sp>
      <p:sp>
        <p:nvSpPr>
          <p:cNvPr id="5" name="Freeform 5"/>
          <p:cNvSpPr/>
          <p:nvPr/>
        </p:nvSpPr>
        <p:spPr>
          <a:xfrm>
            <a:off x="12069925" y="6464136"/>
            <a:ext cx="4826284" cy="2794164"/>
          </a:xfrm>
          <a:custGeom>
            <a:avLst/>
            <a:gdLst/>
            <a:ahLst/>
            <a:cxnLst/>
            <a:rect l="l" t="t" r="r" b="b"/>
            <a:pathLst>
              <a:path w="4826284" h="2794164">
                <a:moveTo>
                  <a:pt x="0" y="0"/>
                </a:moveTo>
                <a:lnTo>
                  <a:pt x="4826284" y="0"/>
                </a:lnTo>
                <a:lnTo>
                  <a:pt x="4826284" y="2794164"/>
                </a:lnTo>
                <a:lnTo>
                  <a:pt x="0" y="2794164"/>
                </a:lnTo>
                <a:lnTo>
                  <a:pt x="0" y="0"/>
                </a:lnTo>
                <a:close/>
              </a:path>
            </a:pathLst>
          </a:custGeom>
          <a:blipFill>
            <a:blip r:embed="rId5"/>
            <a:stretch>
              <a:fillRect l="-19360" t="-36420" r="-76573" b="-233936"/>
            </a:stretch>
          </a:blipFill>
        </p:spPr>
        <p:txBody>
          <a:bodyPr/>
          <a:lstStyle/>
          <a:p>
            <a:endParaRPr lang="es-BO"/>
          </a:p>
        </p:txBody>
      </p:sp>
      <p:sp>
        <p:nvSpPr>
          <p:cNvPr id="6" name="TextBox 6"/>
          <p:cNvSpPr txBox="1"/>
          <p:nvPr/>
        </p:nvSpPr>
        <p:spPr>
          <a:xfrm>
            <a:off x="3933800" y="817265"/>
            <a:ext cx="3619500" cy="941070"/>
          </a:xfrm>
          <a:prstGeom prst="rect">
            <a:avLst/>
          </a:prstGeom>
        </p:spPr>
        <p:txBody>
          <a:bodyPr wrap="square" lIns="0" tIns="0" rIns="0" bIns="0" rtlCol="0" anchor="t">
            <a:spAutoFit/>
          </a:bodyPr>
          <a:lstStyle/>
          <a:p>
            <a:pPr algn="l">
              <a:lnSpc>
                <a:spcPts val="7215"/>
              </a:lnSpc>
            </a:pPr>
            <a:r>
              <a:rPr lang="en-US" sz="6500" b="1" spc="130" dirty="0" err="1">
                <a:solidFill>
                  <a:srgbClr val="C1FF72"/>
                </a:solidFill>
                <a:latin typeface="Bree Serif" panose="020B0604020202020204" charset="0"/>
                <a:ea typeface="TT Chocolates"/>
                <a:cs typeface="TT Chocolates"/>
                <a:sym typeface="TT Chocolates"/>
              </a:rPr>
              <a:t>Ventajas</a:t>
            </a:r>
            <a:endParaRPr lang="en-US" sz="6500" b="1" spc="130" dirty="0">
              <a:solidFill>
                <a:srgbClr val="C1FF72"/>
              </a:solidFill>
              <a:latin typeface="Bree Serif" panose="020B0604020202020204" charset="0"/>
              <a:ea typeface="TT Chocolates"/>
              <a:cs typeface="TT Chocolates"/>
              <a:sym typeface="TT Chocolates"/>
            </a:endParaRPr>
          </a:p>
        </p:txBody>
      </p:sp>
      <p:sp>
        <p:nvSpPr>
          <p:cNvPr id="7" name="TextBox 7"/>
          <p:cNvSpPr txBox="1"/>
          <p:nvPr/>
        </p:nvSpPr>
        <p:spPr>
          <a:xfrm>
            <a:off x="1233275" y="2430528"/>
            <a:ext cx="9020550" cy="5962458"/>
          </a:xfrm>
          <a:prstGeom prst="rect">
            <a:avLst/>
          </a:prstGeom>
        </p:spPr>
        <p:txBody>
          <a:bodyPr lIns="0" tIns="0" rIns="0" bIns="0" rtlCol="0" anchor="t">
            <a:spAutoFit/>
          </a:bodyPr>
          <a:lstStyle/>
          <a:p>
            <a:pPr marL="908433" lvl="1" indent="-454217" algn="l">
              <a:lnSpc>
                <a:spcPts val="5890"/>
              </a:lnSpc>
              <a:buFont typeface="Arial"/>
              <a:buChar char="•"/>
            </a:pPr>
            <a:r>
              <a:rPr lang="en-US" sz="4207" dirty="0">
                <a:solidFill>
                  <a:srgbClr val="F6E7D8"/>
                </a:solidFill>
                <a:latin typeface="TT Chocolates"/>
                <a:ea typeface="TT Chocolates"/>
                <a:cs typeface="TT Chocolates"/>
                <a:sym typeface="TT Chocolates"/>
              </a:rPr>
              <a:t>El </a:t>
            </a:r>
            <a:r>
              <a:rPr lang="en-US" sz="4207" dirty="0" err="1">
                <a:solidFill>
                  <a:srgbClr val="F6E7D8"/>
                </a:solidFill>
                <a:latin typeface="TT Chocolates"/>
                <a:ea typeface="TT Chocolates"/>
                <a:cs typeface="TT Chocolates"/>
                <a:sym typeface="TT Chocolates"/>
              </a:rPr>
              <a:t>proceso</a:t>
            </a:r>
            <a:r>
              <a:rPr lang="en-US" sz="4207" dirty="0">
                <a:solidFill>
                  <a:srgbClr val="F6E7D8"/>
                </a:solidFill>
                <a:latin typeface="TT Chocolates"/>
                <a:ea typeface="TT Chocolates"/>
                <a:cs typeface="TT Chocolates"/>
                <a:sym typeface="TT Chocolates"/>
              </a:rPr>
              <a:t> de </a:t>
            </a:r>
            <a:r>
              <a:rPr lang="en-US" sz="4207" dirty="0" err="1">
                <a:solidFill>
                  <a:srgbClr val="F6E7D8"/>
                </a:solidFill>
                <a:latin typeface="TT Chocolates"/>
                <a:ea typeface="TT Chocolates"/>
                <a:cs typeface="TT Chocolates"/>
                <a:sym typeface="TT Chocolates"/>
              </a:rPr>
              <a:t>muestreo</a:t>
            </a:r>
            <a:r>
              <a:rPr lang="en-US" sz="4207" dirty="0">
                <a:solidFill>
                  <a:srgbClr val="F6E7D8"/>
                </a:solidFill>
                <a:latin typeface="TT Chocolates"/>
                <a:ea typeface="TT Chocolates"/>
                <a:cs typeface="TT Chocolates"/>
                <a:sym typeface="TT Chocolates"/>
              </a:rPr>
              <a:t> se </a:t>
            </a:r>
            <a:r>
              <a:rPr lang="en-US" sz="4207" dirty="0" err="1">
                <a:solidFill>
                  <a:srgbClr val="F6E7D8"/>
                </a:solidFill>
                <a:latin typeface="TT Chocolates"/>
                <a:ea typeface="TT Chocolates"/>
                <a:cs typeface="TT Chocolates"/>
                <a:sym typeface="TT Chocolates"/>
              </a:rPr>
              <a:t>simplifica</a:t>
            </a:r>
            <a:endParaRPr lang="en-US" sz="4207" dirty="0">
              <a:solidFill>
                <a:srgbClr val="F6E7D8"/>
              </a:solidFill>
              <a:latin typeface="TT Chocolates"/>
              <a:ea typeface="TT Chocolates"/>
              <a:cs typeface="TT Chocolates"/>
              <a:sym typeface="TT Chocolates"/>
            </a:endParaRPr>
          </a:p>
          <a:p>
            <a:pPr marL="908433" lvl="1" indent="-454217" algn="l">
              <a:lnSpc>
                <a:spcPts val="5890"/>
              </a:lnSpc>
              <a:buFont typeface="Arial"/>
              <a:buChar char="•"/>
            </a:pPr>
            <a:r>
              <a:rPr lang="en-US" sz="4207" dirty="0">
                <a:solidFill>
                  <a:srgbClr val="F6E7D8"/>
                </a:solidFill>
                <a:latin typeface="TT Chocolates"/>
                <a:ea typeface="TT Chocolates"/>
                <a:cs typeface="TT Chocolates"/>
                <a:sym typeface="TT Chocolates"/>
              </a:rPr>
              <a:t>La </a:t>
            </a:r>
            <a:r>
              <a:rPr lang="en-US" sz="4207" dirty="0" err="1">
                <a:solidFill>
                  <a:srgbClr val="F6E7D8"/>
                </a:solidFill>
                <a:latin typeface="TT Chocolates"/>
                <a:ea typeface="TT Chocolates"/>
                <a:cs typeface="TT Chocolates"/>
                <a:sym typeface="TT Chocolates"/>
              </a:rPr>
              <a:t>integridad</a:t>
            </a:r>
            <a:r>
              <a:rPr lang="en-US" sz="4207" dirty="0">
                <a:solidFill>
                  <a:srgbClr val="F6E7D8"/>
                </a:solidFill>
                <a:latin typeface="TT Chocolates"/>
                <a:ea typeface="TT Chocolates"/>
                <a:cs typeface="TT Chocolates"/>
                <a:sym typeface="TT Chocolates"/>
              </a:rPr>
              <a:t> de </a:t>
            </a:r>
            <a:r>
              <a:rPr lang="en-US" sz="4207" dirty="0" err="1">
                <a:solidFill>
                  <a:srgbClr val="F6E7D8"/>
                </a:solidFill>
                <a:latin typeface="TT Chocolates"/>
                <a:ea typeface="TT Chocolates"/>
                <a:cs typeface="TT Chocolates"/>
                <a:sym typeface="TT Chocolates"/>
              </a:rPr>
              <a:t>los</a:t>
            </a:r>
            <a:r>
              <a:rPr lang="en-US" sz="4207" dirty="0">
                <a:solidFill>
                  <a:srgbClr val="F6E7D8"/>
                </a:solidFill>
                <a:latin typeface="TT Chocolates"/>
                <a:ea typeface="TT Chocolates"/>
                <a:cs typeface="TT Chocolates"/>
                <a:sym typeface="TT Chocolates"/>
              </a:rPr>
              <a:t> </a:t>
            </a:r>
            <a:r>
              <a:rPr lang="en-US" sz="4207" dirty="0" err="1">
                <a:solidFill>
                  <a:srgbClr val="F6E7D8"/>
                </a:solidFill>
                <a:latin typeface="TT Chocolates"/>
                <a:ea typeface="TT Chocolates"/>
                <a:cs typeface="TT Chocolates"/>
                <a:sym typeface="TT Chocolates"/>
              </a:rPr>
              <a:t>datos</a:t>
            </a:r>
            <a:r>
              <a:rPr lang="en-US" sz="4207" dirty="0">
                <a:solidFill>
                  <a:srgbClr val="F6E7D8"/>
                </a:solidFill>
                <a:latin typeface="TT Chocolates"/>
                <a:ea typeface="TT Chocolates"/>
                <a:cs typeface="TT Chocolates"/>
                <a:sym typeface="TT Chocolates"/>
              </a:rPr>
              <a:t> </a:t>
            </a:r>
            <a:r>
              <a:rPr lang="en-US" sz="4207" dirty="0" err="1">
                <a:solidFill>
                  <a:srgbClr val="F6E7D8"/>
                </a:solidFill>
                <a:latin typeface="TT Chocolates"/>
                <a:ea typeface="TT Chocolates"/>
                <a:cs typeface="TT Chocolates"/>
                <a:sym typeface="TT Chocolates"/>
              </a:rPr>
              <a:t>está</a:t>
            </a:r>
            <a:r>
              <a:rPr lang="en-US" sz="4207" dirty="0">
                <a:solidFill>
                  <a:srgbClr val="F6E7D8"/>
                </a:solidFill>
                <a:latin typeface="TT Chocolates"/>
                <a:ea typeface="TT Chocolates"/>
                <a:cs typeface="TT Chocolates"/>
                <a:sym typeface="TT Chocolates"/>
              </a:rPr>
              <a:t> </a:t>
            </a:r>
            <a:r>
              <a:rPr lang="en-US" sz="4207" dirty="0" err="1">
                <a:solidFill>
                  <a:srgbClr val="F6E7D8"/>
                </a:solidFill>
                <a:latin typeface="TT Chocolates"/>
                <a:ea typeface="TT Chocolates"/>
                <a:cs typeface="TT Chocolates"/>
                <a:sym typeface="TT Chocolates"/>
              </a:rPr>
              <a:t>garantizada</a:t>
            </a:r>
            <a:endParaRPr lang="en-US" sz="4207" dirty="0">
              <a:solidFill>
                <a:srgbClr val="F6E7D8"/>
              </a:solidFill>
              <a:latin typeface="TT Chocolates"/>
              <a:ea typeface="TT Chocolates"/>
              <a:cs typeface="TT Chocolates"/>
              <a:sym typeface="TT Chocolates"/>
            </a:endParaRPr>
          </a:p>
          <a:p>
            <a:pPr marL="908433" lvl="1" indent="-454217" algn="l">
              <a:lnSpc>
                <a:spcPts val="5890"/>
              </a:lnSpc>
              <a:buFont typeface="Arial"/>
              <a:buChar char="•"/>
            </a:pPr>
            <a:r>
              <a:rPr lang="en-US" sz="4207" dirty="0">
                <a:solidFill>
                  <a:srgbClr val="F6E7D8"/>
                </a:solidFill>
                <a:latin typeface="TT Chocolates"/>
                <a:ea typeface="TT Chocolates"/>
                <a:cs typeface="TT Chocolates"/>
                <a:sym typeface="TT Chocolates"/>
              </a:rPr>
              <a:t> Se </a:t>
            </a:r>
            <a:r>
              <a:rPr lang="en-US" sz="4207" dirty="0" err="1">
                <a:solidFill>
                  <a:srgbClr val="F6E7D8"/>
                </a:solidFill>
                <a:latin typeface="TT Chocolates"/>
                <a:ea typeface="TT Chocolates"/>
                <a:cs typeface="TT Chocolates"/>
                <a:sym typeface="TT Chocolates"/>
              </a:rPr>
              <a:t>mejora</a:t>
            </a:r>
            <a:r>
              <a:rPr lang="en-US" sz="4207" dirty="0">
                <a:solidFill>
                  <a:srgbClr val="F6E7D8"/>
                </a:solidFill>
                <a:latin typeface="TT Chocolates"/>
                <a:ea typeface="TT Chocolates"/>
                <a:cs typeface="TT Chocolates"/>
                <a:sym typeface="TT Chocolates"/>
              </a:rPr>
              <a:t> la </a:t>
            </a:r>
            <a:r>
              <a:rPr lang="en-US" sz="4207" dirty="0" err="1">
                <a:solidFill>
                  <a:srgbClr val="F6E7D8"/>
                </a:solidFill>
                <a:latin typeface="TT Chocolates"/>
                <a:ea typeface="TT Chocolates"/>
                <a:cs typeface="TT Chocolates"/>
                <a:sym typeface="TT Chocolates"/>
              </a:rPr>
              <a:t>escalabilidad</a:t>
            </a:r>
            <a:r>
              <a:rPr lang="en-US" sz="4207" dirty="0">
                <a:solidFill>
                  <a:srgbClr val="F6E7D8"/>
                </a:solidFill>
                <a:latin typeface="TT Chocolates"/>
                <a:ea typeface="TT Chocolates"/>
                <a:cs typeface="TT Chocolates"/>
                <a:sym typeface="TT Chocolates"/>
              </a:rPr>
              <a:t>. </a:t>
            </a:r>
          </a:p>
          <a:p>
            <a:pPr marL="908433" lvl="1" indent="-454217" algn="l">
              <a:lnSpc>
                <a:spcPts val="5890"/>
              </a:lnSpc>
              <a:buFont typeface="Arial"/>
              <a:buChar char="•"/>
            </a:pPr>
            <a:r>
              <a:rPr lang="en-US" sz="4207" dirty="0">
                <a:solidFill>
                  <a:srgbClr val="F6E7D8"/>
                </a:solidFill>
                <a:latin typeface="TT Chocolates"/>
                <a:ea typeface="TT Chocolates"/>
                <a:cs typeface="TT Chocolates"/>
                <a:sym typeface="TT Chocolates"/>
              </a:rPr>
              <a:t>No hay </a:t>
            </a:r>
            <a:r>
              <a:rPr lang="en-US" sz="4207" dirty="0" err="1">
                <a:solidFill>
                  <a:srgbClr val="F6E7D8"/>
                </a:solidFill>
                <a:latin typeface="TT Chocolates"/>
                <a:ea typeface="TT Chocolates"/>
                <a:cs typeface="TT Chocolates"/>
                <a:sym typeface="TT Chocolates"/>
              </a:rPr>
              <a:t>redundancia</a:t>
            </a:r>
            <a:r>
              <a:rPr lang="en-US" sz="4207" dirty="0">
                <a:solidFill>
                  <a:srgbClr val="F6E7D8"/>
                </a:solidFill>
                <a:latin typeface="TT Chocolates"/>
                <a:ea typeface="TT Chocolates"/>
                <a:cs typeface="TT Chocolates"/>
                <a:sym typeface="TT Chocolates"/>
              </a:rPr>
              <a:t> de </a:t>
            </a:r>
            <a:r>
              <a:rPr lang="en-US" sz="4207" dirty="0" err="1">
                <a:solidFill>
                  <a:srgbClr val="F6E7D8"/>
                </a:solidFill>
                <a:latin typeface="TT Chocolates"/>
                <a:ea typeface="TT Chocolates"/>
                <a:cs typeface="TT Chocolates"/>
                <a:sym typeface="TT Chocolates"/>
              </a:rPr>
              <a:t>datos</a:t>
            </a:r>
            <a:r>
              <a:rPr lang="en-US" sz="4207" dirty="0">
                <a:solidFill>
                  <a:srgbClr val="F6E7D8"/>
                </a:solidFill>
                <a:latin typeface="TT Chocolates"/>
                <a:ea typeface="TT Chocolates"/>
                <a:cs typeface="TT Chocolates"/>
                <a:sym typeface="TT Chocolates"/>
              </a:rPr>
              <a:t>. </a:t>
            </a:r>
          </a:p>
          <a:p>
            <a:pPr marL="908433" lvl="1" indent="-454217" algn="l">
              <a:lnSpc>
                <a:spcPts val="5890"/>
              </a:lnSpc>
              <a:buFont typeface="Arial"/>
              <a:buChar char="•"/>
            </a:pPr>
            <a:r>
              <a:rPr lang="en-US" sz="4207" dirty="0" err="1">
                <a:solidFill>
                  <a:srgbClr val="F6E7D8"/>
                </a:solidFill>
                <a:latin typeface="TT Chocolates"/>
                <a:ea typeface="TT Chocolates"/>
                <a:cs typeface="TT Chocolates"/>
                <a:sym typeface="TT Chocolates"/>
              </a:rPr>
              <a:t>Ausencia</a:t>
            </a:r>
            <a:r>
              <a:rPr lang="en-US" sz="4207" dirty="0">
                <a:solidFill>
                  <a:srgbClr val="F6E7D8"/>
                </a:solidFill>
                <a:latin typeface="TT Chocolates"/>
                <a:ea typeface="TT Chocolates"/>
                <a:cs typeface="TT Chocolates"/>
                <a:sym typeface="TT Chocolates"/>
              </a:rPr>
              <a:t> de </a:t>
            </a:r>
            <a:r>
              <a:rPr lang="en-US" sz="4207" dirty="0" err="1">
                <a:solidFill>
                  <a:srgbClr val="F6E7D8"/>
                </a:solidFill>
                <a:latin typeface="TT Chocolates"/>
                <a:ea typeface="TT Chocolates"/>
                <a:cs typeface="TT Chocolates"/>
                <a:sym typeface="TT Chocolates"/>
              </a:rPr>
              <a:t>dependencias</a:t>
            </a:r>
            <a:r>
              <a:rPr lang="en-US" sz="4207" dirty="0">
                <a:solidFill>
                  <a:srgbClr val="F6E7D8"/>
                </a:solidFill>
                <a:latin typeface="TT Chocolates"/>
                <a:ea typeface="TT Chocolates"/>
                <a:cs typeface="TT Chocolates"/>
                <a:sym typeface="TT Chocolates"/>
              </a:rPr>
              <a:t> </a:t>
            </a:r>
            <a:r>
              <a:rPr lang="en-US" sz="4207" dirty="0" err="1">
                <a:solidFill>
                  <a:srgbClr val="F6E7D8"/>
                </a:solidFill>
                <a:latin typeface="TT Chocolates"/>
                <a:ea typeface="TT Chocolates"/>
                <a:cs typeface="TT Chocolates"/>
                <a:sym typeface="TT Chocolates"/>
              </a:rPr>
              <a:t>incoherentes</a:t>
            </a:r>
            <a:r>
              <a:rPr lang="en-US" sz="4207" dirty="0">
                <a:solidFill>
                  <a:srgbClr val="F6E7D8"/>
                </a:solidFill>
                <a:latin typeface="TT Chocolates"/>
                <a:ea typeface="TT Chocolates"/>
                <a:cs typeface="TT Chocolates"/>
                <a:sym typeface="TT Chocolates"/>
              </a:rPr>
              <a: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grpSp>
        <p:nvGrpSpPr>
          <p:cNvPr id="2" name="Group 2"/>
          <p:cNvGrpSpPr/>
          <p:nvPr/>
        </p:nvGrpSpPr>
        <p:grpSpPr>
          <a:xfrm>
            <a:off x="-98522" y="1972262"/>
            <a:ext cx="18900063" cy="8701695"/>
            <a:chOff x="0" y="0"/>
            <a:chExt cx="6393355" cy="2943536"/>
          </a:xfrm>
        </p:grpSpPr>
        <p:sp>
          <p:nvSpPr>
            <p:cNvPr id="3" name="Freeform 3"/>
            <p:cNvSpPr/>
            <p:nvPr/>
          </p:nvSpPr>
          <p:spPr>
            <a:xfrm>
              <a:off x="0" y="0"/>
              <a:ext cx="6393355" cy="2943536"/>
            </a:xfrm>
            <a:custGeom>
              <a:avLst/>
              <a:gdLst/>
              <a:ahLst/>
              <a:cxnLst/>
              <a:rect l="l" t="t" r="r" b="b"/>
              <a:pathLst>
                <a:path w="6393355" h="2943536">
                  <a:moveTo>
                    <a:pt x="0" y="0"/>
                  </a:moveTo>
                  <a:lnTo>
                    <a:pt x="6393355" y="0"/>
                  </a:lnTo>
                  <a:lnTo>
                    <a:pt x="6393355" y="2943536"/>
                  </a:lnTo>
                  <a:lnTo>
                    <a:pt x="0" y="2943536"/>
                  </a:lnTo>
                  <a:close/>
                </a:path>
              </a:pathLst>
            </a:custGeom>
            <a:solidFill>
              <a:srgbClr val="C1FF72"/>
            </a:solidFill>
          </p:spPr>
          <p:txBody>
            <a:bodyPr/>
            <a:lstStyle/>
            <a:p>
              <a:endParaRPr lang="es-BO"/>
            </a:p>
          </p:txBody>
        </p:sp>
      </p:grpSp>
      <p:sp>
        <p:nvSpPr>
          <p:cNvPr id="4" name="Freeform 4"/>
          <p:cNvSpPr/>
          <p:nvPr/>
        </p:nvSpPr>
        <p:spPr>
          <a:xfrm rot="2883810">
            <a:off x="-15915935" y="2296903"/>
            <a:ext cx="28814617" cy="11916826"/>
          </a:xfrm>
          <a:custGeom>
            <a:avLst/>
            <a:gdLst/>
            <a:ahLst/>
            <a:cxnLst/>
            <a:rect l="l" t="t" r="r" b="b"/>
            <a:pathLst>
              <a:path w="28814617" h="11916826">
                <a:moveTo>
                  <a:pt x="0" y="0"/>
                </a:moveTo>
                <a:lnTo>
                  <a:pt x="28814616" y="0"/>
                </a:lnTo>
                <a:lnTo>
                  <a:pt x="28814616" y="11916826"/>
                </a:lnTo>
                <a:lnTo>
                  <a:pt x="0" y="119168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5" name="Freeform 5"/>
          <p:cNvSpPr/>
          <p:nvPr/>
        </p:nvSpPr>
        <p:spPr>
          <a:xfrm rot="-7851461">
            <a:off x="4737448" y="-6017623"/>
            <a:ext cx="28814617" cy="11916826"/>
          </a:xfrm>
          <a:custGeom>
            <a:avLst/>
            <a:gdLst/>
            <a:ahLst/>
            <a:cxnLst/>
            <a:rect l="l" t="t" r="r" b="b"/>
            <a:pathLst>
              <a:path w="28814617" h="11916826">
                <a:moveTo>
                  <a:pt x="0" y="0"/>
                </a:moveTo>
                <a:lnTo>
                  <a:pt x="28814617" y="0"/>
                </a:lnTo>
                <a:lnTo>
                  <a:pt x="28814617" y="11916826"/>
                </a:lnTo>
                <a:lnTo>
                  <a:pt x="0" y="119168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6" name="Freeform 6"/>
          <p:cNvSpPr/>
          <p:nvPr/>
        </p:nvSpPr>
        <p:spPr>
          <a:xfrm>
            <a:off x="1772157" y="2631461"/>
            <a:ext cx="5385537" cy="6785777"/>
          </a:xfrm>
          <a:custGeom>
            <a:avLst/>
            <a:gdLst/>
            <a:ahLst/>
            <a:cxnLst/>
            <a:rect l="l" t="t" r="r" b="b"/>
            <a:pathLst>
              <a:path w="5385537" h="6785777">
                <a:moveTo>
                  <a:pt x="0" y="0"/>
                </a:moveTo>
                <a:lnTo>
                  <a:pt x="5385538" y="0"/>
                </a:lnTo>
                <a:lnTo>
                  <a:pt x="5385538" y="6785777"/>
                </a:lnTo>
                <a:lnTo>
                  <a:pt x="0" y="6785777"/>
                </a:lnTo>
                <a:lnTo>
                  <a:pt x="0" y="0"/>
                </a:lnTo>
                <a:close/>
              </a:path>
            </a:pathLst>
          </a:custGeom>
          <a:blipFill>
            <a:blip r:embed="rId4"/>
            <a:stretch>
              <a:fillRect/>
            </a:stretch>
          </a:blipFill>
        </p:spPr>
        <p:txBody>
          <a:bodyPr/>
          <a:lstStyle/>
          <a:p>
            <a:endParaRPr lang="es-BO"/>
          </a:p>
        </p:txBody>
      </p:sp>
      <p:sp>
        <p:nvSpPr>
          <p:cNvPr id="7" name="TextBox 7"/>
          <p:cNvSpPr txBox="1"/>
          <p:nvPr/>
        </p:nvSpPr>
        <p:spPr>
          <a:xfrm>
            <a:off x="1028700" y="591502"/>
            <a:ext cx="16230600" cy="931545"/>
          </a:xfrm>
          <a:prstGeom prst="rect">
            <a:avLst/>
          </a:prstGeom>
        </p:spPr>
        <p:txBody>
          <a:bodyPr lIns="0" tIns="0" rIns="0" bIns="0" rtlCol="0" anchor="t">
            <a:spAutoFit/>
          </a:bodyPr>
          <a:lstStyle/>
          <a:p>
            <a:pPr algn="ctr">
              <a:lnSpc>
                <a:spcPts val="7215"/>
              </a:lnSpc>
            </a:pPr>
            <a:r>
              <a:rPr lang="en-US" sz="6500" spc="130" dirty="0" err="1">
                <a:solidFill>
                  <a:srgbClr val="C1FF72"/>
                </a:solidFill>
                <a:latin typeface="Bree Serif"/>
                <a:ea typeface="Bree Serif"/>
                <a:cs typeface="Bree Serif"/>
                <a:sym typeface="Bree Serif"/>
              </a:rPr>
              <a:t>Impotancia</a:t>
            </a:r>
            <a:endParaRPr lang="en-US" sz="6500" spc="130" dirty="0">
              <a:solidFill>
                <a:srgbClr val="C1FF72"/>
              </a:solidFill>
              <a:latin typeface="Bree Serif"/>
              <a:ea typeface="Bree Serif"/>
              <a:cs typeface="Bree Serif"/>
              <a:sym typeface="Bree Serif"/>
            </a:endParaRPr>
          </a:p>
        </p:txBody>
      </p:sp>
      <p:sp>
        <p:nvSpPr>
          <p:cNvPr id="8" name="TextBox 8"/>
          <p:cNvSpPr txBox="1"/>
          <p:nvPr/>
        </p:nvSpPr>
        <p:spPr>
          <a:xfrm>
            <a:off x="8807807" y="2439465"/>
            <a:ext cx="9035992" cy="7198345"/>
          </a:xfrm>
          <a:prstGeom prst="rect">
            <a:avLst/>
          </a:prstGeom>
        </p:spPr>
        <p:txBody>
          <a:bodyPr lIns="0" tIns="0" rIns="0" bIns="0" rtlCol="0" anchor="t">
            <a:spAutoFit/>
          </a:bodyPr>
          <a:lstStyle/>
          <a:p>
            <a:pPr algn="l">
              <a:lnSpc>
                <a:spcPts val="4376"/>
              </a:lnSpc>
            </a:pPr>
            <a:r>
              <a:rPr lang="en-US" sz="3943" b="1" spc="78">
                <a:solidFill>
                  <a:srgbClr val="372F31"/>
                </a:solidFill>
                <a:latin typeface="Glacial Indifference Bold"/>
                <a:ea typeface="Glacial Indifference Bold"/>
                <a:cs typeface="Glacial Indifference Bold"/>
                <a:sym typeface="Glacial Indifference Bold"/>
              </a:rPr>
              <a:t>Gestión Eficaz de Datos Complejos:</a:t>
            </a:r>
          </a:p>
          <a:p>
            <a:pPr algn="l">
              <a:lnSpc>
                <a:spcPts val="4376"/>
              </a:lnSpc>
            </a:pPr>
            <a:r>
              <a:rPr lang="en-US" sz="3943" b="1" spc="78">
                <a:solidFill>
                  <a:srgbClr val="372F31"/>
                </a:solidFill>
                <a:latin typeface="Glacial Indifference Bold"/>
                <a:ea typeface="Glacial Indifference Bold"/>
                <a:cs typeface="Glacial Indifference Bold"/>
                <a:sym typeface="Glacial Indifference Bold"/>
              </a:rPr>
              <a:t> Organizar, consultar y mantener grandes volúmenes de datos</a:t>
            </a:r>
          </a:p>
          <a:p>
            <a:pPr algn="l">
              <a:lnSpc>
                <a:spcPts val="4376"/>
              </a:lnSpc>
            </a:pPr>
            <a:endParaRPr lang="en-US" sz="3943" b="1" spc="78">
              <a:solidFill>
                <a:srgbClr val="372F31"/>
              </a:solidFill>
              <a:latin typeface="Glacial Indifference Bold"/>
              <a:ea typeface="Glacial Indifference Bold"/>
              <a:cs typeface="Glacial Indifference Bold"/>
              <a:sym typeface="Glacial Indifference Bold"/>
            </a:endParaRPr>
          </a:p>
          <a:p>
            <a:pPr algn="l">
              <a:lnSpc>
                <a:spcPts val="4376"/>
              </a:lnSpc>
            </a:pPr>
            <a:r>
              <a:rPr lang="en-US" sz="3943" b="1" spc="78">
                <a:solidFill>
                  <a:srgbClr val="372F31"/>
                </a:solidFill>
                <a:latin typeface="Glacial Indifference Bold"/>
                <a:ea typeface="Glacial Indifference Bold"/>
                <a:cs typeface="Glacial Indifference Bold"/>
                <a:sym typeface="Glacial Indifference Bold"/>
              </a:rPr>
              <a:t>Una Necesidad Histórica: </a:t>
            </a:r>
          </a:p>
          <a:p>
            <a:pPr algn="l">
              <a:lnSpc>
                <a:spcPts val="4376"/>
              </a:lnSpc>
            </a:pPr>
            <a:r>
              <a:rPr lang="en-US" sz="3943" b="1" spc="78">
                <a:solidFill>
                  <a:srgbClr val="372F31"/>
                </a:solidFill>
                <a:latin typeface="Glacial Indifference Bold"/>
                <a:ea typeface="Glacial Indifference Bold"/>
                <a:cs typeface="Glacial Indifference Bold"/>
                <a:sym typeface="Glacial Indifference Bold"/>
              </a:rPr>
              <a:t>Dificultades para gestionar datos desde la década de 1960</a:t>
            </a:r>
          </a:p>
          <a:p>
            <a:pPr algn="l">
              <a:lnSpc>
                <a:spcPts val="4376"/>
              </a:lnSpc>
            </a:pPr>
            <a:endParaRPr lang="en-US" sz="3943" b="1" spc="78">
              <a:solidFill>
                <a:srgbClr val="372F31"/>
              </a:solidFill>
              <a:latin typeface="Glacial Indifference Bold"/>
              <a:ea typeface="Glacial Indifference Bold"/>
              <a:cs typeface="Glacial Indifference Bold"/>
              <a:sym typeface="Glacial Indifference Bold"/>
            </a:endParaRPr>
          </a:p>
          <a:p>
            <a:pPr algn="l">
              <a:lnSpc>
                <a:spcPts val="4376"/>
              </a:lnSpc>
            </a:pPr>
            <a:r>
              <a:rPr lang="en-US" sz="3943" b="1" spc="78">
                <a:solidFill>
                  <a:srgbClr val="372F31"/>
                </a:solidFill>
                <a:latin typeface="Glacial Indifference Bold"/>
                <a:ea typeface="Glacial Indifference Bold"/>
                <a:cs typeface="Glacial Indifference Bold"/>
                <a:sym typeface="Glacial Indifference Bold"/>
              </a:rPr>
              <a:t>El Legado de Edgar F. Codd: En 1970, evitar dependencias "indeseables"</a:t>
            </a:r>
          </a:p>
          <a:p>
            <a:pPr algn="l">
              <a:lnSpc>
                <a:spcPts val="4376"/>
              </a:lnSpc>
            </a:pPr>
            <a:endParaRPr lang="en-US" sz="3943" b="1" spc="78">
              <a:solidFill>
                <a:srgbClr val="372F31"/>
              </a:solidFill>
              <a:latin typeface="Glacial Indifference Bold"/>
              <a:ea typeface="Glacial Indifference Bold"/>
              <a:cs typeface="Glacial Indifference Bold"/>
              <a:sym typeface="Glacial Indifference Bold"/>
            </a:endParaRPr>
          </a:p>
          <a:p>
            <a:pPr algn="l">
              <a:lnSpc>
                <a:spcPts val="4376"/>
              </a:lnSpc>
            </a:pPr>
            <a:r>
              <a:rPr lang="en-US" sz="3943" b="1" spc="78">
                <a:solidFill>
                  <a:srgbClr val="372F31"/>
                </a:solidFill>
                <a:latin typeface="Glacial Indifference Bold"/>
                <a:ea typeface="Glacial Indifference Bold"/>
                <a:cs typeface="Glacial Indifference Bold"/>
                <a:sym typeface="Glacial Indifference Bold"/>
              </a:rPr>
              <a:t>Prevención de Riesgos:incoherencia o la pérdida de datos.</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2847459">
            <a:off x="-7953033" y="4690231"/>
            <a:ext cx="20170665" cy="8341957"/>
          </a:xfrm>
          <a:custGeom>
            <a:avLst/>
            <a:gdLst/>
            <a:ahLst/>
            <a:cxnLst/>
            <a:rect l="l" t="t" r="r" b="b"/>
            <a:pathLst>
              <a:path w="20170665" h="8341957">
                <a:moveTo>
                  <a:pt x="0" y="0"/>
                </a:moveTo>
                <a:lnTo>
                  <a:pt x="20170665" y="0"/>
                </a:lnTo>
                <a:lnTo>
                  <a:pt x="20170665" y="8341957"/>
                </a:lnTo>
                <a:lnTo>
                  <a:pt x="0" y="83419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rot="2847459">
            <a:off x="-9271564" y="5990638"/>
            <a:ext cx="20170665" cy="8341957"/>
          </a:xfrm>
          <a:custGeom>
            <a:avLst/>
            <a:gdLst/>
            <a:ahLst/>
            <a:cxnLst/>
            <a:rect l="l" t="t" r="r" b="b"/>
            <a:pathLst>
              <a:path w="20170665" h="8341957">
                <a:moveTo>
                  <a:pt x="0" y="0"/>
                </a:moveTo>
                <a:lnTo>
                  <a:pt x="20170665" y="0"/>
                </a:lnTo>
                <a:lnTo>
                  <a:pt x="20170665" y="8341957"/>
                </a:lnTo>
                <a:lnTo>
                  <a:pt x="0" y="83419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TextBox 4"/>
          <p:cNvSpPr txBox="1"/>
          <p:nvPr/>
        </p:nvSpPr>
        <p:spPr>
          <a:xfrm>
            <a:off x="2132299" y="3728341"/>
            <a:ext cx="7903124" cy="5314774"/>
          </a:xfrm>
          <a:prstGeom prst="rect">
            <a:avLst/>
          </a:prstGeom>
        </p:spPr>
        <p:txBody>
          <a:bodyPr lIns="0" tIns="0" rIns="0" bIns="0" rtlCol="0" anchor="t">
            <a:spAutoFit/>
          </a:bodyPr>
          <a:lstStyle/>
          <a:p>
            <a:pPr algn="l">
              <a:lnSpc>
                <a:spcPts val="5259"/>
              </a:lnSpc>
            </a:pPr>
            <a:r>
              <a:rPr lang="en-US" sz="3756" b="1">
                <a:solidFill>
                  <a:srgbClr val="F6E7D8"/>
                </a:solidFill>
                <a:latin typeface="TT Chocolates Bold"/>
                <a:ea typeface="TT Chocolates Bold"/>
                <a:cs typeface="TT Chocolates Bold"/>
                <a:sym typeface="TT Chocolates Bold"/>
              </a:rPr>
              <a:t>Prevención de anomalías de datos</a:t>
            </a:r>
          </a:p>
          <a:p>
            <a:pPr algn="l">
              <a:lnSpc>
                <a:spcPts val="5259"/>
              </a:lnSpc>
            </a:pPr>
            <a:r>
              <a:rPr lang="en-US" sz="3756">
                <a:solidFill>
                  <a:srgbClr val="F6E7D8"/>
                </a:solidFill>
                <a:latin typeface="TT Chocolates"/>
                <a:ea typeface="TT Chocolates"/>
                <a:cs typeface="TT Chocolates"/>
                <a:sym typeface="TT Chocolates"/>
              </a:rPr>
              <a:t>tablas grandes y complejas en pequeñas y sencillas</a:t>
            </a:r>
          </a:p>
          <a:p>
            <a:pPr algn="l">
              <a:lnSpc>
                <a:spcPts val="5259"/>
              </a:lnSpc>
            </a:pPr>
            <a:endParaRPr lang="en-US" sz="3756">
              <a:solidFill>
                <a:srgbClr val="F6E7D8"/>
              </a:solidFill>
              <a:latin typeface="TT Chocolates"/>
              <a:ea typeface="TT Chocolates"/>
              <a:cs typeface="TT Chocolates"/>
              <a:sym typeface="TT Chocolates"/>
            </a:endParaRPr>
          </a:p>
          <a:p>
            <a:pPr algn="l">
              <a:lnSpc>
                <a:spcPts val="5259"/>
              </a:lnSpc>
            </a:pPr>
            <a:r>
              <a:rPr lang="en-US" sz="3756" b="1">
                <a:solidFill>
                  <a:srgbClr val="F6E7D8"/>
                </a:solidFill>
                <a:latin typeface="TT Chocolates Bold"/>
                <a:ea typeface="TT Chocolates Bold"/>
                <a:cs typeface="TT Chocolates Bold"/>
                <a:sym typeface="TT Chocolates Bold"/>
              </a:rPr>
              <a:t>Reducción de redundancia involuntaria</a:t>
            </a:r>
          </a:p>
          <a:p>
            <a:pPr algn="l">
              <a:lnSpc>
                <a:spcPts val="5259"/>
              </a:lnSpc>
            </a:pPr>
            <a:r>
              <a:rPr lang="en-US" sz="3756" b="1">
                <a:solidFill>
                  <a:srgbClr val="F6E7D8"/>
                </a:solidFill>
                <a:latin typeface="TT Chocolates Bold"/>
                <a:ea typeface="TT Chocolates Bold"/>
                <a:cs typeface="TT Chocolates Bold"/>
                <a:sym typeface="TT Chocolates Bold"/>
              </a:rPr>
              <a:t>D</a:t>
            </a:r>
            <a:r>
              <a:rPr lang="en-US" sz="3756">
                <a:solidFill>
                  <a:srgbClr val="F6E7D8"/>
                </a:solidFill>
                <a:latin typeface="TT Chocolates"/>
                <a:ea typeface="TT Chocolates"/>
                <a:cs typeface="TT Chocolates"/>
                <a:sym typeface="TT Chocolates"/>
              </a:rPr>
              <a:t>atos duplicados por error</a:t>
            </a:r>
          </a:p>
          <a:p>
            <a:pPr algn="l">
              <a:lnSpc>
                <a:spcPts val="5259"/>
              </a:lnSpc>
            </a:pPr>
            <a:endParaRPr lang="en-US" sz="3756">
              <a:solidFill>
                <a:srgbClr val="F6E7D8"/>
              </a:solidFill>
              <a:latin typeface="TT Chocolates"/>
              <a:ea typeface="TT Chocolates"/>
              <a:cs typeface="TT Chocolates"/>
              <a:sym typeface="TT Chocolates"/>
            </a:endParaRPr>
          </a:p>
        </p:txBody>
      </p:sp>
      <p:sp>
        <p:nvSpPr>
          <p:cNvPr id="5" name="TextBox 5"/>
          <p:cNvSpPr txBox="1"/>
          <p:nvPr/>
        </p:nvSpPr>
        <p:spPr>
          <a:xfrm>
            <a:off x="6987217" y="1838677"/>
            <a:ext cx="5037213" cy="1038746"/>
          </a:xfrm>
          <a:prstGeom prst="rect">
            <a:avLst/>
          </a:prstGeom>
        </p:spPr>
        <p:txBody>
          <a:bodyPr wrap="square" lIns="0" tIns="0" rIns="0" bIns="0" rtlCol="0" anchor="t">
            <a:spAutoFit/>
          </a:bodyPr>
          <a:lstStyle/>
          <a:p>
            <a:pPr algn="l">
              <a:lnSpc>
                <a:spcPts val="8102"/>
              </a:lnSpc>
            </a:pPr>
            <a:r>
              <a:rPr lang="en-US" sz="7299" spc="145" dirty="0" err="1">
                <a:solidFill>
                  <a:srgbClr val="C1FF72"/>
                </a:solidFill>
                <a:latin typeface="Bree Serif" panose="020B0604020202020204" charset="0"/>
                <a:ea typeface="TT Chocolates"/>
                <a:cs typeface="TT Chocolates"/>
                <a:sym typeface="TT Chocolates"/>
              </a:rPr>
              <a:t>Beneficios</a:t>
            </a:r>
            <a:endParaRPr lang="en-US" sz="7299" spc="145" dirty="0">
              <a:solidFill>
                <a:srgbClr val="C1FF72"/>
              </a:solidFill>
              <a:latin typeface="Bree Serif" panose="020B0604020202020204" charset="0"/>
              <a:ea typeface="TT Chocolates"/>
              <a:cs typeface="TT Chocolates"/>
              <a:sym typeface="TT Chocolates"/>
            </a:endParaRPr>
          </a:p>
        </p:txBody>
      </p:sp>
      <p:sp>
        <p:nvSpPr>
          <p:cNvPr id="6" name="TextBox 6"/>
          <p:cNvSpPr txBox="1"/>
          <p:nvPr/>
        </p:nvSpPr>
        <p:spPr>
          <a:xfrm>
            <a:off x="10138359" y="3728341"/>
            <a:ext cx="7903124" cy="4648024"/>
          </a:xfrm>
          <a:prstGeom prst="rect">
            <a:avLst/>
          </a:prstGeom>
        </p:spPr>
        <p:txBody>
          <a:bodyPr lIns="0" tIns="0" rIns="0" bIns="0" rtlCol="0" anchor="t">
            <a:spAutoFit/>
          </a:bodyPr>
          <a:lstStyle/>
          <a:p>
            <a:pPr algn="l">
              <a:lnSpc>
                <a:spcPts val="5259"/>
              </a:lnSpc>
            </a:pPr>
            <a:r>
              <a:rPr lang="en-US" sz="3756" b="1">
                <a:solidFill>
                  <a:srgbClr val="F6E7D8"/>
                </a:solidFill>
                <a:latin typeface="TT Chocolates Bold"/>
                <a:ea typeface="TT Chocolates Bold"/>
                <a:cs typeface="TT Chocolates Bold"/>
                <a:sym typeface="TT Chocolates Bold"/>
              </a:rPr>
              <a:t>Ahorro de costos de almacenamiento</a:t>
            </a:r>
          </a:p>
          <a:p>
            <a:pPr algn="l">
              <a:lnSpc>
                <a:spcPts val="5259"/>
              </a:lnSpc>
            </a:pPr>
            <a:r>
              <a:rPr lang="en-US" sz="3756" b="1">
                <a:solidFill>
                  <a:srgbClr val="F6E7D8"/>
                </a:solidFill>
                <a:latin typeface="TT Chocolates Bold"/>
                <a:ea typeface="TT Chocolates Bold"/>
                <a:cs typeface="TT Chocolates Bold"/>
                <a:sym typeface="TT Chocolates Bold"/>
              </a:rPr>
              <a:t>Recuperación de datos más rápida</a:t>
            </a:r>
          </a:p>
          <a:p>
            <a:pPr algn="l">
              <a:lnSpc>
                <a:spcPts val="5259"/>
              </a:lnSpc>
            </a:pPr>
            <a:r>
              <a:rPr lang="en-US" sz="3756">
                <a:solidFill>
                  <a:srgbClr val="F6E7D8"/>
                </a:solidFill>
                <a:latin typeface="TT Chocolates"/>
                <a:ea typeface="TT Chocolates"/>
                <a:cs typeface="TT Chocolates"/>
                <a:sym typeface="TT Chocolates"/>
              </a:rPr>
              <a:t>Esto es vital hoy en día en la nube</a:t>
            </a:r>
          </a:p>
          <a:p>
            <a:pPr algn="l">
              <a:lnSpc>
                <a:spcPts val="5259"/>
              </a:lnSpc>
            </a:pPr>
            <a:endParaRPr lang="en-US" sz="3756">
              <a:solidFill>
                <a:srgbClr val="F6E7D8"/>
              </a:solidFill>
              <a:latin typeface="TT Chocolates"/>
              <a:ea typeface="TT Chocolates"/>
              <a:cs typeface="TT Chocolates"/>
              <a:sym typeface="TT Chocolates"/>
            </a:endParaRPr>
          </a:p>
          <a:p>
            <a:pPr algn="l">
              <a:lnSpc>
                <a:spcPts val="5259"/>
              </a:lnSpc>
            </a:pPr>
            <a:r>
              <a:rPr lang="en-US" sz="3756" b="1">
                <a:solidFill>
                  <a:srgbClr val="F6E7D8"/>
                </a:solidFill>
                <a:latin typeface="TT Chocolates Bold"/>
                <a:ea typeface="TT Chocolates Bold"/>
                <a:cs typeface="TT Chocolates Bold"/>
                <a:sym typeface="TT Chocolates Bold"/>
              </a:rPr>
              <a:t>Recuperación de datos más rápida</a:t>
            </a:r>
          </a:p>
          <a:p>
            <a:pPr algn="l">
              <a:lnSpc>
                <a:spcPts val="5259"/>
              </a:lnSpc>
            </a:pPr>
            <a:r>
              <a:rPr lang="en-US" sz="3756">
                <a:solidFill>
                  <a:srgbClr val="F6E7D8"/>
                </a:solidFill>
                <a:latin typeface="TT Chocolates"/>
                <a:ea typeface="TT Chocolates"/>
                <a:cs typeface="TT Chocolates"/>
                <a:sym typeface="TT Chocolates"/>
              </a:rPr>
              <a:t>Las búsquedas y consultas sean mucho más veloces</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9313357">
            <a:off x="4307765" y="-4644720"/>
            <a:ext cx="20170665" cy="8341957"/>
          </a:xfrm>
          <a:custGeom>
            <a:avLst/>
            <a:gdLst/>
            <a:ahLst/>
            <a:cxnLst/>
            <a:rect l="l" t="t" r="r" b="b"/>
            <a:pathLst>
              <a:path w="20170665" h="8341957">
                <a:moveTo>
                  <a:pt x="0" y="0"/>
                </a:moveTo>
                <a:lnTo>
                  <a:pt x="20170665" y="0"/>
                </a:lnTo>
                <a:lnTo>
                  <a:pt x="20170665" y="8341957"/>
                </a:lnTo>
                <a:lnTo>
                  <a:pt x="0" y="83419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rot="-9313357">
            <a:off x="5022913" y="-6352978"/>
            <a:ext cx="20170665" cy="8341957"/>
          </a:xfrm>
          <a:custGeom>
            <a:avLst/>
            <a:gdLst/>
            <a:ahLst/>
            <a:cxnLst/>
            <a:rect l="l" t="t" r="r" b="b"/>
            <a:pathLst>
              <a:path w="20170665" h="8341957">
                <a:moveTo>
                  <a:pt x="0" y="0"/>
                </a:moveTo>
                <a:lnTo>
                  <a:pt x="20170665" y="0"/>
                </a:lnTo>
                <a:lnTo>
                  <a:pt x="20170665" y="8341957"/>
                </a:lnTo>
                <a:lnTo>
                  <a:pt x="0" y="83419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AutoShape 4"/>
          <p:cNvSpPr/>
          <p:nvPr/>
        </p:nvSpPr>
        <p:spPr>
          <a:xfrm rot="5043">
            <a:off x="1028691" y="6000202"/>
            <a:ext cx="16230617" cy="0"/>
          </a:xfrm>
          <a:prstGeom prst="line">
            <a:avLst/>
          </a:prstGeom>
          <a:ln w="19050" cap="rnd">
            <a:solidFill>
              <a:srgbClr val="C5C5C5"/>
            </a:solidFill>
            <a:prstDash val="solid"/>
            <a:headEnd type="none" w="sm" len="sm"/>
            <a:tailEnd type="none" w="sm" len="sm"/>
          </a:ln>
        </p:spPr>
        <p:txBody>
          <a:bodyPr/>
          <a:lstStyle/>
          <a:p>
            <a:endParaRPr lang="es-BO"/>
          </a:p>
        </p:txBody>
      </p:sp>
      <p:grpSp>
        <p:nvGrpSpPr>
          <p:cNvPr id="5" name="Group 5"/>
          <p:cNvGrpSpPr/>
          <p:nvPr/>
        </p:nvGrpSpPr>
        <p:grpSpPr>
          <a:xfrm>
            <a:off x="8491836" y="5695551"/>
            <a:ext cx="652164" cy="652164"/>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7A5C3"/>
            </a:solidFill>
          </p:spPr>
          <p:txBody>
            <a:bodyPr/>
            <a:lstStyle/>
            <a:p>
              <a:endParaRPr lang="es-BO"/>
            </a:p>
          </p:txBody>
        </p:sp>
      </p:grpSp>
      <p:sp>
        <p:nvSpPr>
          <p:cNvPr id="7" name="TextBox 7"/>
          <p:cNvSpPr txBox="1"/>
          <p:nvPr/>
        </p:nvSpPr>
        <p:spPr>
          <a:xfrm>
            <a:off x="5895272" y="2711975"/>
            <a:ext cx="5853876" cy="1013023"/>
          </a:xfrm>
          <a:prstGeom prst="rect">
            <a:avLst/>
          </a:prstGeom>
        </p:spPr>
        <p:txBody>
          <a:bodyPr lIns="0" tIns="0" rIns="0" bIns="0" rtlCol="0" anchor="t">
            <a:spAutoFit/>
          </a:bodyPr>
          <a:lstStyle/>
          <a:p>
            <a:pPr algn="ctr">
              <a:lnSpc>
                <a:spcPts val="4071"/>
              </a:lnSpc>
            </a:pPr>
            <a:r>
              <a:rPr lang="en-US" sz="3667" spc="1496">
                <a:solidFill>
                  <a:srgbClr val="F6E7D8"/>
                </a:solidFill>
                <a:latin typeface="TT Chocolates"/>
                <a:ea typeface="TT Chocolates"/>
                <a:cs typeface="TT Chocolates"/>
                <a:sym typeface="TT Chocolates"/>
              </a:rPr>
              <a:t>ANOMALÍA DE INSERCIÓN</a:t>
            </a:r>
          </a:p>
        </p:txBody>
      </p:sp>
      <p:sp>
        <p:nvSpPr>
          <p:cNvPr id="8" name="TextBox 8"/>
          <p:cNvSpPr txBox="1"/>
          <p:nvPr/>
        </p:nvSpPr>
        <p:spPr>
          <a:xfrm>
            <a:off x="5629969" y="3904705"/>
            <a:ext cx="6384480" cy="1544465"/>
          </a:xfrm>
          <a:prstGeom prst="rect">
            <a:avLst/>
          </a:prstGeom>
        </p:spPr>
        <p:txBody>
          <a:bodyPr lIns="0" tIns="0" rIns="0" bIns="0" rtlCol="0" anchor="t">
            <a:spAutoFit/>
          </a:bodyPr>
          <a:lstStyle/>
          <a:p>
            <a:pPr algn="ctr">
              <a:lnSpc>
                <a:spcPts val="4150"/>
              </a:lnSpc>
            </a:pPr>
            <a:r>
              <a:rPr lang="en-US" sz="2964">
                <a:solidFill>
                  <a:srgbClr val="F6E7D8"/>
                </a:solidFill>
                <a:latin typeface="TT Chocolates"/>
                <a:ea typeface="TT Chocolates"/>
                <a:cs typeface="TT Chocolates"/>
                <a:sym typeface="TT Chocolates"/>
              </a:rPr>
              <a:t>Ocurre cuando no puedes dar de alta un nuevo dato porque el sistema te obliga a tener otros datos que aún no conoce</a:t>
            </a:r>
          </a:p>
        </p:txBody>
      </p:sp>
      <p:sp>
        <p:nvSpPr>
          <p:cNvPr id="9" name="TextBox 9"/>
          <p:cNvSpPr txBox="1"/>
          <p:nvPr/>
        </p:nvSpPr>
        <p:spPr>
          <a:xfrm>
            <a:off x="1599597" y="853843"/>
            <a:ext cx="5544381" cy="1128514"/>
          </a:xfrm>
          <a:prstGeom prst="rect">
            <a:avLst/>
          </a:prstGeom>
        </p:spPr>
        <p:txBody>
          <a:bodyPr wrap="square" lIns="0" tIns="0" rIns="0" bIns="0" rtlCol="0" anchor="t">
            <a:spAutoFit/>
          </a:bodyPr>
          <a:lstStyle/>
          <a:p>
            <a:pPr algn="l">
              <a:lnSpc>
                <a:spcPts val="8801"/>
              </a:lnSpc>
            </a:pPr>
            <a:r>
              <a:rPr lang="en-US" sz="7929" spc="158" dirty="0" err="1">
                <a:solidFill>
                  <a:srgbClr val="C1FF72"/>
                </a:solidFill>
                <a:latin typeface="Bree Serif" panose="020B0604020202020204" charset="0"/>
                <a:ea typeface="TT Chocolates"/>
                <a:cs typeface="TT Chocolates"/>
                <a:sym typeface="TT Chocolates"/>
              </a:rPr>
              <a:t>Anomalias</a:t>
            </a:r>
            <a:endParaRPr lang="en-US" sz="7929" spc="158" dirty="0">
              <a:solidFill>
                <a:srgbClr val="C1FF72"/>
              </a:solidFill>
              <a:latin typeface="Bree Serif" panose="020B0604020202020204" charset="0"/>
              <a:ea typeface="TT Chocolates"/>
              <a:cs typeface="TT Chocolates"/>
              <a:sym typeface="TT Chocolates"/>
            </a:endParaRPr>
          </a:p>
        </p:txBody>
      </p:sp>
      <p:grpSp>
        <p:nvGrpSpPr>
          <p:cNvPr id="10" name="Group 10"/>
          <p:cNvGrpSpPr/>
          <p:nvPr/>
        </p:nvGrpSpPr>
        <p:grpSpPr>
          <a:xfrm>
            <a:off x="4042892" y="5671739"/>
            <a:ext cx="652164" cy="652164"/>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7A5C3"/>
            </a:solidFill>
          </p:spPr>
          <p:txBody>
            <a:bodyPr/>
            <a:lstStyle/>
            <a:p>
              <a:endParaRPr lang="es-BO"/>
            </a:p>
          </p:txBody>
        </p:sp>
      </p:grpSp>
      <p:grpSp>
        <p:nvGrpSpPr>
          <p:cNvPr id="12" name="Group 12"/>
          <p:cNvGrpSpPr/>
          <p:nvPr/>
        </p:nvGrpSpPr>
        <p:grpSpPr>
          <a:xfrm>
            <a:off x="13191562" y="5695551"/>
            <a:ext cx="652164" cy="652164"/>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7A5C3"/>
            </a:solidFill>
          </p:spPr>
          <p:txBody>
            <a:bodyPr/>
            <a:lstStyle/>
            <a:p>
              <a:endParaRPr lang="es-BO"/>
            </a:p>
          </p:txBody>
        </p:sp>
      </p:grpSp>
      <p:sp>
        <p:nvSpPr>
          <p:cNvPr id="14" name="TextBox 14"/>
          <p:cNvSpPr txBox="1"/>
          <p:nvPr/>
        </p:nvSpPr>
        <p:spPr>
          <a:xfrm>
            <a:off x="1290103" y="6633465"/>
            <a:ext cx="5853876" cy="1013023"/>
          </a:xfrm>
          <a:prstGeom prst="rect">
            <a:avLst/>
          </a:prstGeom>
        </p:spPr>
        <p:txBody>
          <a:bodyPr lIns="0" tIns="0" rIns="0" bIns="0" rtlCol="0" anchor="t">
            <a:spAutoFit/>
          </a:bodyPr>
          <a:lstStyle/>
          <a:p>
            <a:pPr algn="ctr">
              <a:lnSpc>
                <a:spcPts val="4071"/>
              </a:lnSpc>
            </a:pPr>
            <a:r>
              <a:rPr lang="en-US" sz="3667" spc="1496">
                <a:solidFill>
                  <a:srgbClr val="F6E7D8"/>
                </a:solidFill>
                <a:latin typeface="TT Chocolates"/>
                <a:ea typeface="TT Chocolates"/>
                <a:cs typeface="TT Chocolates"/>
                <a:sym typeface="TT Chocolates"/>
              </a:rPr>
              <a:t>ANOMALÍA DE ELIMINACIÓN</a:t>
            </a:r>
          </a:p>
        </p:txBody>
      </p:sp>
      <p:sp>
        <p:nvSpPr>
          <p:cNvPr id="15" name="TextBox 15"/>
          <p:cNvSpPr txBox="1"/>
          <p:nvPr/>
        </p:nvSpPr>
        <p:spPr>
          <a:xfrm>
            <a:off x="932090" y="7724214"/>
            <a:ext cx="6569903" cy="1026974"/>
          </a:xfrm>
          <a:prstGeom prst="rect">
            <a:avLst/>
          </a:prstGeom>
        </p:spPr>
        <p:txBody>
          <a:bodyPr lIns="0" tIns="0" rIns="0" bIns="0" rtlCol="0" anchor="t">
            <a:spAutoFit/>
          </a:bodyPr>
          <a:lstStyle/>
          <a:p>
            <a:pPr algn="ctr">
              <a:lnSpc>
                <a:spcPts val="4151"/>
              </a:lnSpc>
            </a:pPr>
            <a:r>
              <a:rPr lang="en-US" sz="2965">
                <a:solidFill>
                  <a:srgbClr val="F6E7D8"/>
                </a:solidFill>
                <a:latin typeface="TT Chocolates"/>
                <a:ea typeface="TT Chocolates"/>
                <a:cs typeface="TT Chocolates"/>
                <a:sym typeface="TT Chocolates"/>
              </a:rPr>
              <a:t>Es el riesgo de perder información valiosa de forma accidental. Al borrar un registro</a:t>
            </a:r>
          </a:p>
        </p:txBody>
      </p:sp>
      <p:sp>
        <p:nvSpPr>
          <p:cNvPr id="16" name="TextBox 16"/>
          <p:cNvSpPr txBox="1"/>
          <p:nvPr/>
        </p:nvSpPr>
        <p:spPr>
          <a:xfrm>
            <a:off x="10460159" y="6633465"/>
            <a:ext cx="6114969" cy="1013023"/>
          </a:xfrm>
          <a:prstGeom prst="rect">
            <a:avLst/>
          </a:prstGeom>
        </p:spPr>
        <p:txBody>
          <a:bodyPr lIns="0" tIns="0" rIns="0" bIns="0" rtlCol="0" anchor="t">
            <a:spAutoFit/>
          </a:bodyPr>
          <a:lstStyle/>
          <a:p>
            <a:pPr algn="ctr">
              <a:lnSpc>
                <a:spcPts val="4071"/>
              </a:lnSpc>
            </a:pPr>
            <a:r>
              <a:rPr lang="en-US" sz="3667" spc="1496">
                <a:solidFill>
                  <a:srgbClr val="F6E7D8"/>
                </a:solidFill>
                <a:latin typeface="TT Chocolates"/>
                <a:ea typeface="TT Chocolates"/>
                <a:cs typeface="TT Chocolates"/>
                <a:sym typeface="TT Chocolates"/>
              </a:rPr>
              <a:t>ANOMALÍA DE ACTUALIZACIÓN</a:t>
            </a:r>
          </a:p>
        </p:txBody>
      </p:sp>
      <p:sp>
        <p:nvSpPr>
          <p:cNvPr id="17" name="TextBox 17"/>
          <p:cNvSpPr txBox="1"/>
          <p:nvPr/>
        </p:nvSpPr>
        <p:spPr>
          <a:xfrm>
            <a:off x="10129584" y="7579814"/>
            <a:ext cx="6776121" cy="1026768"/>
          </a:xfrm>
          <a:prstGeom prst="rect">
            <a:avLst/>
          </a:prstGeom>
        </p:spPr>
        <p:txBody>
          <a:bodyPr lIns="0" tIns="0" rIns="0" bIns="0" rtlCol="0" anchor="t">
            <a:spAutoFit/>
          </a:bodyPr>
          <a:lstStyle/>
          <a:p>
            <a:pPr algn="ctr">
              <a:lnSpc>
                <a:spcPts val="4150"/>
              </a:lnSpc>
            </a:pPr>
            <a:r>
              <a:rPr lang="en-US" sz="2964">
                <a:solidFill>
                  <a:srgbClr val="F6E7D8"/>
                </a:solidFill>
                <a:latin typeface="TT Chocolates"/>
                <a:ea typeface="TT Chocolates"/>
                <a:cs typeface="TT Chocolates"/>
                <a:sym typeface="TT Chocolates"/>
              </a:rPr>
              <a:t>Sucede cuando un dato está repetido en varios lugares y solo lo cambias en uno.</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8696721">
            <a:off x="-8055088" y="-4747147"/>
            <a:ext cx="20170665" cy="8341957"/>
          </a:xfrm>
          <a:custGeom>
            <a:avLst/>
            <a:gdLst/>
            <a:ahLst/>
            <a:cxnLst/>
            <a:rect l="l" t="t" r="r" b="b"/>
            <a:pathLst>
              <a:path w="20170665" h="8341957">
                <a:moveTo>
                  <a:pt x="0" y="0"/>
                </a:moveTo>
                <a:lnTo>
                  <a:pt x="20170664" y="0"/>
                </a:lnTo>
                <a:lnTo>
                  <a:pt x="20170664" y="8341957"/>
                </a:lnTo>
                <a:lnTo>
                  <a:pt x="0" y="83419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rot="8696721">
            <a:off x="-9172584" y="-6205520"/>
            <a:ext cx="20170665" cy="8341957"/>
          </a:xfrm>
          <a:custGeom>
            <a:avLst/>
            <a:gdLst/>
            <a:ahLst/>
            <a:cxnLst/>
            <a:rect l="l" t="t" r="r" b="b"/>
            <a:pathLst>
              <a:path w="20170665" h="8341957">
                <a:moveTo>
                  <a:pt x="0" y="0"/>
                </a:moveTo>
                <a:lnTo>
                  <a:pt x="20170664" y="0"/>
                </a:lnTo>
                <a:lnTo>
                  <a:pt x="20170664" y="8341957"/>
                </a:lnTo>
                <a:lnTo>
                  <a:pt x="0" y="83419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TextBox 4"/>
          <p:cNvSpPr txBox="1"/>
          <p:nvPr/>
        </p:nvSpPr>
        <p:spPr>
          <a:xfrm>
            <a:off x="896456" y="1229642"/>
            <a:ext cx="7138904" cy="1855470"/>
          </a:xfrm>
          <a:prstGeom prst="rect">
            <a:avLst/>
          </a:prstGeom>
        </p:spPr>
        <p:txBody>
          <a:bodyPr lIns="0" tIns="0" rIns="0" bIns="0" rtlCol="0" anchor="t">
            <a:spAutoFit/>
          </a:bodyPr>
          <a:lstStyle/>
          <a:p>
            <a:pPr algn="l">
              <a:lnSpc>
                <a:spcPts val="7215"/>
              </a:lnSpc>
            </a:pPr>
            <a:r>
              <a:rPr lang="en-US" sz="6500" spc="130" dirty="0" err="1">
                <a:solidFill>
                  <a:srgbClr val="C1FF72"/>
                </a:solidFill>
                <a:latin typeface="Bree Serif" panose="020B0604020202020204" charset="0"/>
                <a:ea typeface="TT Chocolates"/>
                <a:cs typeface="TT Chocolates"/>
                <a:sym typeface="TT Chocolates"/>
              </a:rPr>
              <a:t>Dependencias</a:t>
            </a:r>
            <a:r>
              <a:rPr lang="en-US" sz="6500" spc="130" dirty="0">
                <a:solidFill>
                  <a:srgbClr val="C1FF72"/>
                </a:solidFill>
                <a:latin typeface="Bree Serif" panose="020B0604020202020204" charset="0"/>
                <a:ea typeface="TT Chocolates"/>
                <a:cs typeface="TT Chocolates"/>
                <a:sym typeface="TT Chocolates"/>
              </a:rPr>
              <a:t> de la </a:t>
            </a:r>
            <a:r>
              <a:rPr lang="en-US" sz="6500" spc="130" dirty="0" err="1">
                <a:solidFill>
                  <a:srgbClr val="C1FF72"/>
                </a:solidFill>
                <a:latin typeface="Bree Serif" panose="020B0604020202020204" charset="0"/>
                <a:ea typeface="TT Chocolates"/>
                <a:cs typeface="TT Chocolates"/>
                <a:sym typeface="TT Chocolates"/>
              </a:rPr>
              <a:t>Normalizacion</a:t>
            </a:r>
            <a:endParaRPr lang="en-US" sz="6500" spc="130" dirty="0">
              <a:solidFill>
                <a:srgbClr val="C1FF72"/>
              </a:solidFill>
              <a:latin typeface="Bree Serif" panose="020B0604020202020204" charset="0"/>
              <a:ea typeface="TT Chocolates"/>
              <a:cs typeface="TT Chocolates"/>
              <a:sym typeface="TT Chocolates"/>
            </a:endParaRPr>
          </a:p>
        </p:txBody>
      </p:sp>
      <p:sp>
        <p:nvSpPr>
          <p:cNvPr id="5" name="TextBox 5"/>
          <p:cNvSpPr txBox="1"/>
          <p:nvPr/>
        </p:nvSpPr>
        <p:spPr>
          <a:xfrm>
            <a:off x="700778" y="3390261"/>
            <a:ext cx="5963699" cy="5868039"/>
          </a:xfrm>
          <a:prstGeom prst="rect">
            <a:avLst/>
          </a:prstGeom>
        </p:spPr>
        <p:txBody>
          <a:bodyPr lIns="0" tIns="0" rIns="0" bIns="0" rtlCol="0" anchor="t">
            <a:spAutoFit/>
          </a:bodyPr>
          <a:lstStyle/>
          <a:p>
            <a:pPr algn="l">
              <a:lnSpc>
                <a:spcPts val="3583"/>
              </a:lnSpc>
            </a:pPr>
            <a:r>
              <a:rPr lang="en-US" sz="2559" dirty="0">
                <a:solidFill>
                  <a:srgbClr val="FFFFFF"/>
                </a:solidFill>
                <a:latin typeface="TT Chocolates"/>
                <a:ea typeface="TT Chocolates"/>
                <a:cs typeface="TT Chocolates"/>
                <a:sym typeface="TT Chocolates"/>
              </a:rPr>
              <a:t>Las </a:t>
            </a:r>
            <a:r>
              <a:rPr lang="en-US" sz="2559" dirty="0" err="1">
                <a:solidFill>
                  <a:srgbClr val="FFFFFF"/>
                </a:solidFill>
                <a:latin typeface="TT Chocolates"/>
                <a:ea typeface="TT Chocolates"/>
                <a:cs typeface="TT Chocolates"/>
                <a:sym typeface="TT Chocolates"/>
              </a:rPr>
              <a:t>restricciones</a:t>
            </a:r>
            <a:r>
              <a:rPr lang="en-US" sz="2559" dirty="0">
                <a:solidFill>
                  <a:srgbClr val="FFFFFF"/>
                </a:solidFill>
                <a:latin typeface="TT Chocolates"/>
                <a:ea typeface="TT Chocolates"/>
                <a:cs typeface="TT Chocolates"/>
                <a:sym typeface="TT Chocolates"/>
              </a:rPr>
              <a:t> de </a:t>
            </a:r>
            <a:r>
              <a:rPr lang="en-US" sz="2559" dirty="0" err="1">
                <a:solidFill>
                  <a:srgbClr val="FFFFFF"/>
                </a:solidFill>
                <a:latin typeface="TT Chocolates"/>
                <a:ea typeface="TT Chocolates"/>
                <a:cs typeface="TT Chocolates"/>
                <a:sym typeface="TT Chocolates"/>
              </a:rPr>
              <a:t>normalización</a:t>
            </a:r>
            <a:r>
              <a:rPr lang="en-US" sz="2559" dirty="0">
                <a:solidFill>
                  <a:srgbClr val="FFFFFF"/>
                </a:solidFill>
                <a:latin typeface="TT Chocolates"/>
                <a:ea typeface="TT Chocolates"/>
                <a:cs typeface="TT Chocolates"/>
                <a:sym typeface="TT Chocolates"/>
              </a:rPr>
              <a:t> de bases de </a:t>
            </a:r>
            <a:r>
              <a:rPr lang="en-US" sz="2559" dirty="0" err="1">
                <a:solidFill>
                  <a:srgbClr val="FFFFFF"/>
                </a:solidFill>
                <a:latin typeface="TT Chocolates"/>
                <a:ea typeface="TT Chocolates"/>
                <a:cs typeface="TT Chocolates"/>
                <a:sym typeface="TT Chocolates"/>
              </a:rPr>
              <a:t>datos</a:t>
            </a:r>
            <a:r>
              <a:rPr lang="en-US" sz="2559" dirty="0">
                <a:solidFill>
                  <a:srgbClr val="FFFFFF"/>
                </a:solidFill>
                <a:latin typeface="TT Chocolates"/>
                <a:ea typeface="TT Chocolates"/>
                <a:cs typeface="TT Chocolates"/>
                <a:sym typeface="TT Chocolates"/>
              </a:rPr>
              <a:t> se </a:t>
            </a:r>
            <a:r>
              <a:rPr lang="en-US" sz="2559" dirty="0" err="1">
                <a:solidFill>
                  <a:srgbClr val="FFFFFF"/>
                </a:solidFill>
                <a:latin typeface="TT Chocolates"/>
                <a:ea typeface="TT Chocolates"/>
                <a:cs typeface="TT Chocolates"/>
                <a:sym typeface="TT Chocolates"/>
              </a:rPr>
              <a:t>basan</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en</a:t>
            </a:r>
            <a:r>
              <a:rPr lang="en-US" sz="2559" dirty="0">
                <a:solidFill>
                  <a:srgbClr val="FFFFFF"/>
                </a:solidFill>
                <a:latin typeface="TT Chocolates"/>
                <a:ea typeface="TT Chocolates"/>
                <a:cs typeface="TT Chocolates"/>
                <a:sym typeface="TT Chocolates"/>
              </a:rPr>
              <a:t> las </a:t>
            </a:r>
            <a:r>
              <a:rPr lang="en-US" sz="2559" dirty="0" err="1">
                <a:solidFill>
                  <a:srgbClr val="FFFFFF"/>
                </a:solidFill>
                <a:latin typeface="TT Chocolates"/>
                <a:ea typeface="TT Chocolates"/>
                <a:cs typeface="TT Chocolates"/>
                <a:sym typeface="TT Chocolates"/>
              </a:rPr>
              <a:t>relaciones</a:t>
            </a:r>
            <a:r>
              <a:rPr lang="en-US" sz="2559" dirty="0">
                <a:solidFill>
                  <a:srgbClr val="FFFFFF"/>
                </a:solidFill>
                <a:latin typeface="TT Chocolates"/>
                <a:ea typeface="TT Chocolates"/>
                <a:cs typeface="TT Chocolates"/>
                <a:sym typeface="TT Chocolates"/>
              </a:rPr>
              <a:t> </a:t>
            </a:r>
          </a:p>
          <a:p>
            <a:pPr algn="l">
              <a:lnSpc>
                <a:spcPts val="3583"/>
              </a:lnSpc>
            </a:pPr>
            <a:r>
              <a:rPr lang="en-US" sz="2559" dirty="0">
                <a:solidFill>
                  <a:srgbClr val="FFFFFF"/>
                </a:solidFill>
                <a:latin typeface="TT Chocolates"/>
                <a:ea typeface="TT Chocolates"/>
                <a:cs typeface="TT Chocolates"/>
                <a:sym typeface="TT Chocolates"/>
              </a:rPr>
              <a:t>(también </a:t>
            </a:r>
            <a:r>
              <a:rPr lang="en-US" sz="2559" dirty="0" err="1">
                <a:solidFill>
                  <a:srgbClr val="FFFFFF"/>
                </a:solidFill>
                <a:latin typeface="TT Chocolates"/>
                <a:ea typeface="TT Chocolates"/>
                <a:cs typeface="TT Chocolates"/>
                <a:sym typeface="TT Chocolates"/>
              </a:rPr>
              <a:t>conocidas</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como</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dependencias</a:t>
            </a:r>
            <a:r>
              <a:rPr lang="en-US" sz="2559" dirty="0">
                <a:solidFill>
                  <a:srgbClr val="FFFFFF"/>
                </a:solidFill>
                <a:latin typeface="TT Chocolates"/>
                <a:ea typeface="TT Chocolates"/>
                <a:cs typeface="TT Chocolates"/>
                <a:sym typeface="TT Chocolates"/>
              </a:rPr>
              <a:t>) entre las claves </a:t>
            </a:r>
            <a:r>
              <a:rPr lang="en-US" sz="2559" dirty="0" err="1">
                <a:solidFill>
                  <a:srgbClr val="FFFFFF"/>
                </a:solidFill>
                <a:latin typeface="TT Chocolates"/>
                <a:ea typeface="TT Chocolates"/>
                <a:cs typeface="TT Chocolates"/>
                <a:sym typeface="TT Chocolates"/>
              </a:rPr>
              <a:t>principales</a:t>
            </a:r>
            <a:r>
              <a:rPr lang="en-US" sz="2559" dirty="0">
                <a:solidFill>
                  <a:srgbClr val="FFFFFF"/>
                </a:solidFill>
                <a:latin typeface="TT Chocolates"/>
                <a:ea typeface="TT Chocolates"/>
                <a:cs typeface="TT Chocolates"/>
                <a:sym typeface="TT Chocolates"/>
              </a:rPr>
              <a:t> y las columnas </a:t>
            </a:r>
          </a:p>
          <a:p>
            <a:pPr algn="l">
              <a:lnSpc>
                <a:spcPts val="3583"/>
              </a:lnSpc>
            </a:pPr>
            <a:r>
              <a:rPr lang="en-US" sz="2559" dirty="0" err="1">
                <a:solidFill>
                  <a:srgbClr val="FFFFFF"/>
                </a:solidFill>
                <a:latin typeface="TT Chocolates"/>
                <a:ea typeface="TT Chocolates"/>
                <a:cs typeface="TT Chocolates"/>
                <a:sym typeface="TT Chocolates"/>
              </a:rPr>
              <a:t>que</a:t>
            </a:r>
            <a:r>
              <a:rPr lang="en-US" sz="2559" dirty="0">
                <a:solidFill>
                  <a:srgbClr val="FFFFFF"/>
                </a:solidFill>
                <a:latin typeface="TT Chocolates"/>
                <a:ea typeface="TT Chocolates"/>
                <a:cs typeface="TT Chocolates"/>
                <a:sym typeface="TT Chocolates"/>
              </a:rPr>
              <a:t> no son claves </a:t>
            </a:r>
            <a:r>
              <a:rPr lang="en-US" sz="2559" dirty="0" err="1">
                <a:solidFill>
                  <a:srgbClr val="FFFFFF"/>
                </a:solidFill>
                <a:latin typeface="TT Chocolates"/>
                <a:ea typeface="TT Chocolates"/>
                <a:cs typeface="TT Chocolates"/>
                <a:sym typeface="TT Chocolates"/>
              </a:rPr>
              <a:t>principales</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ni</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candidatos</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Estos</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últimos</a:t>
            </a:r>
            <a:r>
              <a:rPr lang="en-US" sz="2559" dirty="0">
                <a:solidFill>
                  <a:srgbClr val="FFFFFF"/>
                </a:solidFill>
                <a:latin typeface="TT Chocolates"/>
                <a:ea typeface="TT Chocolates"/>
                <a:cs typeface="TT Chocolates"/>
                <a:sym typeface="TT Chocolates"/>
              </a:rPr>
              <a:t> se </a:t>
            </a:r>
            <a:r>
              <a:rPr lang="en-US" sz="2559" dirty="0" err="1">
                <a:solidFill>
                  <a:srgbClr val="FFFFFF"/>
                </a:solidFill>
                <a:latin typeface="TT Chocolates"/>
                <a:ea typeface="TT Chocolates"/>
                <a:cs typeface="TT Chocolates"/>
                <a:sym typeface="TT Chocolates"/>
              </a:rPr>
              <a:t>conocen</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como</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atributos</a:t>
            </a:r>
            <a:r>
              <a:rPr lang="en-US" sz="2559" dirty="0">
                <a:solidFill>
                  <a:srgbClr val="FFFFFF"/>
                </a:solidFill>
                <a:latin typeface="TT Chocolates"/>
                <a:ea typeface="TT Chocolates"/>
                <a:cs typeface="TT Chocolates"/>
                <a:sym typeface="TT Chocolates"/>
              </a:rPr>
              <a:t> </a:t>
            </a:r>
          </a:p>
          <a:p>
            <a:pPr algn="l">
              <a:lnSpc>
                <a:spcPts val="3583"/>
              </a:lnSpc>
            </a:pPr>
            <a:r>
              <a:rPr lang="en-US" sz="2559" dirty="0">
                <a:solidFill>
                  <a:srgbClr val="FFFFFF"/>
                </a:solidFill>
                <a:latin typeface="TT Chocolates"/>
                <a:ea typeface="TT Chocolates"/>
                <a:cs typeface="TT Chocolates"/>
                <a:sym typeface="TT Chocolates"/>
              </a:rPr>
              <a:t>no clave o </a:t>
            </a:r>
            <a:r>
              <a:rPr lang="en-US" sz="2559" dirty="0" err="1">
                <a:solidFill>
                  <a:srgbClr val="FFFFFF"/>
                </a:solidFill>
                <a:latin typeface="TT Chocolates"/>
                <a:ea typeface="TT Chocolates"/>
                <a:cs typeface="TT Chocolates"/>
                <a:sym typeface="TT Chocolates"/>
              </a:rPr>
              <a:t>atributos</a:t>
            </a:r>
            <a:r>
              <a:rPr lang="en-US" sz="2559" dirty="0">
                <a:solidFill>
                  <a:srgbClr val="FFFFFF"/>
                </a:solidFill>
                <a:latin typeface="TT Chocolates"/>
                <a:ea typeface="TT Chocolates"/>
                <a:cs typeface="TT Chocolates"/>
                <a:sym typeface="TT Chocolates"/>
              </a:rPr>
              <a:t> no </a:t>
            </a:r>
            <a:r>
              <a:rPr lang="en-US" sz="2559" dirty="0" err="1">
                <a:solidFill>
                  <a:srgbClr val="FFFFFF"/>
                </a:solidFill>
                <a:latin typeface="TT Chocolates"/>
                <a:ea typeface="TT Chocolates"/>
                <a:cs typeface="TT Chocolates"/>
                <a:sym typeface="TT Chocolates"/>
              </a:rPr>
              <a:t>primos</a:t>
            </a:r>
            <a:r>
              <a:rPr lang="en-US" sz="2559" dirty="0">
                <a:solidFill>
                  <a:srgbClr val="FFFFFF"/>
                </a:solidFill>
                <a:latin typeface="TT Chocolates"/>
                <a:ea typeface="TT Chocolates"/>
                <a:cs typeface="TT Chocolates"/>
                <a:sym typeface="TT Chocolates"/>
              </a:rPr>
              <a:t>. </a:t>
            </a:r>
          </a:p>
          <a:p>
            <a:pPr algn="l">
              <a:lnSpc>
                <a:spcPts val="3583"/>
              </a:lnSpc>
            </a:pPr>
            <a:r>
              <a:rPr lang="en-US" sz="2559" dirty="0">
                <a:solidFill>
                  <a:srgbClr val="FFFFFF"/>
                </a:solidFill>
                <a:latin typeface="TT Chocolates"/>
                <a:ea typeface="TT Chocolates"/>
                <a:cs typeface="TT Chocolates"/>
                <a:sym typeface="TT Chocolates"/>
              </a:rPr>
              <a:t>Las </a:t>
            </a:r>
            <a:r>
              <a:rPr lang="en-US" sz="2559" dirty="0" err="1">
                <a:solidFill>
                  <a:srgbClr val="FFFFFF"/>
                </a:solidFill>
                <a:latin typeface="TT Chocolates"/>
                <a:ea typeface="TT Chocolates"/>
                <a:cs typeface="TT Chocolates"/>
                <a:sym typeface="TT Chocolates"/>
              </a:rPr>
              <a:t>relaciones</a:t>
            </a:r>
            <a:r>
              <a:rPr lang="en-US" sz="2559" dirty="0">
                <a:solidFill>
                  <a:srgbClr val="FFFFFF"/>
                </a:solidFill>
                <a:latin typeface="TT Chocolates"/>
                <a:ea typeface="TT Chocolates"/>
                <a:cs typeface="TT Chocolates"/>
                <a:sym typeface="TT Chocolates"/>
              </a:rPr>
              <a:t> entre </a:t>
            </a:r>
            <a:r>
              <a:rPr lang="en-US" sz="2559" dirty="0" err="1">
                <a:solidFill>
                  <a:srgbClr val="FFFFFF"/>
                </a:solidFill>
                <a:latin typeface="TT Chocolates"/>
                <a:ea typeface="TT Chocolates"/>
                <a:cs typeface="TT Chocolates"/>
                <a:sym typeface="TT Chocolates"/>
              </a:rPr>
              <a:t>atributos</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enbases</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dedatos</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dondeun</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atributo</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el</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determinante</a:t>
            </a:r>
            <a:r>
              <a:rPr lang="en-US" sz="2559" dirty="0">
                <a:solidFill>
                  <a:srgbClr val="FFFFFF"/>
                </a:solidFill>
                <a:latin typeface="TT Chocolates"/>
                <a:ea typeface="TT Chocolates"/>
                <a:cs typeface="TT Chocolates"/>
                <a:sym typeface="TT Chocolates"/>
              </a:rPr>
              <a:t>) </a:t>
            </a:r>
          </a:p>
          <a:p>
            <a:pPr algn="l">
              <a:lnSpc>
                <a:spcPts val="3583"/>
              </a:lnSpc>
            </a:pPr>
            <a:r>
              <a:rPr lang="en-US" sz="2559" dirty="0" err="1">
                <a:solidFill>
                  <a:srgbClr val="FFFFFF"/>
                </a:solidFill>
                <a:latin typeface="TT Chocolates"/>
                <a:ea typeface="TT Chocolates"/>
                <a:cs typeface="TT Chocolates"/>
                <a:sym typeface="TT Chocolates"/>
              </a:rPr>
              <a:t>determina</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el</a:t>
            </a:r>
            <a:r>
              <a:rPr lang="en-US" sz="2559" dirty="0">
                <a:solidFill>
                  <a:srgbClr val="FFFFFF"/>
                </a:solidFill>
                <a:latin typeface="TT Chocolates"/>
                <a:ea typeface="TT Chocolates"/>
                <a:cs typeface="TT Chocolates"/>
                <a:sym typeface="TT Chocolates"/>
              </a:rPr>
              <a:t> valor de </a:t>
            </a:r>
            <a:r>
              <a:rPr lang="en-US" sz="2559" dirty="0" err="1">
                <a:solidFill>
                  <a:srgbClr val="FFFFFF"/>
                </a:solidFill>
                <a:latin typeface="TT Chocolates"/>
                <a:ea typeface="TT Chocolates"/>
                <a:cs typeface="TT Chocolates"/>
                <a:sym typeface="TT Chocolates"/>
              </a:rPr>
              <a:t>otro</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atributo</a:t>
            </a:r>
            <a:r>
              <a:rPr lang="en-US" sz="2559" dirty="0">
                <a:solidFill>
                  <a:srgbClr val="FFFFFF"/>
                </a:solidFill>
                <a:latin typeface="TT Chocolates"/>
                <a:ea typeface="TT Chocolates"/>
                <a:cs typeface="TT Chocolates"/>
                <a:sym typeface="TT Chocolates"/>
              </a:rPr>
              <a:t> se </a:t>
            </a:r>
            <a:r>
              <a:rPr lang="en-US" sz="2559" dirty="0" err="1">
                <a:solidFill>
                  <a:srgbClr val="FFFFFF"/>
                </a:solidFill>
                <a:latin typeface="TT Chocolates"/>
                <a:ea typeface="TT Chocolates"/>
                <a:cs typeface="TT Chocolates"/>
                <a:sym typeface="TT Chocolates"/>
              </a:rPr>
              <a:t>conocen</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como</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dependencias</a:t>
            </a:r>
            <a:r>
              <a:rPr lang="en-US" sz="2559" dirty="0">
                <a:solidFill>
                  <a:srgbClr val="FFFFFF"/>
                </a:solidFill>
                <a:latin typeface="TT Chocolates"/>
                <a:ea typeface="TT Chocolates"/>
                <a:cs typeface="TT Chocolates"/>
                <a:sym typeface="TT Chocolates"/>
              </a:rPr>
              <a:t> </a:t>
            </a:r>
            <a:r>
              <a:rPr lang="en-US" sz="2559" dirty="0" err="1">
                <a:solidFill>
                  <a:srgbClr val="FFFFFF"/>
                </a:solidFill>
                <a:latin typeface="TT Chocolates"/>
                <a:ea typeface="TT Chocolates"/>
                <a:cs typeface="TT Chocolates"/>
                <a:sym typeface="TT Chocolates"/>
              </a:rPr>
              <a:t>funcionales</a:t>
            </a:r>
            <a:r>
              <a:rPr lang="en-US" sz="2559" dirty="0">
                <a:solidFill>
                  <a:srgbClr val="FFFFFF"/>
                </a:solidFill>
                <a:latin typeface="TT Chocolates"/>
                <a:ea typeface="TT Chocolates"/>
                <a:cs typeface="TT Chocolates"/>
                <a:sym typeface="TT Chocolates"/>
              </a:rPr>
              <a:t>. </a:t>
            </a:r>
          </a:p>
          <a:p>
            <a:pPr algn="l">
              <a:lnSpc>
                <a:spcPts val="3583"/>
              </a:lnSpc>
            </a:pPr>
            <a:endParaRPr lang="en-US" sz="2559" dirty="0">
              <a:solidFill>
                <a:srgbClr val="FFFFFF"/>
              </a:solidFill>
              <a:latin typeface="TT Chocolates"/>
              <a:ea typeface="TT Chocolates"/>
              <a:cs typeface="TT Chocolates"/>
              <a:sym typeface="TT Chocolates"/>
            </a:endParaRPr>
          </a:p>
        </p:txBody>
      </p:sp>
      <p:sp>
        <p:nvSpPr>
          <p:cNvPr id="10" name="Rectangle 3">
            <a:extLst>
              <a:ext uri="{FF2B5EF4-FFF2-40B4-BE49-F238E27FC236}">
                <a16:creationId xmlns:a16="http://schemas.microsoft.com/office/drawing/2014/main" id="{4073AF13-5ED4-7563-8631-2B40F17D60E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BO"/>
          </a:p>
        </p:txBody>
      </p:sp>
      <p:sp>
        <p:nvSpPr>
          <p:cNvPr id="11" name="Rectangle 4">
            <a:extLst>
              <a:ext uri="{FF2B5EF4-FFF2-40B4-BE49-F238E27FC236}">
                <a16:creationId xmlns:a16="http://schemas.microsoft.com/office/drawing/2014/main" id="{D07458E6-3272-A258-4F67-C4CF4A26E9D3}"/>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BO"/>
          </a:p>
        </p:txBody>
      </p:sp>
      <p:sp>
        <p:nvSpPr>
          <p:cNvPr id="12" name="Rectangle 5">
            <a:extLst>
              <a:ext uri="{FF2B5EF4-FFF2-40B4-BE49-F238E27FC236}">
                <a16:creationId xmlns:a16="http://schemas.microsoft.com/office/drawing/2014/main" id="{3AB324E2-4B64-CC41-1A1A-A1226C7F7AFD}"/>
              </a:ext>
            </a:extLst>
          </p:cNvPr>
          <p:cNvSpPr>
            <a:spLocks noChangeArrowheads="1"/>
          </p:cNvSpPr>
          <p:nvPr/>
        </p:nvSpPr>
        <p:spPr bwMode="auto">
          <a:xfrm>
            <a:off x="304800" y="3048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BO"/>
          </a:p>
        </p:txBody>
      </p:sp>
      <p:pic>
        <p:nvPicPr>
          <p:cNvPr id="14" name="Imagen 13">
            <a:extLst>
              <a:ext uri="{FF2B5EF4-FFF2-40B4-BE49-F238E27FC236}">
                <a16:creationId xmlns:a16="http://schemas.microsoft.com/office/drawing/2014/main" id="{09AA5C25-9540-A546-7C5A-9D909AD77656}"/>
              </a:ext>
            </a:extLst>
          </p:cNvPr>
          <p:cNvPicPr>
            <a:picLocks noChangeAspect="1"/>
          </p:cNvPicPr>
          <p:nvPr/>
        </p:nvPicPr>
        <p:blipFill>
          <a:blip r:embed="rId4"/>
          <a:stretch>
            <a:fillRect/>
          </a:stretch>
        </p:blipFill>
        <p:spPr>
          <a:xfrm>
            <a:off x="8206711" y="3488981"/>
            <a:ext cx="8419151" cy="480730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TextBox 2"/>
          <p:cNvSpPr txBox="1"/>
          <p:nvPr/>
        </p:nvSpPr>
        <p:spPr>
          <a:xfrm>
            <a:off x="10433398" y="496551"/>
            <a:ext cx="7749877" cy="1855470"/>
          </a:xfrm>
          <a:prstGeom prst="rect">
            <a:avLst/>
          </a:prstGeom>
        </p:spPr>
        <p:txBody>
          <a:bodyPr lIns="0" tIns="0" rIns="0" bIns="0" rtlCol="0" anchor="t">
            <a:spAutoFit/>
          </a:bodyPr>
          <a:lstStyle/>
          <a:p>
            <a:pPr algn="ctr">
              <a:lnSpc>
                <a:spcPts val="7215"/>
              </a:lnSpc>
            </a:pPr>
            <a:r>
              <a:rPr lang="en-US" sz="6500" spc="130" dirty="0" err="1">
                <a:solidFill>
                  <a:srgbClr val="C1FF72"/>
                </a:solidFill>
                <a:latin typeface="Bree Serif" panose="020B0604020202020204" charset="0"/>
                <a:ea typeface="TT Chocolates"/>
                <a:cs typeface="TT Chocolates"/>
                <a:sym typeface="TT Chocolates"/>
              </a:rPr>
              <a:t>Desafios</a:t>
            </a:r>
            <a:r>
              <a:rPr lang="en-US" sz="6500" spc="130" dirty="0">
                <a:solidFill>
                  <a:srgbClr val="C1FF72"/>
                </a:solidFill>
                <a:latin typeface="Bree Serif" panose="020B0604020202020204" charset="0"/>
                <a:ea typeface="TT Chocolates"/>
                <a:cs typeface="TT Chocolates"/>
                <a:sym typeface="TT Chocolates"/>
              </a:rPr>
              <a:t> de la </a:t>
            </a:r>
            <a:r>
              <a:rPr lang="en-US" sz="6500" spc="130" dirty="0" err="1">
                <a:solidFill>
                  <a:srgbClr val="C1FF72"/>
                </a:solidFill>
                <a:latin typeface="Bree Serif" panose="020B0604020202020204" charset="0"/>
                <a:ea typeface="TT Chocolates"/>
                <a:cs typeface="TT Chocolates"/>
                <a:sym typeface="TT Chocolates"/>
              </a:rPr>
              <a:t>normalizacion</a:t>
            </a:r>
            <a:endParaRPr lang="en-US" sz="6500" spc="130" dirty="0">
              <a:solidFill>
                <a:srgbClr val="C1FF72"/>
              </a:solidFill>
              <a:latin typeface="Bree Serif" panose="020B0604020202020204" charset="0"/>
              <a:ea typeface="TT Chocolates"/>
              <a:cs typeface="TT Chocolates"/>
              <a:sym typeface="TT Chocolates"/>
            </a:endParaRPr>
          </a:p>
        </p:txBody>
      </p:sp>
      <p:sp>
        <p:nvSpPr>
          <p:cNvPr id="5" name="TextBox 5"/>
          <p:cNvSpPr txBox="1"/>
          <p:nvPr/>
        </p:nvSpPr>
        <p:spPr>
          <a:xfrm>
            <a:off x="11144728" y="3024574"/>
            <a:ext cx="6906904" cy="6433285"/>
          </a:xfrm>
          <a:prstGeom prst="rect">
            <a:avLst/>
          </a:prstGeom>
        </p:spPr>
        <p:txBody>
          <a:bodyPr lIns="0" tIns="0" rIns="0" bIns="0" rtlCol="0" anchor="t">
            <a:spAutoFit/>
          </a:bodyPr>
          <a:lstStyle/>
          <a:p>
            <a:pPr algn="l">
              <a:lnSpc>
                <a:spcPts val="3767"/>
              </a:lnSpc>
            </a:pPr>
            <a:r>
              <a:rPr lang="en-US" sz="2691">
                <a:solidFill>
                  <a:srgbClr val="FFFFFF"/>
                </a:solidFill>
                <a:latin typeface="TT Chocolates"/>
                <a:ea typeface="TT Chocolates"/>
                <a:cs typeface="TT Chocolates"/>
                <a:sym typeface="TT Chocolates"/>
              </a:rPr>
              <a:t>A pesar de todos sus beneficios, la normalización de bases de datos también tiene </a:t>
            </a:r>
          </a:p>
          <a:p>
            <a:pPr algn="l">
              <a:lnSpc>
                <a:spcPts val="3767"/>
              </a:lnSpc>
            </a:pPr>
            <a:r>
              <a:rPr lang="en-US" sz="2691">
                <a:solidFill>
                  <a:srgbClr val="FFFFFF"/>
                </a:solidFill>
                <a:latin typeface="TT Chocolates"/>
                <a:ea typeface="TT Chocolates"/>
                <a:cs typeface="TT Chocolates"/>
                <a:sym typeface="TT Chocolates"/>
              </a:rPr>
              <a:t>sus desventajas. Por ejemplo, antes de la normalización, un usuario que busca datos </a:t>
            </a:r>
          </a:p>
          <a:p>
            <a:pPr algn="l">
              <a:lnSpc>
                <a:spcPts val="3767"/>
              </a:lnSpc>
            </a:pPr>
            <a:r>
              <a:rPr lang="en-US" sz="2691">
                <a:solidFill>
                  <a:srgbClr val="FFFFFF"/>
                </a:solidFill>
                <a:latin typeface="TT Chocolates"/>
                <a:ea typeface="TT Chocolates"/>
                <a:cs typeface="TT Chocolates"/>
                <a:sym typeface="TT Chocolates"/>
              </a:rPr>
              <a:t>específicos podría tener que consultar solo una tabla. Sin embargo, si una base de </a:t>
            </a:r>
          </a:p>
          <a:p>
            <a:pPr algn="l">
              <a:lnSpc>
                <a:spcPts val="3767"/>
              </a:lnSpc>
            </a:pPr>
            <a:r>
              <a:rPr lang="en-US" sz="2691">
                <a:solidFill>
                  <a:srgbClr val="FFFFFF"/>
                </a:solidFill>
                <a:latin typeface="TT Chocolates"/>
                <a:ea typeface="TT Chocolates"/>
                <a:cs typeface="TT Chocolates"/>
                <a:sym typeface="TT Chocolates"/>
              </a:rPr>
              <a:t>datos tiene más tablas después de una normalización, el usuario puede encontrarse</a:t>
            </a:r>
          </a:p>
          <a:p>
            <a:pPr algn="l">
              <a:lnSpc>
                <a:spcPts val="3767"/>
              </a:lnSpc>
            </a:pPr>
            <a:r>
              <a:rPr lang="en-US" sz="2691">
                <a:solidFill>
                  <a:srgbClr val="FFFFFF"/>
                </a:solidFill>
                <a:latin typeface="TT Chocolates"/>
                <a:ea typeface="TT Chocolates"/>
                <a:cs typeface="TT Chocolates"/>
                <a:sym typeface="TT Chocolates"/>
              </a:rPr>
              <a:t>en la situaciónde tener que consultar varias tablas, lo que puede ser un proceso más </a:t>
            </a:r>
          </a:p>
          <a:p>
            <a:pPr algn="l">
              <a:lnSpc>
                <a:spcPts val="3767"/>
              </a:lnSpc>
            </a:pPr>
            <a:r>
              <a:rPr lang="en-US" sz="2691">
                <a:solidFill>
                  <a:srgbClr val="FFFFFF"/>
                </a:solidFill>
                <a:latin typeface="TT Chocolates"/>
                <a:ea typeface="TT Chocolates"/>
                <a:cs typeface="TT Chocolates"/>
                <a:sym typeface="TT Chocolates"/>
              </a:rPr>
              <a:t>lento y más costoso.</a:t>
            </a:r>
          </a:p>
          <a:p>
            <a:pPr algn="l">
              <a:lnSpc>
                <a:spcPts val="3042"/>
              </a:lnSpc>
            </a:pPr>
            <a:endParaRPr lang="en-US" sz="2691">
              <a:solidFill>
                <a:srgbClr val="FFFFFF"/>
              </a:solidFill>
              <a:latin typeface="TT Chocolates"/>
              <a:ea typeface="TT Chocolates"/>
              <a:cs typeface="TT Chocolates"/>
              <a:sym typeface="TT Chocolates"/>
            </a:endParaRPr>
          </a:p>
          <a:p>
            <a:pPr algn="l">
              <a:lnSpc>
                <a:spcPts val="3042"/>
              </a:lnSpc>
            </a:pPr>
            <a:endParaRPr lang="en-US" sz="2691">
              <a:solidFill>
                <a:srgbClr val="FFFFFF"/>
              </a:solidFill>
              <a:latin typeface="TT Chocolates"/>
              <a:ea typeface="TT Chocolates"/>
              <a:cs typeface="TT Chocolates"/>
              <a:sym typeface="TT Chocolates"/>
            </a:endParaRPr>
          </a:p>
        </p:txBody>
      </p:sp>
      <p:sp>
        <p:nvSpPr>
          <p:cNvPr id="6" name="Freeform 6"/>
          <p:cNvSpPr/>
          <p:nvPr/>
        </p:nvSpPr>
        <p:spPr>
          <a:xfrm rot="-2552540">
            <a:off x="10890539" y="6548458"/>
            <a:ext cx="13025166" cy="5386802"/>
          </a:xfrm>
          <a:custGeom>
            <a:avLst/>
            <a:gdLst/>
            <a:ahLst/>
            <a:cxnLst/>
            <a:rect l="l" t="t" r="r" b="b"/>
            <a:pathLst>
              <a:path w="13025166" h="5386802">
                <a:moveTo>
                  <a:pt x="0" y="0"/>
                </a:moveTo>
                <a:lnTo>
                  <a:pt x="13025166" y="0"/>
                </a:lnTo>
                <a:lnTo>
                  <a:pt x="13025166" y="5386802"/>
                </a:lnTo>
                <a:lnTo>
                  <a:pt x="0" y="53868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7" name="Freeform 7"/>
          <p:cNvSpPr/>
          <p:nvPr/>
        </p:nvSpPr>
        <p:spPr>
          <a:xfrm rot="-2552540">
            <a:off x="11730274" y="7399897"/>
            <a:ext cx="13025166" cy="5386802"/>
          </a:xfrm>
          <a:custGeom>
            <a:avLst/>
            <a:gdLst/>
            <a:ahLst/>
            <a:cxnLst/>
            <a:rect l="l" t="t" r="r" b="b"/>
            <a:pathLst>
              <a:path w="13025166" h="5386802">
                <a:moveTo>
                  <a:pt x="0" y="0"/>
                </a:moveTo>
                <a:lnTo>
                  <a:pt x="13025166" y="0"/>
                </a:lnTo>
                <a:lnTo>
                  <a:pt x="13025166" y="5386801"/>
                </a:lnTo>
                <a:lnTo>
                  <a:pt x="0" y="53868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pic>
        <p:nvPicPr>
          <p:cNvPr id="9" name="Imagen 8">
            <a:extLst>
              <a:ext uri="{FF2B5EF4-FFF2-40B4-BE49-F238E27FC236}">
                <a16:creationId xmlns:a16="http://schemas.microsoft.com/office/drawing/2014/main" id="{3E0DCD84-99A3-0611-87FA-B14555051FC1}"/>
              </a:ext>
            </a:extLst>
          </p:cNvPr>
          <p:cNvPicPr>
            <a:picLocks noChangeAspect="1"/>
          </p:cNvPicPr>
          <p:nvPr/>
        </p:nvPicPr>
        <p:blipFill>
          <a:blip r:embed="rId4"/>
          <a:stretch>
            <a:fillRect/>
          </a:stretch>
        </p:blipFill>
        <p:spPr>
          <a:xfrm>
            <a:off x="801723" y="2854036"/>
            <a:ext cx="8744170" cy="537292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grpSp>
        <p:nvGrpSpPr>
          <p:cNvPr id="2" name="Group 2"/>
          <p:cNvGrpSpPr/>
          <p:nvPr/>
        </p:nvGrpSpPr>
        <p:grpSpPr>
          <a:xfrm>
            <a:off x="-266348" y="5806220"/>
            <a:ext cx="18816617" cy="4735791"/>
            <a:chOff x="0" y="0"/>
            <a:chExt cx="25088823" cy="6314388"/>
          </a:xfrm>
        </p:grpSpPr>
        <p:pic>
          <p:nvPicPr>
            <p:cNvPr id="3" name="Picture 3"/>
            <p:cNvPicPr>
              <a:picLocks noChangeAspect="1"/>
            </p:cNvPicPr>
            <p:nvPr/>
          </p:nvPicPr>
          <p:blipFill>
            <a:blip r:embed="rId2"/>
            <a:srcRect t="31123" b="31123"/>
            <a:stretch>
              <a:fillRect/>
            </a:stretch>
          </p:blipFill>
          <p:spPr>
            <a:xfrm>
              <a:off x="0" y="0"/>
              <a:ext cx="25088823" cy="6314388"/>
            </a:xfrm>
            <a:prstGeom prst="rect">
              <a:avLst/>
            </a:prstGeom>
          </p:spPr>
        </p:pic>
      </p:grpSp>
      <p:sp>
        <p:nvSpPr>
          <p:cNvPr id="4" name="TextBox 4"/>
          <p:cNvSpPr txBox="1"/>
          <p:nvPr/>
        </p:nvSpPr>
        <p:spPr>
          <a:xfrm>
            <a:off x="1028700" y="841077"/>
            <a:ext cx="11346227" cy="941070"/>
          </a:xfrm>
          <a:prstGeom prst="rect">
            <a:avLst/>
          </a:prstGeom>
        </p:spPr>
        <p:txBody>
          <a:bodyPr lIns="0" tIns="0" rIns="0" bIns="0" rtlCol="0" anchor="t">
            <a:spAutoFit/>
          </a:bodyPr>
          <a:lstStyle/>
          <a:p>
            <a:pPr algn="l">
              <a:lnSpc>
                <a:spcPts val="7215"/>
              </a:lnSpc>
            </a:pPr>
            <a:r>
              <a:rPr lang="en-US" sz="6500" spc="130" dirty="0">
                <a:solidFill>
                  <a:srgbClr val="C1FF72"/>
                </a:solidFill>
                <a:latin typeface="Bree Serif" panose="020B0604020202020204" charset="0"/>
                <a:ea typeface="TT Chocolates"/>
                <a:cs typeface="TT Chocolates"/>
                <a:sym typeface="TT Chocolates"/>
              </a:rPr>
              <a:t>La </a:t>
            </a:r>
            <a:r>
              <a:rPr lang="en-US" sz="6500" spc="130" dirty="0" err="1">
                <a:solidFill>
                  <a:srgbClr val="C1FF72"/>
                </a:solidFill>
                <a:latin typeface="Bree Serif" panose="020B0604020202020204" charset="0"/>
                <a:ea typeface="TT Chocolates"/>
                <a:cs typeface="TT Chocolates"/>
                <a:sym typeface="TT Chocolates"/>
              </a:rPr>
              <a:t>importancia</a:t>
            </a:r>
            <a:r>
              <a:rPr lang="en-US" sz="6500" spc="130" dirty="0">
                <a:solidFill>
                  <a:srgbClr val="C1FF72"/>
                </a:solidFill>
                <a:latin typeface="Bree Serif" panose="020B0604020202020204" charset="0"/>
                <a:ea typeface="TT Chocolates"/>
                <a:cs typeface="TT Chocolates"/>
                <a:sym typeface="TT Chocolates"/>
              </a:rPr>
              <a:t> de las claves</a:t>
            </a:r>
          </a:p>
        </p:txBody>
      </p:sp>
      <p:sp>
        <p:nvSpPr>
          <p:cNvPr id="5" name="TextBox 5"/>
          <p:cNvSpPr txBox="1"/>
          <p:nvPr/>
        </p:nvSpPr>
        <p:spPr>
          <a:xfrm>
            <a:off x="533775" y="1859781"/>
            <a:ext cx="4884373" cy="622935"/>
          </a:xfrm>
          <a:prstGeom prst="rect">
            <a:avLst/>
          </a:prstGeom>
        </p:spPr>
        <p:txBody>
          <a:bodyPr lIns="0" tIns="0" rIns="0" bIns="0" rtlCol="0" anchor="t">
            <a:spAutoFit/>
          </a:bodyPr>
          <a:lstStyle/>
          <a:p>
            <a:pPr algn="l">
              <a:lnSpc>
                <a:spcPts val="5040"/>
              </a:lnSpc>
            </a:pPr>
            <a:r>
              <a:rPr lang="en-US" sz="3600" b="1">
                <a:solidFill>
                  <a:srgbClr val="F6E7D8"/>
                </a:solidFill>
                <a:latin typeface="TT Chocolates Bold"/>
                <a:ea typeface="TT Chocolates Bold"/>
                <a:cs typeface="TT Chocolates Bold"/>
                <a:sym typeface="TT Chocolates Bold"/>
              </a:rPr>
              <a:t>01 Claves Principales</a:t>
            </a:r>
          </a:p>
        </p:txBody>
      </p:sp>
      <p:sp>
        <p:nvSpPr>
          <p:cNvPr id="6" name="TextBox 6"/>
          <p:cNvSpPr txBox="1"/>
          <p:nvPr/>
        </p:nvSpPr>
        <p:spPr>
          <a:xfrm>
            <a:off x="6521969" y="1859781"/>
            <a:ext cx="4884373" cy="622935"/>
          </a:xfrm>
          <a:prstGeom prst="rect">
            <a:avLst/>
          </a:prstGeom>
        </p:spPr>
        <p:txBody>
          <a:bodyPr lIns="0" tIns="0" rIns="0" bIns="0" rtlCol="0" anchor="t">
            <a:spAutoFit/>
          </a:bodyPr>
          <a:lstStyle/>
          <a:p>
            <a:pPr algn="l">
              <a:lnSpc>
                <a:spcPts val="5040"/>
              </a:lnSpc>
            </a:pPr>
            <a:r>
              <a:rPr lang="en-US" sz="3600" b="1">
                <a:solidFill>
                  <a:srgbClr val="F6E7D8"/>
                </a:solidFill>
                <a:latin typeface="TT Chocolates Bold"/>
                <a:ea typeface="TT Chocolates Bold"/>
                <a:cs typeface="TT Chocolates Bold"/>
                <a:sym typeface="TT Chocolates Bold"/>
              </a:rPr>
              <a:t>02 Claves Compuestas</a:t>
            </a:r>
          </a:p>
        </p:txBody>
      </p:sp>
      <p:sp>
        <p:nvSpPr>
          <p:cNvPr id="7" name="TextBox 7"/>
          <p:cNvSpPr txBox="1"/>
          <p:nvPr/>
        </p:nvSpPr>
        <p:spPr>
          <a:xfrm>
            <a:off x="12511242" y="1859781"/>
            <a:ext cx="4884373" cy="622935"/>
          </a:xfrm>
          <a:prstGeom prst="rect">
            <a:avLst/>
          </a:prstGeom>
        </p:spPr>
        <p:txBody>
          <a:bodyPr lIns="0" tIns="0" rIns="0" bIns="0" rtlCol="0" anchor="t">
            <a:spAutoFit/>
          </a:bodyPr>
          <a:lstStyle/>
          <a:p>
            <a:pPr algn="l">
              <a:lnSpc>
                <a:spcPts val="5040"/>
              </a:lnSpc>
            </a:pPr>
            <a:r>
              <a:rPr lang="en-US" sz="3600" b="1">
                <a:solidFill>
                  <a:srgbClr val="F6E7D8"/>
                </a:solidFill>
                <a:latin typeface="TT Chocolates Bold"/>
                <a:ea typeface="TT Chocolates Bold"/>
                <a:cs typeface="TT Chocolates Bold"/>
                <a:sym typeface="TT Chocolates Bold"/>
              </a:rPr>
              <a:t>03 Claves candidatas </a:t>
            </a:r>
          </a:p>
        </p:txBody>
      </p:sp>
      <p:sp>
        <p:nvSpPr>
          <p:cNvPr id="8" name="TextBox 8"/>
          <p:cNvSpPr txBox="1"/>
          <p:nvPr/>
        </p:nvSpPr>
        <p:spPr>
          <a:xfrm>
            <a:off x="325976" y="2708459"/>
            <a:ext cx="5449197" cy="2502097"/>
          </a:xfrm>
          <a:prstGeom prst="rect">
            <a:avLst/>
          </a:prstGeom>
        </p:spPr>
        <p:txBody>
          <a:bodyPr lIns="0" tIns="0" rIns="0" bIns="0" rtlCol="0" anchor="t">
            <a:spAutoFit/>
          </a:bodyPr>
          <a:lstStyle/>
          <a:p>
            <a:pPr algn="l">
              <a:lnSpc>
                <a:spcPts val="3314"/>
              </a:lnSpc>
            </a:pPr>
            <a:r>
              <a:rPr lang="en-US" sz="2367">
                <a:solidFill>
                  <a:srgbClr val="F6E7D8"/>
                </a:solidFill>
                <a:latin typeface="TT Chocolates"/>
                <a:ea typeface="TT Chocolates"/>
                <a:cs typeface="TT Chocolates"/>
                <a:sym typeface="TT Chocolates"/>
              </a:rPr>
              <a:t>Una clave principal es una columna o columnas de una tabla de base de datos </a:t>
            </a:r>
          </a:p>
          <a:p>
            <a:pPr algn="l">
              <a:lnSpc>
                <a:spcPts val="3314"/>
              </a:lnSpc>
            </a:pPr>
            <a:r>
              <a:rPr lang="en-US" sz="2367">
                <a:solidFill>
                  <a:srgbClr val="F6E7D8"/>
                </a:solidFill>
                <a:latin typeface="TT Chocolates"/>
                <a:ea typeface="TT Chocolates"/>
                <a:cs typeface="TT Chocolates"/>
                <a:sym typeface="TT Chocolates"/>
              </a:rPr>
              <a:t>cuyos valores sirven como identificadores únicos para cada fila o registro. Por </a:t>
            </a:r>
          </a:p>
          <a:p>
            <a:pPr algn="l">
              <a:lnSpc>
                <a:spcPts val="3314"/>
              </a:lnSpc>
            </a:pPr>
            <a:r>
              <a:rPr lang="en-US" sz="2367">
                <a:solidFill>
                  <a:srgbClr val="F6E7D8"/>
                </a:solidFill>
                <a:latin typeface="TT Chocolates"/>
                <a:ea typeface="TT Chocolates"/>
                <a:cs typeface="TT Chocolates"/>
                <a:sym typeface="TT Chocolates"/>
              </a:rPr>
              <a:t>ejemplo, una columna con el número de identificación de un estudiante.</a:t>
            </a:r>
          </a:p>
        </p:txBody>
      </p:sp>
      <p:sp>
        <p:nvSpPr>
          <p:cNvPr id="9" name="TextBox 9"/>
          <p:cNvSpPr txBox="1"/>
          <p:nvPr/>
        </p:nvSpPr>
        <p:spPr>
          <a:xfrm>
            <a:off x="6266121" y="2708459"/>
            <a:ext cx="5396070" cy="2435041"/>
          </a:xfrm>
          <a:prstGeom prst="rect">
            <a:avLst/>
          </a:prstGeom>
        </p:spPr>
        <p:txBody>
          <a:bodyPr lIns="0" tIns="0" rIns="0" bIns="0" rtlCol="0" anchor="t">
            <a:spAutoFit/>
          </a:bodyPr>
          <a:lstStyle/>
          <a:p>
            <a:pPr algn="l">
              <a:lnSpc>
                <a:spcPts val="3307"/>
              </a:lnSpc>
            </a:pPr>
            <a:r>
              <a:rPr lang="en-US" sz="2362">
                <a:solidFill>
                  <a:srgbClr val="F6E7D8"/>
                </a:solidFill>
                <a:latin typeface="TT Chocolates"/>
                <a:ea typeface="TT Chocolates"/>
                <a:cs typeface="TT Chocolates"/>
                <a:sym typeface="TT Chocolates"/>
              </a:rPr>
              <a:t>Las claves que constan de dos o más columnas se denominan claves </a:t>
            </a:r>
          </a:p>
          <a:p>
            <a:pPr algn="l">
              <a:lnSpc>
                <a:spcPts val="3307"/>
              </a:lnSpc>
            </a:pPr>
            <a:r>
              <a:rPr lang="en-US" sz="2362">
                <a:solidFill>
                  <a:srgbClr val="F6E7D8"/>
                </a:solidFill>
                <a:latin typeface="TT Chocolates"/>
                <a:ea typeface="TT Chocolates"/>
                <a:cs typeface="TT Chocolates"/>
                <a:sym typeface="TT Chocolates"/>
              </a:rPr>
              <a:t>compuestas. Cuando las claves primarias son claves compuestas, pueden </a:t>
            </a:r>
          </a:p>
          <a:p>
            <a:pPr algn="l">
              <a:lnSpc>
                <a:spcPts val="3307"/>
              </a:lnSpc>
            </a:pPr>
            <a:r>
              <a:rPr lang="en-US" sz="2362">
                <a:solidFill>
                  <a:srgbClr val="F6E7D8"/>
                </a:solidFill>
                <a:latin typeface="TT Chocolates"/>
                <a:ea typeface="TT Chocolates"/>
                <a:cs typeface="TT Chocolates"/>
                <a:sym typeface="TT Chocolates"/>
              </a:rPr>
              <a:t>denominarse claves primarias compuestas</a:t>
            </a:r>
          </a:p>
          <a:p>
            <a:pPr algn="l">
              <a:lnSpc>
                <a:spcPts val="3307"/>
              </a:lnSpc>
            </a:pPr>
            <a:endParaRPr lang="en-US" sz="2362">
              <a:solidFill>
                <a:srgbClr val="F6E7D8"/>
              </a:solidFill>
              <a:latin typeface="TT Chocolates"/>
              <a:ea typeface="TT Chocolates"/>
              <a:cs typeface="TT Chocolates"/>
              <a:sym typeface="TT Chocolates"/>
            </a:endParaRPr>
          </a:p>
        </p:txBody>
      </p:sp>
      <p:sp>
        <p:nvSpPr>
          <p:cNvPr id="10" name="TextBox 10"/>
          <p:cNvSpPr txBox="1"/>
          <p:nvPr/>
        </p:nvSpPr>
        <p:spPr>
          <a:xfrm>
            <a:off x="12511242" y="2708459"/>
            <a:ext cx="4973692" cy="2531973"/>
          </a:xfrm>
          <a:prstGeom prst="rect">
            <a:avLst/>
          </a:prstGeom>
        </p:spPr>
        <p:txBody>
          <a:bodyPr lIns="0" tIns="0" rIns="0" bIns="0" rtlCol="0" anchor="t">
            <a:spAutoFit/>
          </a:bodyPr>
          <a:lstStyle/>
          <a:p>
            <a:pPr algn="l">
              <a:lnSpc>
                <a:spcPts val="3442"/>
              </a:lnSpc>
            </a:pPr>
            <a:r>
              <a:rPr lang="en-US" sz="2458">
                <a:solidFill>
                  <a:srgbClr val="F6E7D8"/>
                </a:solidFill>
                <a:latin typeface="TT Chocolates"/>
                <a:ea typeface="TT Chocolates"/>
                <a:cs typeface="TT Chocolates"/>
                <a:sym typeface="TT Chocolates"/>
              </a:rPr>
              <a:t>Una clave candidata es una columna o grupo de columnas que tiene las </a:t>
            </a:r>
          </a:p>
          <a:p>
            <a:pPr algn="l">
              <a:lnSpc>
                <a:spcPts val="3442"/>
              </a:lnSpc>
            </a:pPr>
            <a:r>
              <a:rPr lang="en-US" sz="2458">
                <a:solidFill>
                  <a:srgbClr val="F6E7D8"/>
                </a:solidFill>
                <a:latin typeface="TT Chocolates"/>
                <a:ea typeface="TT Chocolates"/>
                <a:cs typeface="TT Chocolates"/>
                <a:sym typeface="TT Chocolates"/>
              </a:rPr>
              <a:t>características de una clave principal, pero a la que no se le asignó el estado </a:t>
            </a:r>
          </a:p>
          <a:p>
            <a:pPr algn="l">
              <a:lnSpc>
                <a:spcPts val="3442"/>
              </a:lnSpc>
            </a:pPr>
            <a:r>
              <a:rPr lang="en-US" sz="2458">
                <a:solidFill>
                  <a:srgbClr val="F6E7D8"/>
                </a:solidFill>
                <a:latin typeface="TT Chocolates"/>
                <a:ea typeface="TT Chocolates"/>
                <a:cs typeface="TT Chocolates"/>
                <a:sym typeface="TT Chocolates"/>
              </a:rPr>
              <a:t>de clave principal.</a:t>
            </a:r>
          </a:p>
          <a:p>
            <a:pPr algn="l">
              <a:lnSpc>
                <a:spcPts val="3442"/>
              </a:lnSpc>
            </a:pPr>
            <a:endParaRPr lang="en-US" sz="2458">
              <a:solidFill>
                <a:srgbClr val="F6E7D8"/>
              </a:solidFill>
              <a:latin typeface="TT Chocolates"/>
              <a:ea typeface="TT Chocolates"/>
              <a:cs typeface="TT Chocolates"/>
              <a:sym typeface="TT Chocolates"/>
            </a:endParaRPr>
          </a:p>
        </p:txBody>
      </p:sp>
      <p:sp>
        <p:nvSpPr>
          <p:cNvPr id="11" name="Freeform 11"/>
          <p:cNvSpPr/>
          <p:nvPr/>
        </p:nvSpPr>
        <p:spPr>
          <a:xfrm rot="-2414232">
            <a:off x="6408983" y="5653010"/>
            <a:ext cx="20170665" cy="8341957"/>
          </a:xfrm>
          <a:custGeom>
            <a:avLst/>
            <a:gdLst/>
            <a:ahLst/>
            <a:cxnLst/>
            <a:rect l="l" t="t" r="r" b="b"/>
            <a:pathLst>
              <a:path w="20170665" h="8341957">
                <a:moveTo>
                  <a:pt x="0" y="0"/>
                </a:moveTo>
                <a:lnTo>
                  <a:pt x="20170664" y="0"/>
                </a:lnTo>
                <a:lnTo>
                  <a:pt x="20170664" y="8341957"/>
                </a:lnTo>
                <a:lnTo>
                  <a:pt x="0" y="83419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grpSp>
        <p:nvGrpSpPr>
          <p:cNvPr id="2" name="Group 2"/>
          <p:cNvGrpSpPr/>
          <p:nvPr/>
        </p:nvGrpSpPr>
        <p:grpSpPr>
          <a:xfrm>
            <a:off x="-266348" y="-368880"/>
            <a:ext cx="18816617" cy="5032133"/>
            <a:chOff x="0" y="0"/>
            <a:chExt cx="25088823" cy="6709510"/>
          </a:xfrm>
        </p:grpSpPr>
        <p:pic>
          <p:nvPicPr>
            <p:cNvPr id="3" name="Picture 3"/>
            <p:cNvPicPr>
              <a:picLocks noChangeAspect="1"/>
            </p:cNvPicPr>
            <p:nvPr/>
          </p:nvPicPr>
          <p:blipFill>
            <a:blip r:embed="rId2"/>
            <a:srcRect t="51952" b="7945"/>
            <a:stretch>
              <a:fillRect/>
            </a:stretch>
          </p:blipFill>
          <p:spPr>
            <a:xfrm>
              <a:off x="0" y="0"/>
              <a:ext cx="25088823" cy="6709510"/>
            </a:xfrm>
            <a:prstGeom prst="rect">
              <a:avLst/>
            </a:prstGeom>
          </p:spPr>
        </p:pic>
      </p:grpSp>
      <p:sp>
        <p:nvSpPr>
          <p:cNvPr id="4" name="TextBox 4"/>
          <p:cNvSpPr txBox="1"/>
          <p:nvPr/>
        </p:nvSpPr>
        <p:spPr>
          <a:xfrm>
            <a:off x="2805624" y="4946007"/>
            <a:ext cx="12672671" cy="941070"/>
          </a:xfrm>
          <a:prstGeom prst="rect">
            <a:avLst/>
          </a:prstGeom>
        </p:spPr>
        <p:txBody>
          <a:bodyPr lIns="0" tIns="0" rIns="0" bIns="0" rtlCol="0" anchor="t">
            <a:spAutoFit/>
          </a:bodyPr>
          <a:lstStyle/>
          <a:p>
            <a:pPr algn="l">
              <a:lnSpc>
                <a:spcPts val="7215"/>
              </a:lnSpc>
            </a:pPr>
            <a:r>
              <a:rPr lang="en-US" sz="6500" spc="130" dirty="0">
                <a:solidFill>
                  <a:srgbClr val="C1FF72"/>
                </a:solidFill>
                <a:latin typeface="Bree Serif" panose="020B0604020202020204" charset="0"/>
                <a:ea typeface="TT Chocolates"/>
                <a:cs typeface="TT Chocolates"/>
                <a:sym typeface="TT Chocolates"/>
              </a:rPr>
              <a:t>La </a:t>
            </a:r>
            <a:r>
              <a:rPr lang="en-US" sz="6500" spc="130" dirty="0" err="1">
                <a:solidFill>
                  <a:srgbClr val="C1FF72"/>
                </a:solidFill>
                <a:latin typeface="Bree Serif" panose="020B0604020202020204" charset="0"/>
                <a:ea typeface="TT Chocolates"/>
                <a:cs typeface="TT Chocolates"/>
                <a:sym typeface="TT Chocolates"/>
              </a:rPr>
              <a:t>importancia</a:t>
            </a:r>
            <a:r>
              <a:rPr lang="en-US" sz="6500" spc="130" dirty="0">
                <a:solidFill>
                  <a:srgbClr val="C1FF72"/>
                </a:solidFill>
                <a:latin typeface="Bree Serif" panose="020B0604020202020204" charset="0"/>
                <a:ea typeface="TT Chocolates"/>
                <a:cs typeface="TT Chocolates"/>
                <a:sym typeface="TT Chocolates"/>
              </a:rPr>
              <a:t> de las claves </a:t>
            </a:r>
          </a:p>
        </p:txBody>
      </p:sp>
      <p:sp>
        <p:nvSpPr>
          <p:cNvPr id="5" name="TextBox 5"/>
          <p:cNvSpPr txBox="1"/>
          <p:nvPr/>
        </p:nvSpPr>
        <p:spPr>
          <a:xfrm>
            <a:off x="1999060" y="6280451"/>
            <a:ext cx="4884373" cy="622935"/>
          </a:xfrm>
          <a:prstGeom prst="rect">
            <a:avLst/>
          </a:prstGeom>
        </p:spPr>
        <p:txBody>
          <a:bodyPr lIns="0" tIns="0" rIns="0" bIns="0" rtlCol="0" anchor="t">
            <a:spAutoFit/>
          </a:bodyPr>
          <a:lstStyle/>
          <a:p>
            <a:pPr algn="l">
              <a:lnSpc>
                <a:spcPts val="5040"/>
              </a:lnSpc>
            </a:pPr>
            <a:r>
              <a:rPr lang="en-US" sz="3600" b="1">
                <a:solidFill>
                  <a:srgbClr val="F6E7D8"/>
                </a:solidFill>
                <a:latin typeface="TT Chocolates Bold"/>
                <a:ea typeface="TT Chocolates Bold"/>
                <a:cs typeface="TT Chocolates Bold"/>
                <a:sym typeface="TT Chocolates Bold"/>
              </a:rPr>
              <a:t>04 Claves externas</a:t>
            </a:r>
          </a:p>
        </p:txBody>
      </p:sp>
      <p:sp>
        <p:nvSpPr>
          <p:cNvPr id="6" name="TextBox 6"/>
          <p:cNvSpPr txBox="1"/>
          <p:nvPr/>
        </p:nvSpPr>
        <p:spPr>
          <a:xfrm>
            <a:off x="11505111" y="6280451"/>
            <a:ext cx="4392520" cy="622935"/>
          </a:xfrm>
          <a:prstGeom prst="rect">
            <a:avLst/>
          </a:prstGeom>
        </p:spPr>
        <p:txBody>
          <a:bodyPr lIns="0" tIns="0" rIns="0" bIns="0" rtlCol="0" anchor="t">
            <a:spAutoFit/>
          </a:bodyPr>
          <a:lstStyle/>
          <a:p>
            <a:pPr algn="l">
              <a:lnSpc>
                <a:spcPts val="5040"/>
              </a:lnSpc>
            </a:pPr>
            <a:r>
              <a:rPr lang="en-US" sz="3600" b="1">
                <a:solidFill>
                  <a:srgbClr val="F6E7D8"/>
                </a:solidFill>
                <a:latin typeface="TT Chocolates Bold"/>
                <a:ea typeface="TT Chocolates Bold"/>
                <a:cs typeface="TT Chocolates Bold"/>
                <a:sym typeface="TT Chocolates Bold"/>
              </a:rPr>
              <a:t>05 Super Teclas</a:t>
            </a:r>
          </a:p>
        </p:txBody>
      </p:sp>
      <p:sp>
        <p:nvSpPr>
          <p:cNvPr id="7" name="TextBox 7"/>
          <p:cNvSpPr txBox="1"/>
          <p:nvPr/>
        </p:nvSpPr>
        <p:spPr>
          <a:xfrm>
            <a:off x="365896" y="7129950"/>
            <a:ext cx="9232443" cy="3213139"/>
          </a:xfrm>
          <a:prstGeom prst="rect">
            <a:avLst/>
          </a:prstGeom>
        </p:spPr>
        <p:txBody>
          <a:bodyPr lIns="0" tIns="0" rIns="0" bIns="0" rtlCol="0" anchor="t">
            <a:spAutoFit/>
          </a:bodyPr>
          <a:lstStyle/>
          <a:p>
            <a:pPr algn="l">
              <a:lnSpc>
                <a:spcPts val="3392"/>
              </a:lnSpc>
            </a:pPr>
            <a:r>
              <a:rPr lang="en-US" sz="2423">
                <a:solidFill>
                  <a:srgbClr val="F6E7D8"/>
                </a:solidFill>
                <a:latin typeface="TT Chocolates"/>
                <a:ea typeface="TT Chocolates"/>
                <a:cs typeface="TT Chocolates"/>
                <a:sym typeface="TT Chocolates"/>
              </a:rPr>
              <a:t>Una clave externa en una tabla se refiere a una clave principal específica en otra tabla para definir una relación entre las tablas. Cuando las tablas más grandes se dividen en tablas más pequeñas durante la normalización, las claves externas y las claves primarias establecen una asociación entre las </a:t>
            </a:r>
          </a:p>
          <a:p>
            <a:pPr algn="l">
              <a:lnSpc>
                <a:spcPts val="3392"/>
              </a:lnSpc>
            </a:pPr>
            <a:r>
              <a:rPr lang="en-US" sz="2423">
                <a:solidFill>
                  <a:srgbClr val="F6E7D8"/>
                </a:solidFill>
                <a:latin typeface="TT Chocolates"/>
                <a:ea typeface="TT Chocolates"/>
                <a:cs typeface="TT Chocolates"/>
                <a:sym typeface="TT Chocolates"/>
              </a:rPr>
              <a:t>nuevas tablas.</a:t>
            </a:r>
          </a:p>
          <a:p>
            <a:pPr algn="l">
              <a:lnSpc>
                <a:spcPts val="2552"/>
              </a:lnSpc>
            </a:pPr>
            <a:endParaRPr lang="en-US" sz="2423">
              <a:solidFill>
                <a:srgbClr val="F6E7D8"/>
              </a:solidFill>
              <a:latin typeface="TT Chocolates"/>
              <a:ea typeface="TT Chocolates"/>
              <a:cs typeface="TT Chocolates"/>
              <a:sym typeface="TT Chocolates"/>
            </a:endParaRPr>
          </a:p>
          <a:p>
            <a:pPr algn="l">
              <a:lnSpc>
                <a:spcPts val="2552"/>
              </a:lnSpc>
            </a:pPr>
            <a:endParaRPr lang="en-US" sz="2423">
              <a:solidFill>
                <a:srgbClr val="F6E7D8"/>
              </a:solidFill>
              <a:latin typeface="TT Chocolates"/>
              <a:ea typeface="TT Chocolates"/>
              <a:cs typeface="TT Chocolates"/>
              <a:sym typeface="TT Chocolates"/>
            </a:endParaRPr>
          </a:p>
        </p:txBody>
      </p:sp>
      <p:sp>
        <p:nvSpPr>
          <p:cNvPr id="8" name="TextBox 8"/>
          <p:cNvSpPr txBox="1"/>
          <p:nvPr/>
        </p:nvSpPr>
        <p:spPr>
          <a:xfrm>
            <a:off x="10865087" y="7120425"/>
            <a:ext cx="7177366" cy="2558569"/>
          </a:xfrm>
          <a:prstGeom prst="rect">
            <a:avLst/>
          </a:prstGeom>
        </p:spPr>
        <p:txBody>
          <a:bodyPr lIns="0" tIns="0" rIns="0" bIns="0" rtlCol="0" anchor="t">
            <a:spAutoFit/>
          </a:bodyPr>
          <a:lstStyle/>
          <a:p>
            <a:pPr algn="l">
              <a:lnSpc>
                <a:spcPts val="3625"/>
              </a:lnSpc>
            </a:pPr>
            <a:r>
              <a:rPr lang="en-US" sz="2589">
                <a:solidFill>
                  <a:srgbClr val="F6E7D8"/>
                </a:solidFill>
                <a:latin typeface="TT Chocolates"/>
                <a:ea typeface="TT Chocolates"/>
                <a:cs typeface="TT Chocolates"/>
                <a:sym typeface="TT Chocolates"/>
              </a:rPr>
              <a:t>Las súper claves, aunque son similares a las claves primarias compuestas, </a:t>
            </a:r>
          </a:p>
          <a:p>
            <a:pPr algn="l">
              <a:lnSpc>
                <a:spcPts val="3625"/>
              </a:lnSpc>
            </a:pPr>
            <a:r>
              <a:rPr lang="en-US" sz="2589">
                <a:solidFill>
                  <a:srgbClr val="F6E7D8"/>
                </a:solidFill>
                <a:latin typeface="TT Chocolates"/>
                <a:ea typeface="TT Chocolates"/>
                <a:cs typeface="TT Chocolates"/>
                <a:sym typeface="TT Chocolates"/>
              </a:rPr>
              <a:t>también constan de más columnas de las necesarias para identificar registros </a:t>
            </a:r>
          </a:p>
          <a:p>
            <a:pPr algn="l">
              <a:lnSpc>
                <a:spcPts val="3625"/>
              </a:lnSpc>
            </a:pPr>
            <a:r>
              <a:rPr lang="en-US" sz="2589">
                <a:solidFill>
                  <a:srgbClr val="F6E7D8"/>
                </a:solidFill>
                <a:latin typeface="TT Chocolates"/>
                <a:ea typeface="TT Chocolates"/>
                <a:cs typeface="TT Chocolates"/>
                <a:sym typeface="TT Chocolates"/>
              </a:rPr>
              <a:t>de manera única.</a:t>
            </a:r>
          </a:p>
          <a:p>
            <a:pPr algn="l">
              <a:lnSpc>
                <a:spcPts val="2320"/>
              </a:lnSpc>
            </a:pPr>
            <a:endParaRPr lang="en-US" sz="2589">
              <a:solidFill>
                <a:srgbClr val="F6E7D8"/>
              </a:solidFill>
              <a:latin typeface="TT Chocolates"/>
              <a:ea typeface="TT Chocolates"/>
              <a:cs typeface="TT Chocolates"/>
              <a:sym typeface="TT Chocolates"/>
            </a:endParaRPr>
          </a:p>
        </p:txBody>
      </p:sp>
      <p:sp>
        <p:nvSpPr>
          <p:cNvPr id="9" name="Freeform 9"/>
          <p:cNvSpPr/>
          <p:nvPr/>
        </p:nvSpPr>
        <p:spPr>
          <a:xfrm rot="-9523360">
            <a:off x="5267354" y="-4539859"/>
            <a:ext cx="20170665" cy="8341957"/>
          </a:xfrm>
          <a:custGeom>
            <a:avLst/>
            <a:gdLst/>
            <a:ahLst/>
            <a:cxnLst/>
            <a:rect l="l" t="t" r="r" b="b"/>
            <a:pathLst>
              <a:path w="20170665" h="8341957">
                <a:moveTo>
                  <a:pt x="0" y="0"/>
                </a:moveTo>
                <a:lnTo>
                  <a:pt x="20170665" y="0"/>
                </a:lnTo>
                <a:lnTo>
                  <a:pt x="20170665" y="8341957"/>
                </a:lnTo>
                <a:lnTo>
                  <a:pt x="0" y="83419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TextBox 2"/>
          <p:cNvSpPr txBox="1"/>
          <p:nvPr/>
        </p:nvSpPr>
        <p:spPr>
          <a:xfrm>
            <a:off x="1028700" y="1076325"/>
            <a:ext cx="7012541" cy="941070"/>
          </a:xfrm>
          <a:prstGeom prst="rect">
            <a:avLst/>
          </a:prstGeom>
        </p:spPr>
        <p:txBody>
          <a:bodyPr lIns="0" tIns="0" rIns="0" bIns="0" rtlCol="0" anchor="t">
            <a:spAutoFit/>
          </a:bodyPr>
          <a:lstStyle/>
          <a:p>
            <a:pPr algn="l">
              <a:lnSpc>
                <a:spcPts val="7215"/>
              </a:lnSpc>
            </a:pPr>
            <a:r>
              <a:rPr lang="en-US" sz="6500" spc="130" dirty="0">
                <a:solidFill>
                  <a:srgbClr val="C1FF72"/>
                </a:solidFill>
                <a:latin typeface="Bree Serif" panose="020B0604020202020204" charset="0"/>
                <a:ea typeface="TT Chocolates"/>
                <a:cs typeface="TT Chocolates"/>
                <a:sym typeface="TT Chocolates"/>
              </a:rPr>
              <a:t>En </a:t>
            </a:r>
            <a:r>
              <a:rPr lang="en-US" sz="6500" spc="130" dirty="0" err="1">
                <a:solidFill>
                  <a:srgbClr val="C1FF72"/>
                </a:solidFill>
                <a:latin typeface="Bree Serif" panose="020B0604020202020204" charset="0"/>
                <a:ea typeface="TT Chocolates"/>
                <a:cs typeface="TT Chocolates"/>
                <a:sym typeface="TT Chocolates"/>
              </a:rPr>
              <a:t>Conclusión</a:t>
            </a:r>
            <a:r>
              <a:rPr lang="en-US" sz="6500" spc="130" dirty="0">
                <a:solidFill>
                  <a:srgbClr val="C1FF72"/>
                </a:solidFill>
                <a:latin typeface="Bree Serif" panose="020B0604020202020204" charset="0"/>
                <a:ea typeface="TT Chocolates"/>
                <a:cs typeface="TT Chocolates"/>
                <a:sym typeface="TT Chocolates"/>
              </a:rPr>
              <a:t> </a:t>
            </a:r>
          </a:p>
        </p:txBody>
      </p:sp>
      <p:sp>
        <p:nvSpPr>
          <p:cNvPr id="3" name="TextBox 3"/>
          <p:cNvSpPr txBox="1"/>
          <p:nvPr/>
        </p:nvSpPr>
        <p:spPr>
          <a:xfrm>
            <a:off x="1028700" y="2472094"/>
            <a:ext cx="7621045" cy="2082165"/>
          </a:xfrm>
          <a:prstGeom prst="rect">
            <a:avLst/>
          </a:prstGeom>
        </p:spPr>
        <p:txBody>
          <a:bodyPr lIns="0" tIns="0" rIns="0" bIns="0" rtlCol="0" anchor="t">
            <a:spAutoFit/>
          </a:bodyPr>
          <a:lstStyle/>
          <a:p>
            <a:pPr algn="l">
              <a:lnSpc>
                <a:spcPts val="3359"/>
              </a:lnSpc>
            </a:pPr>
            <a:r>
              <a:rPr lang="en-US" sz="2400">
                <a:solidFill>
                  <a:srgbClr val="F6E7D8"/>
                </a:solidFill>
                <a:latin typeface="TT Chocolates"/>
                <a:ea typeface="TT Chocolates"/>
                <a:cs typeface="TT Chocolates"/>
                <a:sym typeface="TT Chocolates"/>
              </a:rPr>
              <a:t>La normalización, analizada desde una perspectva integral, se consolida como un </a:t>
            </a:r>
          </a:p>
          <a:p>
            <a:pPr algn="l">
              <a:lnSpc>
                <a:spcPts val="3359"/>
              </a:lnSpc>
            </a:pPr>
            <a:r>
              <a:rPr lang="en-US" sz="2400">
                <a:solidFill>
                  <a:srgbClr val="F6E7D8"/>
                </a:solidFill>
                <a:latin typeface="TT Chocolates"/>
                <a:ea typeface="TT Chocolates"/>
                <a:cs typeface="TT Chocolates"/>
                <a:sym typeface="TT Chocolates"/>
              </a:rPr>
              <a:t>pilar fundamental para la optmización de procesos, ya sea en la producción de </a:t>
            </a:r>
          </a:p>
          <a:p>
            <a:pPr algn="l">
              <a:lnSpc>
                <a:spcPts val="3359"/>
              </a:lnSpc>
            </a:pPr>
            <a:r>
              <a:rPr lang="en-US" sz="2400">
                <a:solidFill>
                  <a:srgbClr val="F6E7D8"/>
                </a:solidFill>
                <a:latin typeface="TT Chocolates"/>
                <a:ea typeface="TT Chocolates"/>
                <a:cs typeface="TT Chocolates"/>
                <a:sym typeface="TT Chocolates"/>
              </a:rPr>
              <a:t>bienes tangibles o en la gestón de actvos digitales.</a:t>
            </a:r>
          </a:p>
        </p:txBody>
      </p:sp>
      <p:sp>
        <p:nvSpPr>
          <p:cNvPr id="4" name="Freeform 4"/>
          <p:cNvSpPr/>
          <p:nvPr/>
        </p:nvSpPr>
        <p:spPr>
          <a:xfrm rot="-3396903">
            <a:off x="1077965" y="1425783"/>
            <a:ext cx="28814617" cy="11916826"/>
          </a:xfrm>
          <a:custGeom>
            <a:avLst/>
            <a:gdLst/>
            <a:ahLst/>
            <a:cxnLst/>
            <a:rect l="l" t="t" r="r" b="b"/>
            <a:pathLst>
              <a:path w="28814617" h="11916826">
                <a:moveTo>
                  <a:pt x="0" y="0"/>
                </a:moveTo>
                <a:lnTo>
                  <a:pt x="28814616" y="0"/>
                </a:lnTo>
                <a:lnTo>
                  <a:pt x="28814616" y="11916826"/>
                </a:lnTo>
                <a:lnTo>
                  <a:pt x="0" y="119168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5" name="Freeform 5"/>
          <p:cNvSpPr/>
          <p:nvPr/>
        </p:nvSpPr>
        <p:spPr>
          <a:xfrm rot="-3396903">
            <a:off x="3337893" y="2801127"/>
            <a:ext cx="28814617" cy="11916826"/>
          </a:xfrm>
          <a:custGeom>
            <a:avLst/>
            <a:gdLst/>
            <a:ahLst/>
            <a:cxnLst/>
            <a:rect l="l" t="t" r="r" b="b"/>
            <a:pathLst>
              <a:path w="28814617" h="11916826">
                <a:moveTo>
                  <a:pt x="0" y="0"/>
                </a:moveTo>
                <a:lnTo>
                  <a:pt x="28814616" y="0"/>
                </a:lnTo>
                <a:lnTo>
                  <a:pt x="28814616" y="11916826"/>
                </a:lnTo>
                <a:lnTo>
                  <a:pt x="0" y="119168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6" name="TextBox 6"/>
          <p:cNvSpPr txBox="1"/>
          <p:nvPr/>
        </p:nvSpPr>
        <p:spPr>
          <a:xfrm>
            <a:off x="1028700" y="5011459"/>
            <a:ext cx="8432581" cy="1663065"/>
          </a:xfrm>
          <a:prstGeom prst="rect">
            <a:avLst/>
          </a:prstGeom>
        </p:spPr>
        <p:txBody>
          <a:bodyPr lIns="0" tIns="0" rIns="0" bIns="0" rtlCol="0" anchor="t">
            <a:spAutoFit/>
          </a:bodyPr>
          <a:lstStyle/>
          <a:p>
            <a:pPr algn="l">
              <a:lnSpc>
                <a:spcPts val="3359"/>
              </a:lnSpc>
            </a:pPr>
            <a:r>
              <a:rPr lang="en-US" sz="2400">
                <a:solidFill>
                  <a:srgbClr val="F6E7D8"/>
                </a:solidFill>
                <a:latin typeface="TT Chocolates"/>
                <a:ea typeface="TT Chocolates"/>
                <a:cs typeface="TT Chocolates"/>
                <a:sym typeface="TT Chocolates"/>
              </a:rPr>
              <a:t>En defnitva, normalizar es ordenar para progresar. Es el paso indispensable para  transformar la improvisación en método y el caos de datos en información </a:t>
            </a:r>
          </a:p>
          <a:p>
            <a:pPr algn="l">
              <a:lnSpc>
                <a:spcPts val="3359"/>
              </a:lnSpc>
            </a:pPr>
            <a:r>
              <a:rPr lang="en-US" sz="2400">
                <a:solidFill>
                  <a:srgbClr val="F6E7D8"/>
                </a:solidFill>
                <a:latin typeface="TT Chocolates"/>
                <a:ea typeface="TT Chocolates"/>
                <a:cs typeface="TT Chocolates"/>
                <a:sym typeface="TT Chocolates"/>
              </a:rPr>
              <a:t>estructurada con valor estratégico para la toma de decisiones.</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C191A"/>
        </a:solidFill>
        <a:effectLst/>
      </p:bgPr>
    </p:bg>
    <p:spTree>
      <p:nvGrpSpPr>
        <p:cNvPr id="1" name=""/>
        <p:cNvGrpSpPr/>
        <p:nvPr/>
      </p:nvGrpSpPr>
      <p:grpSpPr>
        <a:xfrm>
          <a:off x="0" y="0"/>
          <a:ext cx="0" cy="0"/>
          <a:chOff x="0" y="0"/>
          <a:chExt cx="0" cy="0"/>
        </a:xfrm>
      </p:grpSpPr>
      <p:sp>
        <p:nvSpPr>
          <p:cNvPr id="2" name="Freeform 2"/>
          <p:cNvSpPr/>
          <p:nvPr/>
        </p:nvSpPr>
        <p:spPr>
          <a:xfrm rot="8383368">
            <a:off x="-9345532" y="-2170160"/>
            <a:ext cx="24643407" cy="10191744"/>
          </a:xfrm>
          <a:custGeom>
            <a:avLst/>
            <a:gdLst/>
            <a:ahLst/>
            <a:cxnLst/>
            <a:rect l="l" t="t" r="r" b="b"/>
            <a:pathLst>
              <a:path w="24643407" h="10191744">
                <a:moveTo>
                  <a:pt x="0" y="0"/>
                </a:moveTo>
                <a:lnTo>
                  <a:pt x="24643407" y="0"/>
                </a:lnTo>
                <a:lnTo>
                  <a:pt x="24643407" y="10191744"/>
                </a:lnTo>
                <a:lnTo>
                  <a:pt x="0" y="1019174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BO"/>
          </a:p>
        </p:txBody>
      </p:sp>
      <p:sp>
        <p:nvSpPr>
          <p:cNvPr id="3" name="Freeform 3"/>
          <p:cNvSpPr/>
          <p:nvPr/>
        </p:nvSpPr>
        <p:spPr>
          <a:xfrm rot="8383368">
            <a:off x="-11636280" y="-3961795"/>
            <a:ext cx="24643407" cy="10191744"/>
          </a:xfrm>
          <a:custGeom>
            <a:avLst/>
            <a:gdLst/>
            <a:ahLst/>
            <a:cxnLst/>
            <a:rect l="l" t="t" r="r" b="b"/>
            <a:pathLst>
              <a:path w="24643407" h="10191744">
                <a:moveTo>
                  <a:pt x="0" y="0"/>
                </a:moveTo>
                <a:lnTo>
                  <a:pt x="24643407" y="0"/>
                </a:lnTo>
                <a:lnTo>
                  <a:pt x="24643407" y="10191743"/>
                </a:lnTo>
                <a:lnTo>
                  <a:pt x="0" y="101917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BO"/>
          </a:p>
        </p:txBody>
      </p:sp>
      <p:sp>
        <p:nvSpPr>
          <p:cNvPr id="4" name="TextBox 4"/>
          <p:cNvSpPr txBox="1"/>
          <p:nvPr/>
        </p:nvSpPr>
        <p:spPr>
          <a:xfrm>
            <a:off x="2160632" y="4555530"/>
            <a:ext cx="13966737" cy="1461689"/>
          </a:xfrm>
          <a:prstGeom prst="rect">
            <a:avLst/>
          </a:prstGeom>
        </p:spPr>
        <p:txBody>
          <a:bodyPr lIns="0" tIns="0" rIns="0" bIns="0" rtlCol="0" anchor="t">
            <a:spAutoFit/>
          </a:bodyPr>
          <a:lstStyle/>
          <a:p>
            <a:pPr algn="ctr">
              <a:lnSpc>
                <a:spcPts val="10708"/>
              </a:lnSpc>
            </a:pPr>
            <a:r>
              <a:rPr lang="en-US" sz="11514">
                <a:solidFill>
                  <a:srgbClr val="F6E7D8"/>
                </a:solidFill>
                <a:latin typeface="TT Chocolates"/>
                <a:ea typeface="TT Chocolates"/>
                <a:cs typeface="TT Chocolates"/>
                <a:sym typeface="TT Chocolates"/>
              </a:rPr>
              <a:t>GRACIAS</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1243</Words>
  <Application>Microsoft Office PowerPoint</Application>
  <PresentationFormat>Personalizado</PresentationFormat>
  <Paragraphs>142</Paragraphs>
  <Slides>21</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21</vt:i4>
      </vt:variant>
    </vt:vector>
  </HeadingPairs>
  <TitlesOfParts>
    <vt:vector size="29" baseType="lpstr">
      <vt:lpstr>Canva Sans Bold</vt:lpstr>
      <vt:lpstr>TT Chocolates</vt:lpstr>
      <vt:lpstr>TT Chocolates Bold</vt:lpstr>
      <vt:lpstr>Bree Serif</vt:lpstr>
      <vt:lpstr>Glacial Indifference Bold</vt:lpstr>
      <vt:lpstr>Calibri</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Corporativa Profesional Elegante Formas Abstractas Azul y Gris</dc:title>
  <cp:lastModifiedBy>Heyd Condori</cp:lastModifiedBy>
  <cp:revision>2</cp:revision>
  <dcterms:created xsi:type="dcterms:W3CDTF">2006-08-16T00:00:00Z</dcterms:created>
  <dcterms:modified xsi:type="dcterms:W3CDTF">2026-04-17T13:56:09Z</dcterms:modified>
  <dc:identifier>DAHHEaQzo04</dc:identifier>
</cp:coreProperties>
</file>